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56C36E-9710-ED51-1DB3-C2243C47FE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70AA8B4-AD32-E96A-967E-AA87EA2997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C0D8A3-E402-1594-54EC-2915A6428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F910-2B8D-472B-86B0-3670868578E0}" type="datetimeFigureOut">
              <a:rPr kumimoji="1" lang="ja-JP" altLang="en-US" smtClean="0"/>
              <a:t>2026/7/31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C01B4B-7E0A-07A9-D4D2-9A062E8B2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E73031-183E-1E56-71CB-62B71DF4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0EF3E-C706-4633-9055-38351FD5A3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3024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B5E2DC-9E97-58D1-4434-5646F94EB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F4EC3AE-F978-0C68-0481-B68687BF1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87B5C1-6098-7BF5-2BE5-941111354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F910-2B8D-472B-86B0-3670868578E0}" type="datetimeFigureOut">
              <a:rPr kumimoji="1" lang="ja-JP" altLang="en-US" smtClean="0"/>
              <a:t>2026/7/31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BD0ABD5-2DFC-F213-4AC2-F2564C09C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2DB9CA-FF07-60A0-5641-28F623DD7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0EF3E-C706-4633-9055-38351FD5A3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105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9514EF-6EE6-72F6-6D25-952E5DF21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531861E-9736-714F-3607-F1B384799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92F424-831D-6800-9286-CC193C77B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F910-2B8D-472B-86B0-3670868578E0}" type="datetimeFigureOut">
              <a:rPr kumimoji="1" lang="ja-JP" altLang="en-US" smtClean="0"/>
              <a:t>2026/7/31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7D7D80-C6F4-7499-851A-689123175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30C235-06B2-19F1-0204-B7F828A1C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0EF3E-C706-4633-9055-38351FD5A3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5869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B743D6-55B8-2B03-7110-6F24DE8C3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46B2AD0-3D9F-0AC9-42FC-44EAEB7A55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B079352-D905-8C90-5AC9-733E428CF6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39E23D-F9E7-F5EB-50D7-B2A56FD18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F910-2B8D-472B-86B0-3670868578E0}" type="datetimeFigureOut">
              <a:rPr kumimoji="1" lang="ja-JP" altLang="en-US" smtClean="0"/>
              <a:t>2026/7/31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83BAE13-5E26-007A-B0CB-AE59ED544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1E35E7F-E4C7-2A92-B023-E3D682158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0EF3E-C706-4633-9055-38351FD5A3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4601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470151-4816-E4DA-19BB-1F9A07A70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DF846B-8110-918C-857A-522C09392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E7AF00F-E5E6-B5CE-72C5-AD2D08628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8EEC5DE-0F4F-8093-9967-5E82397DC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2A18778-5CB9-7CED-4B50-C868E069F2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9BA9E9A-69B6-161E-54C1-FF3A88660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F910-2B8D-472B-86B0-3670868578E0}" type="datetimeFigureOut">
              <a:rPr kumimoji="1" lang="ja-JP" altLang="en-US" smtClean="0"/>
              <a:t>2026/7/31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42A5D41-0EA0-C499-1486-F42F324BB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570D976-735B-570A-E231-DA8A20B22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0EF3E-C706-4633-9055-38351FD5A3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5697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6398B2-E692-D44E-80F9-1A710661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606648D-82EE-FECB-C6EB-AF037BB2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F910-2B8D-472B-86B0-3670868578E0}" type="datetimeFigureOut">
              <a:rPr kumimoji="1" lang="ja-JP" altLang="en-US" smtClean="0"/>
              <a:t>2026/7/31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CAA0BCF-99C7-E429-F0FD-90496AE83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7F63084-6A81-F3BE-6A56-4A85474B1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0EF3E-C706-4633-9055-38351FD5A3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9074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09492B7-91DC-8917-36A0-D5AF3F22F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F910-2B8D-472B-86B0-3670868578E0}" type="datetimeFigureOut">
              <a:rPr kumimoji="1" lang="ja-JP" altLang="en-US" smtClean="0"/>
              <a:t>2026/7/31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682D3E1-2988-4338-B6BF-6639C39A8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6DC93C0-FD91-3573-52FE-8137BF813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0EF3E-C706-4633-9055-38351FD5A3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1098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B22A83-F137-5430-4899-10F09F5AA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506A38-C4FF-1321-237D-8E37A8E92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FB6BDC7-633D-6E94-A948-46FEE51BF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759FDAA-3576-2DBE-8AB9-3F5472DF3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F910-2B8D-472B-86B0-3670868578E0}" type="datetimeFigureOut">
              <a:rPr kumimoji="1" lang="ja-JP" altLang="en-US" smtClean="0"/>
              <a:t>2026/7/31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0F59AAA-FC12-AC3D-630C-E1966011A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38706FB-CBEB-2E9E-2933-065CBA74C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0EF3E-C706-4633-9055-38351FD5A3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1712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6F599A-8B9A-04B1-CD1A-4AD2EF6C3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E020AC4-3036-35A0-DB6C-1E0606B6E9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FADAE4B-6321-395E-0D81-F18575400A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99AF6BE-489B-E6D8-BE26-FDA386911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F910-2B8D-472B-86B0-3670868578E0}" type="datetimeFigureOut">
              <a:rPr kumimoji="1" lang="ja-JP" altLang="en-US" smtClean="0"/>
              <a:t>2026/7/31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37232B0-5D45-4A28-DA6A-D08F17175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3B0E7C9-26E2-E240-3757-92FB3CEF7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0EF3E-C706-4633-9055-38351FD5A3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4851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02FDAE-D1A7-4F49-ECAD-D7C6ECB90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B5C928D-5C32-42B3-4E20-1AD9868DA2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3C44B5-0535-C74C-F871-3784691CE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F910-2B8D-472B-86B0-3670868578E0}" type="datetimeFigureOut">
              <a:rPr kumimoji="1" lang="ja-JP" altLang="en-US" smtClean="0"/>
              <a:t>2026/7/31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F273D3A-98EC-E855-E6D7-DF9B945DC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73ACDF-5B06-5CC5-2F60-27B3B0C23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0EF3E-C706-4633-9055-38351FD5A3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0917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2C3E487-6912-FAAB-13AA-6D498F5A5E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4DA83D3-FF3C-86FD-4403-D013402EF5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701A78-B980-02EA-A0E0-2FF1BAEFA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F910-2B8D-472B-86B0-3670868578E0}" type="datetimeFigureOut">
              <a:rPr kumimoji="1" lang="ja-JP" altLang="en-US" smtClean="0"/>
              <a:t>2026/7/31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D9B19B-20C7-B57F-78F7-D5062B2AF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3FC9AD-95AC-F313-9A94-CDC39A17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0EF3E-C706-4633-9055-38351FD5A3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1230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1B3DCAB-0030-C091-0119-E2F5AB9B3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2EE899A-A11A-F90B-B4D5-4D3C5FC7A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34BDC3-30DD-6E3C-653C-93F72876B0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2EF910-2B8D-472B-86B0-3670868578E0}" type="datetimeFigureOut">
              <a:rPr kumimoji="1" lang="ja-JP" altLang="en-US" smtClean="0"/>
              <a:t>2026/7/31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784B51-DFB7-BA24-CB82-082E035CE2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19E34F-6CBB-1496-3B07-A5A89DC13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00EF3E-C706-4633-9055-38351FD5A3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3362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9399601-6EE7-8C8B-DABA-AA41A38C0DB9}"/>
              </a:ext>
            </a:extLst>
          </p:cNvPr>
          <p:cNvSpPr txBox="1"/>
          <p:nvPr/>
        </p:nvSpPr>
        <p:spPr>
          <a:xfrm>
            <a:off x="508000" y="317500"/>
            <a:ext cx="11176000" cy="882293"/>
          </a:xfrm>
          <a:prstGeom prst="rect">
            <a:avLst/>
          </a:prstGeom>
          <a:noFill/>
        </p:spPr>
        <p:txBody>
          <a:bodyPr vert="horz" wrap="square" lIns="127000" tIns="101600" rIns="127000" bIns="101600" rtlCol="0" anchor="ctr">
            <a:spAutoFit/>
          </a:bodyPr>
          <a:lstStyle/>
          <a:p>
            <a:r>
              <a:rPr kumimoji="1" lang="en-US" altLang="ja-JP" sz="2200" b="1" dirty="0">
                <a:solidFill>
                  <a:srgbClr val="000000"/>
                </a:solidFill>
                <a:latin typeface="BIZ UDPゴシック" panose="020B0400000000000000" pitchFamily="50" charset="-128"/>
              </a:rPr>
              <a:t>AI</a:t>
            </a:r>
            <a:r>
              <a:rPr kumimoji="1" lang="ja-JP" altLang="en-US" sz="2200" b="1" dirty="0">
                <a:solidFill>
                  <a:srgbClr val="000000"/>
                </a:solidFill>
                <a:latin typeface="BIZ UDPゴシック" panose="020B0400000000000000" pitchFamily="50" charset="-128"/>
              </a:rPr>
              <a:t>開発の「思ってたんと違う」が激減</a:t>
            </a:r>
            <a:br>
              <a:rPr kumimoji="1" lang="en-US" altLang="ja-JP" sz="2200" b="1" dirty="0">
                <a:solidFill>
                  <a:srgbClr val="000000"/>
                </a:solidFill>
                <a:latin typeface="BIZ UDPゴシック" panose="020B0400000000000000" pitchFamily="50" charset="-128"/>
              </a:rPr>
            </a:br>
            <a:r>
              <a:rPr kumimoji="1" lang="en-US" altLang="ja-JP" sz="2200" b="1" dirty="0">
                <a:solidFill>
                  <a:srgbClr val="000000"/>
                </a:solidFill>
                <a:latin typeface="BIZ UDPゴシック" panose="020B0400000000000000" pitchFamily="50" charset="-128"/>
              </a:rPr>
              <a:t>Agent Skills</a:t>
            </a:r>
            <a:r>
              <a:rPr kumimoji="1" lang="ja-JP" altLang="en-US" sz="2200" b="1" dirty="0">
                <a:solidFill>
                  <a:srgbClr val="000000"/>
                </a:solidFill>
                <a:latin typeface="BIZ UDPゴシック" panose="020B0400000000000000" pitchFamily="50" charset="-128"/>
              </a:rPr>
              <a:t>で</a:t>
            </a:r>
            <a:r>
              <a:rPr kumimoji="1" lang="en-US" altLang="ja-JP" sz="2200" b="1" dirty="0">
                <a:solidFill>
                  <a:srgbClr val="000000"/>
                </a:solidFill>
                <a:latin typeface="BIZ UDPゴシック" panose="020B0400000000000000" pitchFamily="50" charset="-128"/>
              </a:rPr>
              <a:t>AI</a:t>
            </a:r>
            <a:r>
              <a:rPr kumimoji="1" lang="ja-JP" altLang="en-US" sz="2200" b="1" dirty="0">
                <a:solidFill>
                  <a:srgbClr val="000000"/>
                </a:solidFill>
                <a:latin typeface="BIZ UDPゴシック" panose="020B0400000000000000" pitchFamily="50" charset="-128"/>
              </a:rPr>
              <a:t>が“期待通り”に動いてくれる開発プロセス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FB29EB1-9924-A5DD-2CB9-BDDBFCECFAB2}"/>
              </a:ext>
            </a:extLst>
          </p:cNvPr>
          <p:cNvSpPr/>
          <p:nvPr/>
        </p:nvSpPr>
        <p:spPr>
          <a:xfrm>
            <a:off x="508000" y="1092200"/>
            <a:ext cx="11176000" cy="38100"/>
          </a:xfrm>
          <a:prstGeom prst="rect">
            <a:avLst/>
          </a:prstGeom>
          <a:solidFill>
            <a:srgbClr val="6485C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664E496-48BC-B368-6356-B68B3D430C91}"/>
              </a:ext>
            </a:extLst>
          </p:cNvPr>
          <p:cNvSpPr/>
          <p:nvPr/>
        </p:nvSpPr>
        <p:spPr>
          <a:xfrm>
            <a:off x="508000" y="1242731"/>
            <a:ext cx="11176000" cy="66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CC727CD-42FA-ABD7-29E9-7907157DF87E}"/>
              </a:ext>
            </a:extLst>
          </p:cNvPr>
          <p:cNvSpPr/>
          <p:nvPr/>
        </p:nvSpPr>
        <p:spPr>
          <a:xfrm>
            <a:off x="660400" y="1382431"/>
            <a:ext cx="1270000" cy="381000"/>
          </a:xfrm>
          <a:prstGeom prst="rect">
            <a:avLst/>
          </a:prstGeom>
          <a:solidFill>
            <a:srgbClr val="5555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kumimoji="1" lang="ja-JP" altLang="en-US" sz="1400" b="1" dirty="0">
                <a:solidFill>
                  <a:srgbClr val="FFFFFF"/>
                </a:solidFill>
                <a:latin typeface="BIZ UDPゴシック" panose="020B0400000000000000" pitchFamily="50" charset="-128"/>
              </a:rPr>
              <a:t>現状の課題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4FAF132-E84D-A831-5EC0-3E0B63F5EA65}"/>
              </a:ext>
            </a:extLst>
          </p:cNvPr>
          <p:cNvSpPr txBox="1"/>
          <p:nvPr/>
        </p:nvSpPr>
        <p:spPr>
          <a:xfrm>
            <a:off x="2032000" y="1335808"/>
            <a:ext cx="9398000" cy="482183"/>
          </a:xfrm>
          <a:prstGeom prst="rect">
            <a:avLst/>
          </a:prstGeom>
          <a:noFill/>
        </p:spPr>
        <p:txBody>
          <a:bodyPr vert="horz" wrap="square" lIns="127000" tIns="101600" rIns="127000" bIns="101600" rtlCol="0" anchor="ctr">
            <a:spAutoFit/>
          </a:bodyPr>
          <a:lstStyle/>
          <a:p>
            <a:r>
              <a:rPr kumimoji="1" lang="ja-JP" altLang="en-US" dirty="0">
                <a:solidFill>
                  <a:srgbClr val="000000"/>
                </a:solidFill>
                <a:latin typeface="BIZ UDPゴシック" panose="020B0400000000000000" pitchFamily="50" charset="-128"/>
              </a:rPr>
              <a:t>「プロンプトを投げても、意図とズレたコードが出たり、複雑すぎて迷走してしまう</a:t>
            </a:r>
            <a:r>
              <a:rPr kumimoji="1" lang="en-US" altLang="ja-JP" dirty="0">
                <a:solidFill>
                  <a:srgbClr val="000000"/>
                </a:solidFill>
                <a:latin typeface="BIZ UDPゴシック" panose="020B0400000000000000" pitchFamily="50" charset="-128"/>
              </a:rPr>
              <a:t>…</a:t>
            </a:r>
            <a:r>
              <a:rPr kumimoji="1" lang="ja-JP" altLang="en-US" dirty="0">
                <a:solidFill>
                  <a:srgbClr val="000000"/>
                </a:solidFill>
                <a:latin typeface="BIZ UDPゴシック" panose="020B0400000000000000" pitchFamily="50" charset="-128"/>
              </a:rPr>
              <a:t>」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5053110-C0B1-88B6-B67A-7DD0EC77E027}"/>
              </a:ext>
            </a:extLst>
          </p:cNvPr>
          <p:cNvSpPr/>
          <p:nvPr/>
        </p:nvSpPr>
        <p:spPr>
          <a:xfrm>
            <a:off x="508000" y="2006600"/>
            <a:ext cx="3556000" cy="3327400"/>
          </a:xfrm>
          <a:prstGeom prst="rect">
            <a:avLst/>
          </a:prstGeom>
          <a:solidFill>
            <a:srgbClr val="EDF2F9"/>
          </a:solidFill>
          <a:ln w="19050">
            <a:solidFill>
              <a:srgbClr val="6485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E187A72-24F7-F59A-881F-59E6D3B587CA}"/>
              </a:ext>
            </a:extLst>
          </p:cNvPr>
          <p:cNvSpPr/>
          <p:nvPr/>
        </p:nvSpPr>
        <p:spPr>
          <a:xfrm>
            <a:off x="508000" y="2006600"/>
            <a:ext cx="3556000" cy="457200"/>
          </a:xfrm>
          <a:prstGeom prst="rect">
            <a:avLst/>
          </a:prstGeom>
          <a:solidFill>
            <a:srgbClr val="6485C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kumimoji="1" lang="en-US" altLang="ja-JP" sz="1600" b="1">
                <a:solidFill>
                  <a:srgbClr val="FFFFFF"/>
                </a:solidFill>
                <a:latin typeface="BIZ UDPゴシック" panose="020B0400000000000000" pitchFamily="50" charset="-128"/>
              </a:rPr>
              <a:t>【</a:t>
            </a:r>
            <a:r>
              <a:rPr kumimoji="1" lang="ja-JP" altLang="en-US" sz="1600" b="1">
                <a:solidFill>
                  <a:srgbClr val="FFFFFF"/>
                </a:solidFill>
                <a:latin typeface="BIZ UDPゴシック" panose="020B0400000000000000" pitchFamily="50" charset="-128"/>
              </a:rPr>
              <a:t>要素 </a:t>
            </a:r>
            <a:r>
              <a:rPr kumimoji="1" lang="en-US" altLang="ja-JP" sz="1600" b="1">
                <a:solidFill>
                  <a:srgbClr val="FFFFFF"/>
                </a:solidFill>
                <a:latin typeface="BIZ UDPゴシック" panose="020B0400000000000000" pitchFamily="50" charset="-128"/>
              </a:rPr>
              <a:t>1】 </a:t>
            </a:r>
            <a:r>
              <a:rPr kumimoji="1" lang="ja-JP" altLang="en-US" sz="1600" b="1">
                <a:solidFill>
                  <a:srgbClr val="FFFFFF"/>
                </a:solidFill>
                <a:latin typeface="BIZ UDPゴシック" panose="020B0400000000000000" pitchFamily="50" charset="-128"/>
              </a:rPr>
              <a:t>相互理解の徹底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AA295BE-2EBF-B5D3-948F-2585AF6359CB}"/>
              </a:ext>
            </a:extLst>
          </p:cNvPr>
          <p:cNvSpPr txBox="1"/>
          <p:nvPr/>
        </p:nvSpPr>
        <p:spPr>
          <a:xfrm>
            <a:off x="609600" y="2565400"/>
            <a:ext cx="3352800" cy="759182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pPr algn="ctr"/>
            <a:r>
              <a:rPr kumimoji="1" lang="ja-JP" altLang="en-US" b="1">
                <a:solidFill>
                  <a:srgbClr val="000000"/>
                </a:solidFill>
                <a:latin typeface="BIZ UDPゴシック" panose="020B0400000000000000" pitchFamily="50" charset="-128"/>
              </a:rPr>
              <a:t>人間と</a:t>
            </a:r>
            <a:r>
              <a:rPr kumimoji="1" lang="en-US" altLang="ja-JP" b="1">
                <a:solidFill>
                  <a:srgbClr val="000000"/>
                </a:solidFill>
                <a:latin typeface="BIZ UDPゴシック" panose="020B0400000000000000" pitchFamily="50" charset="-128"/>
              </a:rPr>
              <a:t>AI</a:t>
            </a:r>
            <a:r>
              <a:rPr kumimoji="1" lang="ja-JP" altLang="en-US" b="1">
                <a:solidFill>
                  <a:srgbClr val="000000"/>
                </a:solidFill>
                <a:latin typeface="BIZ UDPゴシック" panose="020B0400000000000000" pitchFamily="50" charset="-128"/>
              </a:rPr>
              <a:t>の対話で</a:t>
            </a:r>
          </a:p>
          <a:p>
            <a:pPr algn="ctr"/>
            <a:r>
              <a:rPr kumimoji="1" lang="ja-JP" altLang="en-US" b="1">
                <a:solidFill>
                  <a:srgbClr val="000000"/>
                </a:solidFill>
                <a:latin typeface="BIZ UDPゴシック" panose="020B0400000000000000" pitchFamily="50" charset="-128"/>
              </a:rPr>
              <a:t>「食い違い」を解消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3FEFDB4-1F01-60F4-D601-C12AAFA82CC1}"/>
              </a:ext>
            </a:extLst>
          </p:cNvPr>
          <p:cNvSpPr/>
          <p:nvPr/>
        </p:nvSpPr>
        <p:spPr>
          <a:xfrm>
            <a:off x="660400" y="3565373"/>
            <a:ext cx="1524000" cy="330200"/>
          </a:xfrm>
          <a:prstGeom prst="rect">
            <a:avLst/>
          </a:prstGeom>
          <a:solidFill>
            <a:srgbClr val="2222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400" b="1" dirty="0">
                <a:solidFill>
                  <a:srgbClr val="FFFFFF"/>
                </a:solidFill>
                <a:latin typeface="Consolas" panose="020B0609020204030204" pitchFamily="49" charset="0"/>
              </a:rPr>
              <a:t>/grill-me</a:t>
            </a:r>
            <a:endParaRPr kumimoji="1" lang="ja-JP" altLang="en-US" sz="1400" b="1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CDC70E05-9490-ED4E-B46E-C43B92A9EABC}"/>
              </a:ext>
            </a:extLst>
          </p:cNvPr>
          <p:cNvSpPr/>
          <p:nvPr/>
        </p:nvSpPr>
        <p:spPr>
          <a:xfrm>
            <a:off x="2286000" y="3565373"/>
            <a:ext cx="1625600" cy="330200"/>
          </a:xfrm>
          <a:prstGeom prst="rect">
            <a:avLst/>
          </a:prstGeom>
          <a:solidFill>
            <a:srgbClr val="2222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400" b="1">
                <a:solidFill>
                  <a:srgbClr val="FFFFFF"/>
                </a:solidFill>
                <a:latin typeface="Consolas" panose="020B0609020204030204" pitchFamily="49" charset="0"/>
              </a:rPr>
              <a:t>/grill-with-docs</a:t>
            </a:r>
            <a:endParaRPr kumimoji="1" lang="ja-JP" altLang="en-US" sz="14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2985FCA-136D-1B8E-212C-51631679F741}"/>
              </a:ext>
            </a:extLst>
          </p:cNvPr>
          <p:cNvSpPr txBox="1"/>
          <p:nvPr/>
        </p:nvSpPr>
        <p:spPr>
          <a:xfrm>
            <a:off x="609600" y="4152900"/>
            <a:ext cx="3352800" cy="103618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kumimoji="1" lang="ja-JP" altLang="en-US" dirty="0">
                <a:solidFill>
                  <a:srgbClr val="000000"/>
                </a:solidFill>
                <a:latin typeface="BIZ UDPゴシック" panose="020B0400000000000000" pitchFamily="50" charset="-128"/>
              </a:rPr>
              <a:t>意図を深掘り・確認する仕組みにより、「思ってたんと違う」を劇的に減らす。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838D70B1-D10E-7168-2B7B-1875FA48C9F1}"/>
              </a:ext>
            </a:extLst>
          </p:cNvPr>
          <p:cNvSpPr/>
          <p:nvPr/>
        </p:nvSpPr>
        <p:spPr>
          <a:xfrm>
            <a:off x="4318000" y="2006600"/>
            <a:ext cx="3556000" cy="3327400"/>
          </a:xfrm>
          <a:prstGeom prst="rect">
            <a:avLst/>
          </a:prstGeom>
          <a:solidFill>
            <a:srgbClr val="EDF2F9"/>
          </a:solidFill>
          <a:ln w="19050">
            <a:solidFill>
              <a:srgbClr val="6485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1BF78697-EAE5-999B-FAA5-1E0C30976C62}"/>
              </a:ext>
            </a:extLst>
          </p:cNvPr>
          <p:cNvSpPr/>
          <p:nvPr/>
        </p:nvSpPr>
        <p:spPr>
          <a:xfrm>
            <a:off x="4318000" y="2006600"/>
            <a:ext cx="3556000" cy="457200"/>
          </a:xfrm>
          <a:prstGeom prst="rect">
            <a:avLst/>
          </a:prstGeom>
          <a:solidFill>
            <a:srgbClr val="6485C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kumimoji="1" lang="en-US" altLang="ja-JP" sz="1600" b="1">
                <a:solidFill>
                  <a:srgbClr val="FFFFFF"/>
                </a:solidFill>
                <a:latin typeface="BIZ UDPゴシック" panose="020B0400000000000000" pitchFamily="50" charset="-128"/>
              </a:rPr>
              <a:t>【</a:t>
            </a:r>
            <a:r>
              <a:rPr kumimoji="1" lang="ja-JP" altLang="en-US" sz="1600" b="1">
                <a:solidFill>
                  <a:srgbClr val="FFFFFF"/>
                </a:solidFill>
                <a:latin typeface="BIZ UDPゴシック" panose="020B0400000000000000" pitchFamily="50" charset="-128"/>
              </a:rPr>
              <a:t>要素 </a:t>
            </a:r>
            <a:r>
              <a:rPr kumimoji="1" lang="en-US" altLang="ja-JP" sz="1600" b="1">
                <a:solidFill>
                  <a:srgbClr val="FFFFFF"/>
                </a:solidFill>
                <a:latin typeface="BIZ UDPゴシック" panose="020B0400000000000000" pitchFamily="50" charset="-128"/>
              </a:rPr>
              <a:t>2】 </a:t>
            </a:r>
            <a:r>
              <a:rPr kumimoji="1" lang="ja-JP" altLang="en-US" sz="1600" b="1">
                <a:solidFill>
                  <a:srgbClr val="FFFFFF"/>
                </a:solidFill>
                <a:latin typeface="BIZ UDPゴシック" panose="020B0400000000000000" pitchFamily="50" charset="-128"/>
              </a:rPr>
              <a:t>タスクの小分化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4937B7B-A8DF-3795-3527-F1DBD7722EC5}"/>
              </a:ext>
            </a:extLst>
          </p:cNvPr>
          <p:cNvSpPr txBox="1"/>
          <p:nvPr/>
        </p:nvSpPr>
        <p:spPr>
          <a:xfrm>
            <a:off x="4419600" y="2565400"/>
            <a:ext cx="3352800" cy="759182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pPr algn="ctr"/>
            <a:r>
              <a:rPr kumimoji="1" lang="ja-JP" altLang="en-US" b="1">
                <a:solidFill>
                  <a:srgbClr val="000000"/>
                </a:solidFill>
                <a:latin typeface="BIZ UDPゴシック" panose="020B0400000000000000" pitchFamily="50" charset="-128"/>
              </a:rPr>
              <a:t>適切なタスク分解で</a:t>
            </a:r>
          </a:p>
          <a:p>
            <a:pPr algn="ctr"/>
            <a:r>
              <a:rPr kumimoji="1" lang="ja-JP" altLang="en-US" b="1">
                <a:solidFill>
                  <a:srgbClr val="000000"/>
                </a:solidFill>
                <a:latin typeface="BIZ UDPゴシック" panose="020B0400000000000000" pitchFamily="50" charset="-128"/>
              </a:rPr>
              <a:t>「集中力」を維持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0D6B17C1-3AFF-8A52-F2D8-F0D7D8365763}"/>
              </a:ext>
            </a:extLst>
          </p:cNvPr>
          <p:cNvSpPr/>
          <p:nvPr/>
        </p:nvSpPr>
        <p:spPr>
          <a:xfrm>
            <a:off x="5334000" y="3565373"/>
            <a:ext cx="1524000" cy="330200"/>
          </a:xfrm>
          <a:prstGeom prst="rect">
            <a:avLst/>
          </a:prstGeom>
          <a:solidFill>
            <a:srgbClr val="2222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400" b="1">
                <a:solidFill>
                  <a:srgbClr val="FFFFFF"/>
                </a:solidFill>
                <a:latin typeface="Consolas" panose="020B0609020204030204" pitchFamily="49" charset="0"/>
              </a:rPr>
              <a:t>/to-tickets</a:t>
            </a:r>
            <a:endParaRPr kumimoji="1" lang="ja-JP" altLang="en-US" sz="14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9C3D18FA-2F70-D257-3216-A3B39E0A6CA9}"/>
              </a:ext>
            </a:extLst>
          </p:cNvPr>
          <p:cNvSpPr txBox="1"/>
          <p:nvPr/>
        </p:nvSpPr>
        <p:spPr>
          <a:xfrm>
            <a:off x="4419600" y="4152900"/>
            <a:ext cx="3352800" cy="103618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kumimoji="1" lang="ja-JP" altLang="en-US" dirty="0">
                <a:solidFill>
                  <a:srgbClr val="000000"/>
                </a:solidFill>
                <a:latin typeface="BIZ UDPゴシック" panose="020B0400000000000000" pitchFamily="50" charset="-128"/>
              </a:rPr>
              <a:t>タスクを小さく分けることで、</a:t>
            </a:r>
            <a:r>
              <a:rPr kumimoji="1" lang="en-US" altLang="ja-JP" dirty="0">
                <a:solidFill>
                  <a:srgbClr val="000000"/>
                </a:solidFill>
                <a:latin typeface="BIZ UDPゴシック" panose="020B0400000000000000" pitchFamily="50" charset="-128"/>
              </a:rPr>
              <a:t>AI</a:t>
            </a:r>
            <a:r>
              <a:rPr kumimoji="1" lang="ja-JP" altLang="en-US" dirty="0">
                <a:solidFill>
                  <a:srgbClr val="000000"/>
                </a:solidFill>
                <a:latin typeface="BIZ UDPゴシック" panose="020B0400000000000000" pitchFamily="50" charset="-128"/>
              </a:rPr>
              <a:t>が</a:t>
            </a:r>
            <a:r>
              <a:rPr kumimoji="1" lang="en-US" altLang="ja-JP" dirty="0">
                <a:solidFill>
                  <a:srgbClr val="000000"/>
                </a:solidFill>
                <a:latin typeface="BIZ UDPゴシック" panose="020B0400000000000000" pitchFamily="50" charset="-128"/>
              </a:rPr>
              <a:t>1</a:t>
            </a:r>
            <a:r>
              <a:rPr kumimoji="1" lang="ja-JP" altLang="en-US" dirty="0">
                <a:solidFill>
                  <a:srgbClr val="000000"/>
                </a:solidFill>
                <a:latin typeface="BIZ UDPゴシック" panose="020B0400000000000000" pitchFamily="50" charset="-128"/>
              </a:rPr>
              <a:t>つの問題に注力し正確に実装できる。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B28EAB74-165A-6D40-E595-13D1AFBB0575}"/>
              </a:ext>
            </a:extLst>
          </p:cNvPr>
          <p:cNvSpPr/>
          <p:nvPr/>
        </p:nvSpPr>
        <p:spPr>
          <a:xfrm>
            <a:off x="8128000" y="2006600"/>
            <a:ext cx="3556000" cy="3327400"/>
          </a:xfrm>
          <a:prstGeom prst="rect">
            <a:avLst/>
          </a:prstGeom>
          <a:solidFill>
            <a:srgbClr val="EDF2F9"/>
          </a:solidFill>
          <a:ln w="19050">
            <a:solidFill>
              <a:srgbClr val="6485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8D6A5CD8-88C8-1A18-7C30-C308DDDA6E04}"/>
              </a:ext>
            </a:extLst>
          </p:cNvPr>
          <p:cNvSpPr/>
          <p:nvPr/>
        </p:nvSpPr>
        <p:spPr>
          <a:xfrm>
            <a:off x="8128000" y="2006600"/>
            <a:ext cx="3556000" cy="457200"/>
          </a:xfrm>
          <a:prstGeom prst="rect">
            <a:avLst/>
          </a:prstGeom>
          <a:solidFill>
            <a:srgbClr val="6485C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kumimoji="1" lang="en-US" altLang="ja-JP" sz="1600" b="1">
                <a:solidFill>
                  <a:srgbClr val="FFFFFF"/>
                </a:solidFill>
                <a:latin typeface="BIZ UDPゴシック" panose="020B0400000000000000" pitchFamily="50" charset="-128"/>
              </a:rPr>
              <a:t>【</a:t>
            </a:r>
            <a:r>
              <a:rPr kumimoji="1" lang="ja-JP" altLang="en-US" sz="1600" b="1">
                <a:solidFill>
                  <a:srgbClr val="FFFFFF"/>
                </a:solidFill>
                <a:latin typeface="BIZ UDPゴシック" panose="020B0400000000000000" pitchFamily="50" charset="-128"/>
              </a:rPr>
              <a:t>要素 </a:t>
            </a:r>
            <a:r>
              <a:rPr kumimoji="1" lang="en-US" altLang="ja-JP" sz="1600" b="1">
                <a:solidFill>
                  <a:srgbClr val="FFFFFF"/>
                </a:solidFill>
                <a:latin typeface="BIZ UDPゴシック" panose="020B0400000000000000" pitchFamily="50" charset="-128"/>
              </a:rPr>
              <a:t>3】 </a:t>
            </a:r>
            <a:r>
              <a:rPr kumimoji="1" lang="ja-JP" altLang="en-US" sz="1600" b="1">
                <a:solidFill>
                  <a:srgbClr val="FFFFFF"/>
                </a:solidFill>
                <a:latin typeface="BIZ UDPゴシック" panose="020B0400000000000000" pitchFamily="50" charset="-128"/>
              </a:rPr>
              <a:t>ゴール先行定義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95682282-AB55-F9A9-AAAF-DCA767859ED4}"/>
              </a:ext>
            </a:extLst>
          </p:cNvPr>
          <p:cNvSpPr txBox="1"/>
          <p:nvPr/>
        </p:nvSpPr>
        <p:spPr>
          <a:xfrm>
            <a:off x="8229600" y="2565400"/>
            <a:ext cx="3352800" cy="759182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pPr algn="ctr"/>
            <a:r>
              <a:rPr kumimoji="1" lang="ja-JP" altLang="en-US" b="1" dirty="0">
                <a:solidFill>
                  <a:srgbClr val="000000"/>
                </a:solidFill>
                <a:latin typeface="BIZ UDPゴシック" panose="020B0400000000000000" pitchFamily="50" charset="-128"/>
              </a:rPr>
              <a:t>「こうあるべき」を先に決定</a:t>
            </a:r>
          </a:p>
          <a:p>
            <a:pPr algn="ctr"/>
            <a:r>
              <a:rPr kumimoji="1" lang="ja-JP" altLang="en-US" b="1" dirty="0">
                <a:solidFill>
                  <a:srgbClr val="000000"/>
                </a:solidFill>
                <a:latin typeface="BIZ UDPゴシック" panose="020B0400000000000000" pitchFamily="50" charset="-128"/>
              </a:rPr>
              <a:t>軸をぶらさない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806E0AA0-6E25-87A5-AE43-9BE333AF2821}"/>
              </a:ext>
            </a:extLst>
          </p:cNvPr>
          <p:cNvSpPr/>
          <p:nvPr/>
        </p:nvSpPr>
        <p:spPr>
          <a:xfrm>
            <a:off x="8229600" y="3565373"/>
            <a:ext cx="1651000" cy="330200"/>
          </a:xfrm>
          <a:prstGeom prst="rect">
            <a:avLst/>
          </a:prstGeom>
          <a:solidFill>
            <a:srgbClr val="2222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400" b="1">
                <a:solidFill>
                  <a:srgbClr val="FFFFFF"/>
                </a:solidFill>
                <a:latin typeface="Consolas" panose="020B0609020204030204" pitchFamily="49" charset="0"/>
              </a:rPr>
              <a:t>/grill-with-docs</a:t>
            </a:r>
            <a:endParaRPr kumimoji="1" lang="ja-JP" altLang="en-US" sz="14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778380DF-3150-FB4D-CB0A-8A6644F4FB38}"/>
              </a:ext>
            </a:extLst>
          </p:cNvPr>
          <p:cNvSpPr/>
          <p:nvPr/>
        </p:nvSpPr>
        <p:spPr>
          <a:xfrm>
            <a:off x="9982200" y="3565373"/>
            <a:ext cx="1524000" cy="330200"/>
          </a:xfrm>
          <a:prstGeom prst="rect">
            <a:avLst/>
          </a:prstGeom>
          <a:solidFill>
            <a:srgbClr val="2222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400" b="1">
                <a:solidFill>
                  <a:srgbClr val="FFFFFF"/>
                </a:solidFill>
                <a:latin typeface="Consolas" panose="020B0609020204030204" pitchFamily="49" charset="0"/>
              </a:rPr>
              <a:t>/tdd</a:t>
            </a:r>
            <a:endParaRPr kumimoji="1" lang="ja-JP" altLang="en-US" sz="14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4C6A35DB-CB65-2E87-F4BC-A18502E12D21}"/>
              </a:ext>
            </a:extLst>
          </p:cNvPr>
          <p:cNvSpPr txBox="1"/>
          <p:nvPr/>
        </p:nvSpPr>
        <p:spPr>
          <a:xfrm>
            <a:off x="8229600" y="4152900"/>
            <a:ext cx="3352800" cy="103618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kumimoji="1" lang="ja-JP" altLang="en-US">
                <a:solidFill>
                  <a:srgbClr val="000000"/>
                </a:solidFill>
                <a:latin typeface="BIZ UDPゴシック" panose="020B0400000000000000" pitchFamily="50" charset="-128"/>
              </a:rPr>
              <a:t>仕様とテストを先に固めることで、期待通りのコードが一発で出力されやすくなる。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4C89867E-1D0D-21F7-0E15-F9F900B53D2A}"/>
              </a:ext>
            </a:extLst>
          </p:cNvPr>
          <p:cNvSpPr/>
          <p:nvPr/>
        </p:nvSpPr>
        <p:spPr>
          <a:xfrm>
            <a:off x="508000" y="5486400"/>
            <a:ext cx="11176000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E86B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AEA8E3B5-53CB-A52B-6C72-ADB0FB608C75}"/>
              </a:ext>
            </a:extLst>
          </p:cNvPr>
          <p:cNvSpPr/>
          <p:nvPr/>
        </p:nvSpPr>
        <p:spPr>
          <a:xfrm>
            <a:off x="660400" y="5727700"/>
            <a:ext cx="1397000" cy="431800"/>
          </a:xfrm>
          <a:prstGeom prst="rect">
            <a:avLst/>
          </a:prstGeom>
          <a:solidFill>
            <a:srgbClr val="E86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kumimoji="1" lang="ja-JP" altLang="en-US" sz="2000" b="1" dirty="0">
                <a:solidFill>
                  <a:srgbClr val="FFFFFF"/>
                </a:solidFill>
                <a:latin typeface="BIZ UDPゴシック" panose="020B0400000000000000" pitchFamily="50" charset="-128"/>
              </a:rPr>
              <a:t>期待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38344C9C-4BAB-E33A-3E8C-95B10D6700A5}"/>
              </a:ext>
            </a:extLst>
          </p:cNvPr>
          <p:cNvSpPr txBox="1"/>
          <p:nvPr/>
        </p:nvSpPr>
        <p:spPr>
          <a:xfrm>
            <a:off x="2184400" y="5574791"/>
            <a:ext cx="9372600" cy="759182"/>
          </a:xfrm>
          <a:prstGeom prst="rect">
            <a:avLst/>
          </a:prstGeom>
          <a:noFill/>
        </p:spPr>
        <p:txBody>
          <a:bodyPr vert="horz" wrap="square" lIns="127000" tIns="101600" rIns="127000" bIns="101600" rtlCol="0" anchor="ctr">
            <a:spAutoFit/>
          </a:bodyPr>
          <a:lstStyle/>
          <a:p>
            <a:r>
              <a:rPr kumimoji="1" lang="ja-JP" altLang="en-US" b="1" dirty="0">
                <a:solidFill>
                  <a:srgbClr val="000000"/>
                </a:solidFill>
                <a:latin typeface="BIZ UDPゴシック" panose="020B0400000000000000" pitchFamily="50" charset="-128"/>
              </a:rPr>
              <a:t>対話・分解・テスト先行のプロセスで、</a:t>
            </a:r>
            <a:r>
              <a:rPr kumimoji="1" lang="en-US" altLang="ja-JP" b="1" dirty="0">
                <a:solidFill>
                  <a:srgbClr val="000000"/>
                </a:solidFill>
                <a:latin typeface="BIZ UDPゴシック" panose="020B0400000000000000" pitchFamily="50" charset="-128"/>
              </a:rPr>
              <a:t>AI</a:t>
            </a:r>
            <a:r>
              <a:rPr kumimoji="1" lang="ja-JP" altLang="en-US" b="1" dirty="0">
                <a:solidFill>
                  <a:srgbClr val="000000"/>
                </a:solidFill>
                <a:latin typeface="BIZ UDPゴシック" panose="020B0400000000000000" pitchFamily="50" charset="-128"/>
              </a:rPr>
              <a:t>が真の</a:t>
            </a:r>
            <a:r>
              <a:rPr kumimoji="1" lang="en-US" altLang="ja-JP" b="1" dirty="0">
                <a:solidFill>
                  <a:srgbClr val="000000"/>
                </a:solidFill>
                <a:latin typeface="BIZ UDPゴシック" panose="020B0400000000000000" pitchFamily="50" charset="-128"/>
              </a:rPr>
              <a:t>『</a:t>
            </a:r>
            <a:r>
              <a:rPr kumimoji="1" lang="ja-JP" altLang="en-US" b="1" dirty="0">
                <a:solidFill>
                  <a:srgbClr val="000000"/>
                </a:solidFill>
                <a:latin typeface="BIZ UDPゴシック" panose="020B0400000000000000" pitchFamily="50" charset="-128"/>
              </a:rPr>
              <a:t>頼れるパートナー</a:t>
            </a:r>
            <a:r>
              <a:rPr kumimoji="1" lang="en-US" altLang="ja-JP" b="1" dirty="0">
                <a:solidFill>
                  <a:srgbClr val="000000"/>
                </a:solidFill>
                <a:latin typeface="BIZ UDPゴシック" panose="020B0400000000000000" pitchFamily="50" charset="-128"/>
              </a:rPr>
              <a:t>』</a:t>
            </a:r>
            <a:r>
              <a:rPr kumimoji="1" lang="ja-JP" altLang="en-US" b="1" dirty="0">
                <a:solidFill>
                  <a:srgbClr val="000000"/>
                </a:solidFill>
                <a:latin typeface="BIZ UDPゴシック" panose="020B0400000000000000" pitchFamily="50" charset="-128"/>
              </a:rPr>
              <a:t>となり、</a:t>
            </a:r>
            <a:endParaRPr kumimoji="1" lang="en-US" altLang="ja-JP" b="1" dirty="0">
              <a:solidFill>
                <a:srgbClr val="000000"/>
              </a:solidFill>
              <a:latin typeface="BIZ UDPゴシック" panose="020B0400000000000000" pitchFamily="50" charset="-128"/>
            </a:endParaRPr>
          </a:p>
          <a:p>
            <a:r>
              <a:rPr kumimoji="1" lang="ja-JP" altLang="en-US" b="1" dirty="0">
                <a:solidFill>
                  <a:srgbClr val="000000"/>
                </a:solidFill>
                <a:latin typeface="BIZ UDPゴシック" panose="020B0400000000000000" pitchFamily="50" charset="-128"/>
              </a:rPr>
              <a:t>開発の生産性と体験が向上</a:t>
            </a:r>
          </a:p>
        </p:txBody>
      </p:sp>
    </p:spTree>
    <p:extLst>
      <p:ext uri="{BB962C8B-B14F-4D97-AF65-F5344CB8AC3E}">
        <p14:creationId xmlns:p14="http://schemas.microsoft.com/office/powerpoint/2010/main" val="2850298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</Words>
  <Application>Microsoft Office PowerPoint</Application>
  <PresentationFormat>ワイド画面</PresentationFormat>
  <Paragraphs>23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BIZ UDPゴシック</vt:lpstr>
      <vt:lpstr>游ゴシック</vt:lpstr>
      <vt:lpstr>游ゴシック Light</vt:lpstr>
      <vt:lpstr>Arial</vt:lpstr>
      <vt:lpstr>Consolas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哲也 金子</dc:creator>
  <cp:lastModifiedBy>哲也 金子</cp:lastModifiedBy>
  <cp:revision>2</cp:revision>
  <dcterms:created xsi:type="dcterms:W3CDTF">2026-07-30T23:43:08Z</dcterms:created>
  <dcterms:modified xsi:type="dcterms:W3CDTF">2026-07-30T23:43:54Z</dcterms:modified>
</cp:coreProperties>
</file>