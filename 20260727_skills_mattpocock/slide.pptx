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6" r:id="rId3"/>
    <p:sldId id="257" r:id="rId4"/>
    <p:sldId id="258" r:id="rId5"/>
    <p:sldId id="265" r:id="rId6"/>
    <p:sldId id="260" r:id="rId7"/>
    <p:sldId id="267" r:id="rId8"/>
    <p:sldId id="272" r:id="rId9"/>
    <p:sldId id="268" r:id="rId10"/>
    <p:sldId id="273" r:id="rId11"/>
    <p:sldId id="269" r:id="rId12"/>
    <p:sldId id="274" r:id="rId13"/>
    <p:sldId id="270" r:id="rId14"/>
    <p:sldId id="275" r:id="rId15"/>
    <p:sldId id="271" r:id="rId16"/>
    <p:sldId id="276" r:id="rId17"/>
    <p:sldId id="277" r:id="rId18"/>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FBFBF"/>
    <a:srgbClr val="E86B4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100" d="100"/>
          <a:sy n="100" d="100"/>
        </p:scale>
        <p:origin x="264" y="186"/>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4861F5C-5581-5233-0401-E68C649B518E}"/>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8EB0ED9B-4782-6D85-863A-E7923A46BFD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FB0D162B-ACBC-4DB3-98C2-6A8C98FAAF96}"/>
              </a:ext>
            </a:extLst>
          </p:cNvPr>
          <p:cNvSpPr>
            <a:spLocks noGrp="1"/>
          </p:cNvSpPr>
          <p:nvPr>
            <p:ph type="dt" sz="half" idx="10"/>
          </p:nvPr>
        </p:nvSpPr>
        <p:spPr/>
        <p:txBody>
          <a:bodyPr/>
          <a:lstStyle/>
          <a:p>
            <a:fld id="{FCF2854B-B55D-4140-957C-047DA2321872}" type="datetimeFigureOut">
              <a:rPr kumimoji="1" lang="ja-JP" altLang="en-US" smtClean="0"/>
              <a:t>2026/8/10</a:t>
            </a:fld>
            <a:endParaRPr kumimoji="1" lang="ja-JP" altLang="en-US"/>
          </a:p>
        </p:txBody>
      </p:sp>
      <p:sp>
        <p:nvSpPr>
          <p:cNvPr id="5" name="フッター プレースホルダー 4">
            <a:extLst>
              <a:ext uri="{FF2B5EF4-FFF2-40B4-BE49-F238E27FC236}">
                <a16:creationId xmlns:a16="http://schemas.microsoft.com/office/drawing/2014/main" id="{67C18E60-79D9-D8DB-12E0-B351E011F92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8BEF34C-AB57-594E-F364-BF7098AC9B70}"/>
              </a:ext>
            </a:extLst>
          </p:cNvPr>
          <p:cNvSpPr>
            <a:spLocks noGrp="1"/>
          </p:cNvSpPr>
          <p:nvPr>
            <p:ph type="sldNum" sz="quarter" idx="12"/>
          </p:nvPr>
        </p:nvSpPr>
        <p:spPr/>
        <p:txBody>
          <a:bodyPr/>
          <a:lstStyle/>
          <a:p>
            <a:fld id="{C67371FC-BBFE-401C-87C0-D70B437373A0}" type="slidenum">
              <a:rPr kumimoji="1" lang="ja-JP" altLang="en-US" smtClean="0"/>
              <a:t>‹#›</a:t>
            </a:fld>
            <a:endParaRPr kumimoji="1" lang="ja-JP" altLang="en-US"/>
          </a:p>
        </p:txBody>
      </p:sp>
    </p:spTree>
    <p:extLst>
      <p:ext uri="{BB962C8B-B14F-4D97-AF65-F5344CB8AC3E}">
        <p14:creationId xmlns:p14="http://schemas.microsoft.com/office/powerpoint/2010/main" val="6149933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29F0A60-19CD-3D31-1461-13101E11E6D2}"/>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46B9716-3C8B-6F6E-A656-D1FCA738F8CA}"/>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46C68E0-DDE7-B43F-523F-764FC0B60AC5}"/>
              </a:ext>
            </a:extLst>
          </p:cNvPr>
          <p:cNvSpPr>
            <a:spLocks noGrp="1"/>
          </p:cNvSpPr>
          <p:nvPr>
            <p:ph type="dt" sz="half" idx="10"/>
          </p:nvPr>
        </p:nvSpPr>
        <p:spPr/>
        <p:txBody>
          <a:bodyPr/>
          <a:lstStyle/>
          <a:p>
            <a:fld id="{FCF2854B-B55D-4140-957C-047DA2321872}" type="datetimeFigureOut">
              <a:rPr kumimoji="1" lang="ja-JP" altLang="en-US" smtClean="0"/>
              <a:t>2026/8/10</a:t>
            </a:fld>
            <a:endParaRPr kumimoji="1" lang="ja-JP" altLang="en-US"/>
          </a:p>
        </p:txBody>
      </p:sp>
      <p:sp>
        <p:nvSpPr>
          <p:cNvPr id="5" name="フッター プレースホルダー 4">
            <a:extLst>
              <a:ext uri="{FF2B5EF4-FFF2-40B4-BE49-F238E27FC236}">
                <a16:creationId xmlns:a16="http://schemas.microsoft.com/office/drawing/2014/main" id="{BD6DB819-AE78-D4DF-30D3-7C98E68DBEB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ADAEE37-4554-7E30-33B9-F6A9B1B49E05}"/>
              </a:ext>
            </a:extLst>
          </p:cNvPr>
          <p:cNvSpPr>
            <a:spLocks noGrp="1"/>
          </p:cNvSpPr>
          <p:nvPr>
            <p:ph type="sldNum" sz="quarter" idx="12"/>
          </p:nvPr>
        </p:nvSpPr>
        <p:spPr/>
        <p:txBody>
          <a:bodyPr/>
          <a:lstStyle/>
          <a:p>
            <a:fld id="{C67371FC-BBFE-401C-87C0-D70B437373A0}" type="slidenum">
              <a:rPr kumimoji="1" lang="ja-JP" altLang="en-US" smtClean="0"/>
              <a:t>‹#›</a:t>
            </a:fld>
            <a:endParaRPr kumimoji="1" lang="ja-JP" altLang="en-US"/>
          </a:p>
        </p:txBody>
      </p:sp>
    </p:spTree>
    <p:extLst>
      <p:ext uri="{BB962C8B-B14F-4D97-AF65-F5344CB8AC3E}">
        <p14:creationId xmlns:p14="http://schemas.microsoft.com/office/powerpoint/2010/main" val="158040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6BE03DF-4DDB-A146-C5AC-C1B582EDBCD8}"/>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BD34582-2051-202B-E9EB-B5C7EB45972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99784748-208D-AAF2-6942-EBC387D5C823}"/>
              </a:ext>
            </a:extLst>
          </p:cNvPr>
          <p:cNvSpPr>
            <a:spLocks noGrp="1"/>
          </p:cNvSpPr>
          <p:nvPr>
            <p:ph type="dt" sz="half" idx="10"/>
          </p:nvPr>
        </p:nvSpPr>
        <p:spPr/>
        <p:txBody>
          <a:bodyPr/>
          <a:lstStyle/>
          <a:p>
            <a:fld id="{FCF2854B-B55D-4140-957C-047DA2321872}" type="datetimeFigureOut">
              <a:rPr kumimoji="1" lang="ja-JP" altLang="en-US" smtClean="0"/>
              <a:t>2026/8/10</a:t>
            </a:fld>
            <a:endParaRPr kumimoji="1" lang="ja-JP" altLang="en-US"/>
          </a:p>
        </p:txBody>
      </p:sp>
      <p:sp>
        <p:nvSpPr>
          <p:cNvPr id="5" name="フッター プレースホルダー 4">
            <a:extLst>
              <a:ext uri="{FF2B5EF4-FFF2-40B4-BE49-F238E27FC236}">
                <a16:creationId xmlns:a16="http://schemas.microsoft.com/office/drawing/2014/main" id="{C2ABEA99-EC76-7B04-AA9F-AD128EB8C54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89CCF6A-6B3B-32B7-9156-00ABDF1652E4}"/>
              </a:ext>
            </a:extLst>
          </p:cNvPr>
          <p:cNvSpPr>
            <a:spLocks noGrp="1"/>
          </p:cNvSpPr>
          <p:nvPr>
            <p:ph type="sldNum" sz="quarter" idx="12"/>
          </p:nvPr>
        </p:nvSpPr>
        <p:spPr/>
        <p:txBody>
          <a:bodyPr/>
          <a:lstStyle/>
          <a:p>
            <a:fld id="{C67371FC-BBFE-401C-87C0-D70B437373A0}" type="slidenum">
              <a:rPr kumimoji="1" lang="ja-JP" altLang="en-US" smtClean="0"/>
              <a:t>‹#›</a:t>
            </a:fld>
            <a:endParaRPr kumimoji="1" lang="ja-JP" altLang="en-US"/>
          </a:p>
        </p:txBody>
      </p:sp>
    </p:spTree>
    <p:extLst>
      <p:ext uri="{BB962C8B-B14F-4D97-AF65-F5344CB8AC3E}">
        <p14:creationId xmlns:p14="http://schemas.microsoft.com/office/powerpoint/2010/main" val="4263158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379823C-549F-8A59-52E1-9DF572A96AE1}"/>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1729BFF-EAE8-34B5-5D40-17576D5C5820}"/>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83359F38-C3B9-3C7F-E352-91D6A8E6CDF1}"/>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3D9D6B4C-CB7A-A3A9-66A6-6CED61ED2D74}"/>
              </a:ext>
            </a:extLst>
          </p:cNvPr>
          <p:cNvSpPr>
            <a:spLocks noGrp="1"/>
          </p:cNvSpPr>
          <p:nvPr>
            <p:ph type="dt" sz="half" idx="10"/>
          </p:nvPr>
        </p:nvSpPr>
        <p:spPr/>
        <p:txBody>
          <a:bodyPr/>
          <a:lstStyle/>
          <a:p>
            <a:fld id="{FCF2854B-B55D-4140-957C-047DA2321872}" type="datetimeFigureOut">
              <a:rPr kumimoji="1" lang="ja-JP" altLang="en-US" smtClean="0"/>
              <a:t>2026/8/10</a:t>
            </a:fld>
            <a:endParaRPr kumimoji="1" lang="ja-JP" altLang="en-US"/>
          </a:p>
        </p:txBody>
      </p:sp>
      <p:sp>
        <p:nvSpPr>
          <p:cNvPr id="6" name="フッター プレースホルダー 5">
            <a:extLst>
              <a:ext uri="{FF2B5EF4-FFF2-40B4-BE49-F238E27FC236}">
                <a16:creationId xmlns:a16="http://schemas.microsoft.com/office/drawing/2014/main" id="{28535D28-7454-420E-A5E4-CD76FABA1CC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1F208A0-F15C-E74D-B20D-5628723850B1}"/>
              </a:ext>
            </a:extLst>
          </p:cNvPr>
          <p:cNvSpPr>
            <a:spLocks noGrp="1"/>
          </p:cNvSpPr>
          <p:nvPr>
            <p:ph type="sldNum" sz="quarter" idx="12"/>
          </p:nvPr>
        </p:nvSpPr>
        <p:spPr/>
        <p:txBody>
          <a:bodyPr/>
          <a:lstStyle/>
          <a:p>
            <a:fld id="{C67371FC-BBFE-401C-87C0-D70B437373A0}" type="slidenum">
              <a:rPr kumimoji="1" lang="ja-JP" altLang="en-US" smtClean="0"/>
              <a:t>‹#›</a:t>
            </a:fld>
            <a:endParaRPr kumimoji="1" lang="ja-JP" altLang="en-US"/>
          </a:p>
        </p:txBody>
      </p:sp>
    </p:spTree>
    <p:extLst>
      <p:ext uri="{BB962C8B-B14F-4D97-AF65-F5344CB8AC3E}">
        <p14:creationId xmlns:p14="http://schemas.microsoft.com/office/powerpoint/2010/main" val="6620802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BC9A2D6-041B-34CF-9D7A-28A7BAA41D1D}"/>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2576641-BC5B-1E32-F527-4A00A51DA9A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995120EF-5585-2597-6F36-9C21472F5283}"/>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DBD0CA49-8CB8-02F4-4D75-A68DB22511A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B11D4E77-947A-784A-BD0A-1233EF83D86C}"/>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5ACFC7F8-10F3-E274-9AA1-58B373BBB4D0}"/>
              </a:ext>
            </a:extLst>
          </p:cNvPr>
          <p:cNvSpPr>
            <a:spLocks noGrp="1"/>
          </p:cNvSpPr>
          <p:nvPr>
            <p:ph type="dt" sz="half" idx="10"/>
          </p:nvPr>
        </p:nvSpPr>
        <p:spPr/>
        <p:txBody>
          <a:bodyPr/>
          <a:lstStyle/>
          <a:p>
            <a:fld id="{FCF2854B-B55D-4140-957C-047DA2321872}" type="datetimeFigureOut">
              <a:rPr kumimoji="1" lang="ja-JP" altLang="en-US" smtClean="0"/>
              <a:t>2026/8/10</a:t>
            </a:fld>
            <a:endParaRPr kumimoji="1" lang="ja-JP" altLang="en-US"/>
          </a:p>
        </p:txBody>
      </p:sp>
      <p:sp>
        <p:nvSpPr>
          <p:cNvPr id="8" name="フッター プレースホルダー 7">
            <a:extLst>
              <a:ext uri="{FF2B5EF4-FFF2-40B4-BE49-F238E27FC236}">
                <a16:creationId xmlns:a16="http://schemas.microsoft.com/office/drawing/2014/main" id="{BE38C1EE-75D2-9AC4-0DEC-32AEBF64F7E4}"/>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13A4F4BA-37DF-DDBF-5C0F-CD884A2EFD65}"/>
              </a:ext>
            </a:extLst>
          </p:cNvPr>
          <p:cNvSpPr>
            <a:spLocks noGrp="1"/>
          </p:cNvSpPr>
          <p:nvPr>
            <p:ph type="sldNum" sz="quarter" idx="12"/>
          </p:nvPr>
        </p:nvSpPr>
        <p:spPr/>
        <p:txBody>
          <a:bodyPr/>
          <a:lstStyle/>
          <a:p>
            <a:fld id="{C67371FC-BBFE-401C-87C0-D70B437373A0}" type="slidenum">
              <a:rPr kumimoji="1" lang="ja-JP" altLang="en-US" smtClean="0"/>
              <a:t>‹#›</a:t>
            </a:fld>
            <a:endParaRPr kumimoji="1" lang="ja-JP" altLang="en-US"/>
          </a:p>
        </p:txBody>
      </p:sp>
    </p:spTree>
    <p:extLst>
      <p:ext uri="{BB962C8B-B14F-4D97-AF65-F5344CB8AC3E}">
        <p14:creationId xmlns:p14="http://schemas.microsoft.com/office/powerpoint/2010/main" val="36722010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55861E-DAF6-89B2-A529-6C0A3281288C}"/>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0723337A-2B35-2C16-CBDA-475ED6C67B7E}"/>
              </a:ext>
            </a:extLst>
          </p:cNvPr>
          <p:cNvSpPr>
            <a:spLocks noGrp="1"/>
          </p:cNvSpPr>
          <p:nvPr>
            <p:ph type="dt" sz="half" idx="10"/>
          </p:nvPr>
        </p:nvSpPr>
        <p:spPr/>
        <p:txBody>
          <a:bodyPr/>
          <a:lstStyle/>
          <a:p>
            <a:fld id="{FCF2854B-B55D-4140-957C-047DA2321872}" type="datetimeFigureOut">
              <a:rPr kumimoji="1" lang="ja-JP" altLang="en-US" smtClean="0"/>
              <a:t>2026/8/10</a:t>
            </a:fld>
            <a:endParaRPr kumimoji="1" lang="ja-JP" altLang="en-US"/>
          </a:p>
        </p:txBody>
      </p:sp>
      <p:sp>
        <p:nvSpPr>
          <p:cNvPr id="4" name="フッター プレースホルダー 3">
            <a:extLst>
              <a:ext uri="{FF2B5EF4-FFF2-40B4-BE49-F238E27FC236}">
                <a16:creationId xmlns:a16="http://schemas.microsoft.com/office/drawing/2014/main" id="{B5183F44-A157-0E9E-29B5-CF13176868DC}"/>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1A9FC8EF-9440-A552-2571-6B8050AF5DAF}"/>
              </a:ext>
            </a:extLst>
          </p:cNvPr>
          <p:cNvSpPr>
            <a:spLocks noGrp="1"/>
          </p:cNvSpPr>
          <p:nvPr>
            <p:ph type="sldNum" sz="quarter" idx="12"/>
          </p:nvPr>
        </p:nvSpPr>
        <p:spPr/>
        <p:txBody>
          <a:bodyPr/>
          <a:lstStyle/>
          <a:p>
            <a:fld id="{C67371FC-BBFE-401C-87C0-D70B437373A0}" type="slidenum">
              <a:rPr kumimoji="1" lang="ja-JP" altLang="en-US" smtClean="0"/>
              <a:t>‹#›</a:t>
            </a:fld>
            <a:endParaRPr kumimoji="1" lang="ja-JP" altLang="en-US"/>
          </a:p>
        </p:txBody>
      </p:sp>
    </p:spTree>
    <p:extLst>
      <p:ext uri="{BB962C8B-B14F-4D97-AF65-F5344CB8AC3E}">
        <p14:creationId xmlns:p14="http://schemas.microsoft.com/office/powerpoint/2010/main" val="20781173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06939BE0-B761-1253-CB17-FE539E985600}"/>
              </a:ext>
            </a:extLst>
          </p:cNvPr>
          <p:cNvSpPr>
            <a:spLocks noGrp="1"/>
          </p:cNvSpPr>
          <p:nvPr>
            <p:ph type="dt" sz="half" idx="10"/>
          </p:nvPr>
        </p:nvSpPr>
        <p:spPr/>
        <p:txBody>
          <a:bodyPr/>
          <a:lstStyle/>
          <a:p>
            <a:fld id="{FCF2854B-B55D-4140-957C-047DA2321872}" type="datetimeFigureOut">
              <a:rPr kumimoji="1" lang="ja-JP" altLang="en-US" smtClean="0"/>
              <a:t>2026/8/10</a:t>
            </a:fld>
            <a:endParaRPr kumimoji="1" lang="ja-JP" altLang="en-US"/>
          </a:p>
        </p:txBody>
      </p:sp>
      <p:sp>
        <p:nvSpPr>
          <p:cNvPr id="3" name="フッター プレースホルダー 2">
            <a:extLst>
              <a:ext uri="{FF2B5EF4-FFF2-40B4-BE49-F238E27FC236}">
                <a16:creationId xmlns:a16="http://schemas.microsoft.com/office/drawing/2014/main" id="{DAAFF4A3-6E7B-7490-53AA-51C04695DC1C}"/>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7E66E1C1-C576-8B4A-1AAC-F975A1DF2E86}"/>
              </a:ext>
            </a:extLst>
          </p:cNvPr>
          <p:cNvSpPr>
            <a:spLocks noGrp="1"/>
          </p:cNvSpPr>
          <p:nvPr>
            <p:ph type="sldNum" sz="quarter" idx="12"/>
          </p:nvPr>
        </p:nvSpPr>
        <p:spPr/>
        <p:txBody>
          <a:bodyPr/>
          <a:lstStyle/>
          <a:p>
            <a:fld id="{C67371FC-BBFE-401C-87C0-D70B437373A0}" type="slidenum">
              <a:rPr kumimoji="1" lang="ja-JP" altLang="en-US" smtClean="0"/>
              <a:t>‹#›</a:t>
            </a:fld>
            <a:endParaRPr kumimoji="1" lang="ja-JP" altLang="en-US"/>
          </a:p>
        </p:txBody>
      </p:sp>
    </p:spTree>
    <p:extLst>
      <p:ext uri="{BB962C8B-B14F-4D97-AF65-F5344CB8AC3E}">
        <p14:creationId xmlns:p14="http://schemas.microsoft.com/office/powerpoint/2010/main" val="5059906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0F517AC-B351-09F5-274E-0879C0B33798}"/>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38D6688-49C5-4EC9-34E4-B568ECCEC54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3EFBD2BC-A7CF-0BA9-99C4-BD34798B5A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48C3A1B8-19CD-BF28-9416-67420F241371}"/>
              </a:ext>
            </a:extLst>
          </p:cNvPr>
          <p:cNvSpPr>
            <a:spLocks noGrp="1"/>
          </p:cNvSpPr>
          <p:nvPr>
            <p:ph type="dt" sz="half" idx="10"/>
          </p:nvPr>
        </p:nvSpPr>
        <p:spPr/>
        <p:txBody>
          <a:bodyPr/>
          <a:lstStyle/>
          <a:p>
            <a:fld id="{FCF2854B-B55D-4140-957C-047DA2321872}" type="datetimeFigureOut">
              <a:rPr kumimoji="1" lang="ja-JP" altLang="en-US" smtClean="0"/>
              <a:t>2026/8/10</a:t>
            </a:fld>
            <a:endParaRPr kumimoji="1" lang="ja-JP" altLang="en-US"/>
          </a:p>
        </p:txBody>
      </p:sp>
      <p:sp>
        <p:nvSpPr>
          <p:cNvPr id="6" name="フッター プレースホルダー 5">
            <a:extLst>
              <a:ext uri="{FF2B5EF4-FFF2-40B4-BE49-F238E27FC236}">
                <a16:creationId xmlns:a16="http://schemas.microsoft.com/office/drawing/2014/main" id="{93E1F90A-B514-23EA-3EED-0A9A0A4B3CC0}"/>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6A2BABA-FFA2-A74C-0A26-5B115E97A8BD}"/>
              </a:ext>
            </a:extLst>
          </p:cNvPr>
          <p:cNvSpPr>
            <a:spLocks noGrp="1"/>
          </p:cNvSpPr>
          <p:nvPr>
            <p:ph type="sldNum" sz="quarter" idx="12"/>
          </p:nvPr>
        </p:nvSpPr>
        <p:spPr/>
        <p:txBody>
          <a:bodyPr/>
          <a:lstStyle/>
          <a:p>
            <a:fld id="{C67371FC-BBFE-401C-87C0-D70B437373A0}" type="slidenum">
              <a:rPr kumimoji="1" lang="ja-JP" altLang="en-US" smtClean="0"/>
              <a:t>‹#›</a:t>
            </a:fld>
            <a:endParaRPr kumimoji="1" lang="ja-JP" altLang="en-US"/>
          </a:p>
        </p:txBody>
      </p:sp>
    </p:spTree>
    <p:extLst>
      <p:ext uri="{BB962C8B-B14F-4D97-AF65-F5344CB8AC3E}">
        <p14:creationId xmlns:p14="http://schemas.microsoft.com/office/powerpoint/2010/main" val="27283749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147B64B-2C4D-3B69-4A84-6915116D0F3D}"/>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7EB309AF-F109-96A1-3DF0-68296A25189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73BA7E42-2EA1-7F98-D0E9-0260642DEB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30382C60-A804-DEDF-1F88-58E2F4CCAF14}"/>
              </a:ext>
            </a:extLst>
          </p:cNvPr>
          <p:cNvSpPr>
            <a:spLocks noGrp="1"/>
          </p:cNvSpPr>
          <p:nvPr>
            <p:ph type="dt" sz="half" idx="10"/>
          </p:nvPr>
        </p:nvSpPr>
        <p:spPr/>
        <p:txBody>
          <a:bodyPr/>
          <a:lstStyle/>
          <a:p>
            <a:fld id="{FCF2854B-B55D-4140-957C-047DA2321872}" type="datetimeFigureOut">
              <a:rPr kumimoji="1" lang="ja-JP" altLang="en-US" smtClean="0"/>
              <a:t>2026/8/10</a:t>
            </a:fld>
            <a:endParaRPr kumimoji="1" lang="ja-JP" altLang="en-US"/>
          </a:p>
        </p:txBody>
      </p:sp>
      <p:sp>
        <p:nvSpPr>
          <p:cNvPr id="6" name="フッター プレースホルダー 5">
            <a:extLst>
              <a:ext uri="{FF2B5EF4-FFF2-40B4-BE49-F238E27FC236}">
                <a16:creationId xmlns:a16="http://schemas.microsoft.com/office/drawing/2014/main" id="{6F926853-F9B3-B1F3-5617-0AB86058AAE5}"/>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3D88DBAE-28D7-9DC7-A6AF-43810CE335EB}"/>
              </a:ext>
            </a:extLst>
          </p:cNvPr>
          <p:cNvSpPr>
            <a:spLocks noGrp="1"/>
          </p:cNvSpPr>
          <p:nvPr>
            <p:ph type="sldNum" sz="quarter" idx="12"/>
          </p:nvPr>
        </p:nvSpPr>
        <p:spPr/>
        <p:txBody>
          <a:bodyPr/>
          <a:lstStyle/>
          <a:p>
            <a:fld id="{C67371FC-BBFE-401C-87C0-D70B437373A0}" type="slidenum">
              <a:rPr kumimoji="1" lang="ja-JP" altLang="en-US" smtClean="0"/>
              <a:t>‹#›</a:t>
            </a:fld>
            <a:endParaRPr kumimoji="1" lang="ja-JP" altLang="en-US"/>
          </a:p>
        </p:txBody>
      </p:sp>
    </p:spTree>
    <p:extLst>
      <p:ext uri="{BB962C8B-B14F-4D97-AF65-F5344CB8AC3E}">
        <p14:creationId xmlns:p14="http://schemas.microsoft.com/office/powerpoint/2010/main" val="35161702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EB8D0D-FA85-B725-ED73-EC9EA0645C55}"/>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815165F1-4B88-602A-F4E3-60909EA9D4BC}"/>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3F686ED-E18A-561A-0F85-409B218169B9}"/>
              </a:ext>
            </a:extLst>
          </p:cNvPr>
          <p:cNvSpPr>
            <a:spLocks noGrp="1"/>
          </p:cNvSpPr>
          <p:nvPr>
            <p:ph type="dt" sz="half" idx="10"/>
          </p:nvPr>
        </p:nvSpPr>
        <p:spPr/>
        <p:txBody>
          <a:bodyPr/>
          <a:lstStyle/>
          <a:p>
            <a:fld id="{FCF2854B-B55D-4140-957C-047DA2321872}" type="datetimeFigureOut">
              <a:rPr kumimoji="1" lang="ja-JP" altLang="en-US" smtClean="0"/>
              <a:t>2026/8/10</a:t>
            </a:fld>
            <a:endParaRPr kumimoji="1" lang="ja-JP" altLang="en-US"/>
          </a:p>
        </p:txBody>
      </p:sp>
      <p:sp>
        <p:nvSpPr>
          <p:cNvPr id="5" name="フッター プレースホルダー 4">
            <a:extLst>
              <a:ext uri="{FF2B5EF4-FFF2-40B4-BE49-F238E27FC236}">
                <a16:creationId xmlns:a16="http://schemas.microsoft.com/office/drawing/2014/main" id="{8BD4653F-63DF-61FC-3C1A-9DA719BE24B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831BA97-56CD-80D7-B047-5F9A2BF754FC}"/>
              </a:ext>
            </a:extLst>
          </p:cNvPr>
          <p:cNvSpPr>
            <a:spLocks noGrp="1"/>
          </p:cNvSpPr>
          <p:nvPr>
            <p:ph type="sldNum" sz="quarter" idx="12"/>
          </p:nvPr>
        </p:nvSpPr>
        <p:spPr/>
        <p:txBody>
          <a:bodyPr/>
          <a:lstStyle/>
          <a:p>
            <a:fld id="{C67371FC-BBFE-401C-87C0-D70B437373A0}" type="slidenum">
              <a:rPr kumimoji="1" lang="ja-JP" altLang="en-US" smtClean="0"/>
              <a:t>‹#›</a:t>
            </a:fld>
            <a:endParaRPr kumimoji="1" lang="ja-JP" altLang="en-US"/>
          </a:p>
        </p:txBody>
      </p:sp>
    </p:spTree>
    <p:extLst>
      <p:ext uri="{BB962C8B-B14F-4D97-AF65-F5344CB8AC3E}">
        <p14:creationId xmlns:p14="http://schemas.microsoft.com/office/powerpoint/2010/main" val="35843293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F0DB5693-23B5-69F7-B741-AAD4ADDF8787}"/>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3865A37A-FF30-24DD-655C-04244DB9D178}"/>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B62F696-2EB8-8273-9879-4ACB23E0CE6A}"/>
              </a:ext>
            </a:extLst>
          </p:cNvPr>
          <p:cNvSpPr>
            <a:spLocks noGrp="1"/>
          </p:cNvSpPr>
          <p:nvPr>
            <p:ph type="dt" sz="half" idx="10"/>
          </p:nvPr>
        </p:nvSpPr>
        <p:spPr/>
        <p:txBody>
          <a:bodyPr/>
          <a:lstStyle/>
          <a:p>
            <a:fld id="{FCF2854B-B55D-4140-957C-047DA2321872}" type="datetimeFigureOut">
              <a:rPr kumimoji="1" lang="ja-JP" altLang="en-US" smtClean="0"/>
              <a:t>2026/8/10</a:t>
            </a:fld>
            <a:endParaRPr kumimoji="1" lang="ja-JP" altLang="en-US"/>
          </a:p>
        </p:txBody>
      </p:sp>
      <p:sp>
        <p:nvSpPr>
          <p:cNvPr id="5" name="フッター プレースホルダー 4">
            <a:extLst>
              <a:ext uri="{FF2B5EF4-FFF2-40B4-BE49-F238E27FC236}">
                <a16:creationId xmlns:a16="http://schemas.microsoft.com/office/drawing/2014/main" id="{A839D8A2-1AAA-1EBA-44EB-2E3289EDEC8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08822B1-5CAC-DBF2-ACA2-FEFC3EA266C8}"/>
              </a:ext>
            </a:extLst>
          </p:cNvPr>
          <p:cNvSpPr>
            <a:spLocks noGrp="1"/>
          </p:cNvSpPr>
          <p:nvPr>
            <p:ph type="sldNum" sz="quarter" idx="12"/>
          </p:nvPr>
        </p:nvSpPr>
        <p:spPr/>
        <p:txBody>
          <a:bodyPr/>
          <a:lstStyle/>
          <a:p>
            <a:fld id="{C67371FC-BBFE-401C-87C0-D70B437373A0}" type="slidenum">
              <a:rPr kumimoji="1" lang="ja-JP" altLang="en-US" smtClean="0"/>
              <a:t>‹#›</a:t>
            </a:fld>
            <a:endParaRPr kumimoji="1" lang="ja-JP" altLang="en-US"/>
          </a:p>
        </p:txBody>
      </p:sp>
    </p:spTree>
    <p:extLst>
      <p:ext uri="{BB962C8B-B14F-4D97-AF65-F5344CB8AC3E}">
        <p14:creationId xmlns:p14="http://schemas.microsoft.com/office/powerpoint/2010/main" val="32498151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2411A496-DAC2-9D43-785D-6B377B69583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0894A60-CBF9-6A54-9EB0-5FBA834B3A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0E28608-988C-5014-5819-F5ED2659B54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CF2854B-B55D-4140-957C-047DA2321872}" type="datetimeFigureOut">
              <a:rPr kumimoji="1" lang="ja-JP" altLang="en-US" smtClean="0"/>
              <a:t>2026/8/10</a:t>
            </a:fld>
            <a:endParaRPr kumimoji="1" lang="ja-JP" altLang="en-US"/>
          </a:p>
        </p:txBody>
      </p:sp>
      <p:sp>
        <p:nvSpPr>
          <p:cNvPr id="5" name="フッター プレースホルダー 4">
            <a:extLst>
              <a:ext uri="{FF2B5EF4-FFF2-40B4-BE49-F238E27FC236}">
                <a16:creationId xmlns:a16="http://schemas.microsoft.com/office/drawing/2014/main" id="{7880E4BE-5E7E-FCDF-913E-527C6721FF7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F5AAA049-67E3-A661-4B76-0922BA3EEF1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67371FC-BBFE-401C-87C0-D70B437373A0}" type="slidenum">
              <a:rPr kumimoji="1" lang="ja-JP" altLang="en-US" smtClean="0"/>
              <a:t>‹#›</a:t>
            </a:fld>
            <a:endParaRPr kumimoji="1" lang="ja-JP" altLang="en-US"/>
          </a:p>
        </p:txBody>
      </p:sp>
    </p:spTree>
    <p:extLst>
      <p:ext uri="{BB962C8B-B14F-4D97-AF65-F5344CB8AC3E}">
        <p14:creationId xmlns:p14="http://schemas.microsoft.com/office/powerpoint/2010/main" val="31196298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5.svg"/><Relationship Id="rId7" Type="http://schemas.openxmlformats.org/officeDocument/2006/relationships/hyperlink" Target="https://github.com/mattpocock/skills" TargetMode="External"/><Relationship Id="rId12" Type="http://schemas.openxmlformats.org/officeDocument/2006/relationships/hyperlink" Target="https://www.youtube.com/watch?v=VKuZeNlz_2o&amp;t=83s" TargetMode="External"/><Relationship Id="rId2" Type="http://schemas.openxmlformats.org/officeDocument/2006/relationships/image" Target="../media/image4.svg"/><Relationship Id="rId1" Type="http://schemas.openxmlformats.org/officeDocument/2006/relationships/slideLayout" Target="../slideLayouts/slideLayout1.xml"/><Relationship Id="rId6" Type="http://schemas.openxmlformats.org/officeDocument/2006/relationships/image" Target="../media/image8.svg"/><Relationship Id="rId11" Type="http://schemas.openxmlformats.org/officeDocument/2006/relationships/image" Target="../media/image11.svg"/><Relationship Id="rId5" Type="http://schemas.openxmlformats.org/officeDocument/2006/relationships/image" Target="../media/image7.svg"/><Relationship Id="rId10" Type="http://schemas.openxmlformats.org/officeDocument/2006/relationships/hyperlink" Target="https://github.com/nextlevelbuilder/ui-ux-pro-max-skill" TargetMode="External"/><Relationship Id="rId4" Type="http://schemas.openxmlformats.org/officeDocument/2006/relationships/image" Target="../media/image6.png"/><Relationship Id="rId9" Type="http://schemas.openxmlformats.org/officeDocument/2006/relationships/image" Target="../media/image10.sv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3.svg"/><Relationship Id="rId1" Type="http://schemas.openxmlformats.org/officeDocument/2006/relationships/slideLayout" Target="../slideLayouts/slideLayout1.xml"/><Relationship Id="rId4" Type="http://schemas.openxmlformats.org/officeDocument/2006/relationships/image" Target="../media/image14.svg"/></Relationships>
</file>

<file path=ppt/slides/_rels/slide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3.svg"/><Relationship Id="rId1" Type="http://schemas.openxmlformats.org/officeDocument/2006/relationships/slideLayout" Target="../slideLayouts/slideLayout1.xml"/><Relationship Id="rId4" Type="http://schemas.openxmlformats.org/officeDocument/2006/relationships/image" Target="../media/image14.svg"/></Relationships>
</file>

<file path=ppt/slides/_rels/slide6.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テキスト ボックス 66">
            <a:extLst>
              <a:ext uri="{FF2B5EF4-FFF2-40B4-BE49-F238E27FC236}">
                <a16:creationId xmlns:a16="http://schemas.microsoft.com/office/drawing/2014/main" id="{5B04181E-9945-B44B-3A44-DB8BA28323F8}"/>
              </a:ext>
            </a:extLst>
          </p:cNvPr>
          <p:cNvSpPr txBox="1"/>
          <p:nvPr/>
        </p:nvSpPr>
        <p:spPr>
          <a:xfrm>
            <a:off x="685800" y="1955800"/>
            <a:ext cx="5969000" cy="1138773"/>
          </a:xfrm>
          <a:prstGeom prst="rect">
            <a:avLst/>
          </a:prstGeom>
          <a:noFill/>
        </p:spPr>
        <p:txBody>
          <a:bodyPr vert="horz" rtlCol="0">
            <a:spAutoFit/>
          </a:bodyPr>
          <a:lstStyle/>
          <a:p>
            <a:r>
              <a:rPr kumimoji="1" lang="en-US" altLang="ja-JP" sz="3400" b="1">
                <a:solidFill>
                  <a:srgbClr val="000000"/>
                </a:solidFill>
                <a:latin typeface="BIZ UDPゴシック" panose="020B0400000000000000" pitchFamily="50" charset="-128"/>
                <a:ea typeface="BIZ UDPゴシック" panose="020B0400000000000000" pitchFamily="50" charset="-128"/>
              </a:rPr>
              <a:t>AI</a:t>
            </a:r>
            <a:r>
              <a:rPr kumimoji="1" lang="ja-JP" altLang="en-US" sz="3400" b="1">
                <a:solidFill>
                  <a:srgbClr val="000000"/>
                </a:solidFill>
                <a:latin typeface="BIZ UDPゴシック" panose="020B0400000000000000" pitchFamily="50" charset="-128"/>
                <a:ea typeface="BIZ UDPゴシック" panose="020B0400000000000000" pitchFamily="50" charset="-128"/>
              </a:rPr>
              <a:t>開発の「思ってたんと違う」が激減</a:t>
            </a:r>
          </a:p>
        </p:txBody>
      </p:sp>
      <p:sp>
        <p:nvSpPr>
          <p:cNvPr id="68" name="テキスト ボックス 67">
            <a:extLst>
              <a:ext uri="{FF2B5EF4-FFF2-40B4-BE49-F238E27FC236}">
                <a16:creationId xmlns:a16="http://schemas.microsoft.com/office/drawing/2014/main" id="{5CAE9C76-8F47-EDEE-9142-7ADF32DD08BE}"/>
              </a:ext>
            </a:extLst>
          </p:cNvPr>
          <p:cNvSpPr txBox="1"/>
          <p:nvPr/>
        </p:nvSpPr>
        <p:spPr>
          <a:xfrm>
            <a:off x="736600" y="3530600"/>
            <a:ext cx="5715000" cy="769441"/>
          </a:xfrm>
          <a:prstGeom prst="rect">
            <a:avLst/>
          </a:prstGeom>
          <a:noFill/>
        </p:spPr>
        <p:txBody>
          <a:bodyPr vert="horz" rtlCol="0">
            <a:spAutoFit/>
          </a:bodyPr>
          <a:lstStyle/>
          <a:p>
            <a:r>
              <a:rPr kumimoji="1" lang="en-US" altLang="ja-JP" sz="2200" b="1" dirty="0">
                <a:solidFill>
                  <a:srgbClr val="6485C1"/>
                </a:solidFill>
                <a:latin typeface="BIZ UDPゴシック" panose="020B0400000000000000" pitchFamily="50" charset="-128"/>
                <a:ea typeface="BIZ UDPゴシック" panose="020B0400000000000000" pitchFamily="50" charset="-128"/>
              </a:rPr>
              <a:t>Agent Skills</a:t>
            </a:r>
            <a:r>
              <a:rPr kumimoji="1" lang="ja-JP" altLang="en-US" sz="2200" b="1" dirty="0">
                <a:solidFill>
                  <a:srgbClr val="6485C1"/>
                </a:solidFill>
                <a:latin typeface="BIZ UDPゴシック" panose="020B0400000000000000" pitchFamily="50" charset="-128"/>
                <a:ea typeface="BIZ UDPゴシック" panose="020B0400000000000000" pitchFamily="50" charset="-128"/>
              </a:rPr>
              <a:t>でつくる、</a:t>
            </a:r>
            <a:endParaRPr kumimoji="1" lang="en-US" altLang="ja-JP" sz="2200" b="1" dirty="0">
              <a:solidFill>
                <a:srgbClr val="6485C1"/>
              </a:solidFill>
              <a:latin typeface="BIZ UDPゴシック" panose="020B0400000000000000" pitchFamily="50" charset="-128"/>
              <a:ea typeface="BIZ UDPゴシック" panose="020B0400000000000000" pitchFamily="50" charset="-128"/>
            </a:endParaRPr>
          </a:p>
          <a:p>
            <a:r>
              <a:rPr kumimoji="1" lang="ja-JP" altLang="en-US" sz="2200" b="1" dirty="0">
                <a:solidFill>
                  <a:srgbClr val="6485C1"/>
                </a:solidFill>
                <a:latin typeface="BIZ UDPゴシック" panose="020B0400000000000000" pitchFamily="50" charset="-128"/>
                <a:ea typeface="BIZ UDPゴシック" panose="020B0400000000000000" pitchFamily="50" charset="-128"/>
              </a:rPr>
              <a:t>ズレにくい開発プロセス</a:t>
            </a:r>
          </a:p>
        </p:txBody>
      </p:sp>
      <p:pic>
        <p:nvPicPr>
          <p:cNvPr id="72" name="図 71">
            <a:extLst>
              <a:ext uri="{FF2B5EF4-FFF2-40B4-BE49-F238E27FC236}">
                <a16:creationId xmlns:a16="http://schemas.microsoft.com/office/drawing/2014/main" id="{C9C28AFE-6DA7-96B3-73CF-E6559073684F}"/>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6451600" y="2362200"/>
            <a:ext cx="2374900" cy="2743200"/>
          </a:xfrm>
          <a:prstGeom prst="rect">
            <a:avLst/>
          </a:prstGeom>
        </p:spPr>
      </p:pic>
      <p:pic>
        <p:nvPicPr>
          <p:cNvPr id="74" name="グラフィックス 73">
            <a:extLst>
              <a:ext uri="{FF2B5EF4-FFF2-40B4-BE49-F238E27FC236}">
                <a16:creationId xmlns:a16="http://schemas.microsoft.com/office/drawing/2014/main" id="{D0086BBD-7566-3037-516B-BA9684389386}"/>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8763000" y="3429000"/>
            <a:ext cx="482600" cy="482600"/>
          </a:xfrm>
          <a:prstGeom prst="rect">
            <a:avLst/>
          </a:prstGeom>
        </p:spPr>
      </p:pic>
      <p:pic>
        <p:nvPicPr>
          <p:cNvPr id="76" name="図 75">
            <a:extLst>
              <a:ext uri="{FF2B5EF4-FFF2-40B4-BE49-F238E27FC236}">
                <a16:creationId xmlns:a16="http://schemas.microsoft.com/office/drawing/2014/main" id="{ACB271B3-4BAC-AC17-6575-1F4AF1072E7B}"/>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9334500" y="2362200"/>
            <a:ext cx="2222500" cy="2743200"/>
          </a:xfrm>
          <a:prstGeom prst="rect">
            <a:avLst/>
          </a:prstGeom>
        </p:spPr>
      </p:pic>
    </p:spTree>
    <p:extLst>
      <p:ext uri="{BB962C8B-B14F-4D97-AF65-F5344CB8AC3E}">
        <p14:creationId xmlns:p14="http://schemas.microsoft.com/office/powerpoint/2010/main" val="22154996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6FAA3EFD-40A2-BFAA-EE70-FAB3B17251FE}"/>
              </a:ext>
            </a:extLst>
          </p:cNvPr>
          <p:cNvSpPr txBox="1"/>
          <p:nvPr/>
        </p:nvSpPr>
        <p:spPr>
          <a:xfrm>
            <a:off x="533400" y="228600"/>
            <a:ext cx="11125200" cy="482600"/>
          </a:xfrm>
          <a:prstGeom prst="rect">
            <a:avLst/>
          </a:prstGeom>
          <a:noFill/>
        </p:spPr>
        <p:txBody>
          <a:bodyPr vert="horz" wrap="square" lIns="0" tIns="0" rIns="0" bIns="0" rtlCol="0">
            <a:noAutofit/>
          </a:bodyPr>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1" lang="ja-JP" altLang="en-US" sz="3200" b="1" i="0" u="none" strike="noStrike" kern="1200" cap="none" spc="0" normalizeH="0" baseline="0" noProof="0" dirty="0">
                <a:ln>
                  <a:noFill/>
                </a:ln>
                <a:solidFill>
                  <a:srgbClr val="000000"/>
                </a:solidFill>
                <a:effectLst/>
                <a:uLnTx/>
                <a:uFillTx/>
                <a:latin typeface="BIZ UDPゴシック" panose="020B0400000000000000" pitchFamily="50" charset="-128"/>
                <a:ea typeface="BIZ UDPゴシック" panose="020B0400000000000000" pitchFamily="50" charset="-128"/>
                <a:cs typeface="+mn-cs"/>
              </a:rPr>
              <a:t>着想元</a:t>
            </a:r>
            <a:r>
              <a:rPr kumimoji="1" lang="en-US" altLang="ja-JP" sz="3200" b="1" i="0" u="none" strike="noStrike" kern="1200" cap="none" spc="0" normalizeH="0" baseline="0" noProof="0" dirty="0">
                <a:ln>
                  <a:noFill/>
                </a:ln>
                <a:solidFill>
                  <a:srgbClr val="000000"/>
                </a:solidFill>
                <a:effectLst/>
                <a:uLnTx/>
                <a:uFillTx/>
                <a:latin typeface="BIZ UDPゴシック" panose="020B0400000000000000" pitchFamily="50" charset="-128"/>
                <a:ea typeface="BIZ UDPゴシック" panose="020B0400000000000000" pitchFamily="50" charset="-128"/>
                <a:cs typeface="+mn-cs"/>
              </a:rPr>
              <a:t>YouTube</a:t>
            </a:r>
            <a:r>
              <a:rPr kumimoji="1" lang="ja-JP" altLang="en-US" sz="3200" b="1" i="0" u="none" strike="noStrike" kern="1200" cap="none" spc="0" normalizeH="0" baseline="0" noProof="0" dirty="0">
                <a:ln>
                  <a:noFill/>
                </a:ln>
                <a:solidFill>
                  <a:srgbClr val="000000"/>
                </a:solidFill>
                <a:effectLst/>
                <a:uLnTx/>
                <a:uFillTx/>
                <a:latin typeface="BIZ UDPゴシック" panose="020B0400000000000000" pitchFamily="50" charset="-128"/>
                <a:ea typeface="BIZ UDPゴシック" panose="020B0400000000000000" pitchFamily="50" charset="-128"/>
                <a:cs typeface="+mn-cs"/>
              </a:rPr>
              <a:t>と利用する</a:t>
            </a:r>
            <a:r>
              <a:rPr kumimoji="1" lang="en-US" altLang="ja-JP" sz="3200" b="1" i="0" u="none" strike="noStrike" kern="1200" cap="none" spc="0" normalizeH="0" baseline="0" noProof="0" dirty="0">
                <a:ln>
                  <a:noFill/>
                </a:ln>
                <a:solidFill>
                  <a:srgbClr val="000000"/>
                </a:solidFill>
                <a:effectLst/>
                <a:uLnTx/>
                <a:uFillTx/>
                <a:latin typeface="BIZ UDPゴシック" panose="020B0400000000000000" pitchFamily="50" charset="-128"/>
                <a:ea typeface="BIZ UDPゴシック" panose="020B0400000000000000" pitchFamily="50" charset="-128"/>
                <a:cs typeface="+mn-cs"/>
              </a:rPr>
              <a:t>Agent Skills</a:t>
            </a:r>
            <a:r>
              <a:rPr kumimoji="1" lang="ja-JP" altLang="en-US" sz="3200" b="1" i="0" u="none" strike="noStrike" kern="1200" cap="none" spc="0" normalizeH="0" baseline="0" noProof="0" dirty="0">
                <a:ln>
                  <a:noFill/>
                </a:ln>
                <a:solidFill>
                  <a:srgbClr val="000000"/>
                </a:solidFill>
                <a:effectLst/>
                <a:uLnTx/>
                <a:uFillTx/>
                <a:latin typeface="BIZ UDPゴシック" panose="020B0400000000000000" pitchFamily="50" charset="-128"/>
                <a:ea typeface="BIZ UDPゴシック" panose="020B0400000000000000" pitchFamily="50" charset="-128"/>
                <a:cs typeface="+mn-cs"/>
              </a:rPr>
              <a:t>の紹介</a:t>
            </a:r>
          </a:p>
        </p:txBody>
      </p:sp>
      <p:sp>
        <p:nvSpPr>
          <p:cNvPr id="5" name="四角形: 角を丸くする 4">
            <a:extLst>
              <a:ext uri="{FF2B5EF4-FFF2-40B4-BE49-F238E27FC236}">
                <a16:creationId xmlns:a16="http://schemas.microsoft.com/office/drawing/2014/main" id="{D0703261-2816-6EC1-0CE0-EC4F3943FE89}"/>
              </a:ext>
            </a:extLst>
          </p:cNvPr>
          <p:cNvSpPr/>
          <p:nvPr/>
        </p:nvSpPr>
        <p:spPr>
          <a:xfrm>
            <a:off x="533400" y="825500"/>
            <a:ext cx="11125200" cy="713504"/>
          </a:xfrm>
          <a:prstGeom prst="roundRect">
            <a:avLst>
              <a:gd name="adj" fmla="val 8000"/>
            </a:avLst>
          </a:prstGeom>
          <a:solidFill>
            <a:srgbClr val="EDF2F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110004020202020204"/>
              <a:ea typeface="游ゴシック" panose="020B0400000000000000" pitchFamily="50" charset="-128"/>
              <a:cs typeface="+mn-cs"/>
            </a:endParaRPr>
          </a:p>
        </p:txBody>
      </p:sp>
      <p:pic>
        <p:nvPicPr>
          <p:cNvPr id="7" name="グラフィックス 6">
            <a:extLst>
              <a:ext uri="{FF2B5EF4-FFF2-40B4-BE49-F238E27FC236}">
                <a16:creationId xmlns:a16="http://schemas.microsoft.com/office/drawing/2014/main" id="{C5DBC20A-277A-A54E-AC40-CDE3907F70A1}"/>
              </a:ext>
            </a:extLst>
          </p:cNvPr>
          <p:cNvPicPr>
            <a:picLocks/>
          </p:cNvPicPr>
          <p:nvPr/>
        </p:nvPicPr>
        <p:blipFill>
          <a:blip>
            <a:extLst>
              <a:ext uri="{96DAC541-7B7A-43D3-8B79-37D633B846F1}">
                <asvg:svgBlip xmlns:asvg="http://schemas.microsoft.com/office/drawing/2016/SVG/main" r:embed="rId2"/>
              </a:ext>
            </a:extLst>
          </a:blip>
          <a:stretch>
            <a:fillRect/>
          </a:stretch>
        </p:blipFill>
        <p:spPr>
          <a:xfrm>
            <a:off x="736600" y="952500"/>
            <a:ext cx="292100" cy="292100"/>
          </a:xfrm>
          <a:prstGeom prst="rect">
            <a:avLst/>
          </a:prstGeom>
        </p:spPr>
      </p:pic>
      <p:sp>
        <p:nvSpPr>
          <p:cNvPr id="8" name="テキスト ボックス 7">
            <a:extLst>
              <a:ext uri="{FF2B5EF4-FFF2-40B4-BE49-F238E27FC236}">
                <a16:creationId xmlns:a16="http://schemas.microsoft.com/office/drawing/2014/main" id="{7A2D85B2-16D3-034B-32E5-5442CA62C470}"/>
              </a:ext>
            </a:extLst>
          </p:cNvPr>
          <p:cNvSpPr txBox="1"/>
          <p:nvPr/>
        </p:nvSpPr>
        <p:spPr>
          <a:xfrm>
            <a:off x="1155700" y="914400"/>
            <a:ext cx="10210800" cy="381000"/>
          </a:xfrm>
          <a:prstGeom prst="rect">
            <a:avLst/>
          </a:prstGeom>
          <a:noFill/>
        </p:spPr>
        <p:txBody>
          <a:bodyPr vert="horz" wrap="square" lIns="0" tIns="0" rIns="0" bIns="0" rtlCol="0">
            <a:noAutofit/>
          </a:bodyPr>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このスライドで紹介する開発プロセスは、</a:t>
            </a:r>
            <a:endParaRPr kumimoji="1" lang="en-US" altLang="ja-JP" sz="1800" b="0" i="0" u="none" strike="noStrike" kern="1200" cap="none" spc="0" normalizeH="0" baseline="0" noProof="0" dirty="0">
              <a:ln>
                <a:noFill/>
              </a:ln>
              <a:solidFill>
                <a:prstClr val="black"/>
              </a:solidFill>
              <a:effectLst/>
              <a:uLnTx/>
              <a:uFillTx/>
              <a:latin typeface="BIZ UDPゴシック" panose="020B0400000000000000" pitchFamily="50" charset="-128"/>
              <a:ea typeface="BIZ UDPゴシック" panose="020B0400000000000000" pitchFamily="50" charset="-128"/>
              <a:cs typeface="+mn-cs"/>
            </a:endParaRPr>
          </a:p>
          <a:p>
            <a:pPr marL="0" marR="0" lvl="0" indent="0" algn="l" defTabSz="914400" rtl="0" eaLnBrk="1" fontAlgn="auto" latinLnBrk="0" hangingPunct="1">
              <a:lnSpc>
                <a:spcPct val="105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下記動画で紹介されたプロセスを自分なりに理解・再現したものです</a:t>
            </a:r>
          </a:p>
        </p:txBody>
      </p:sp>
      <p:sp>
        <p:nvSpPr>
          <p:cNvPr id="9" name="正方形/長方形 8">
            <a:extLst>
              <a:ext uri="{FF2B5EF4-FFF2-40B4-BE49-F238E27FC236}">
                <a16:creationId xmlns:a16="http://schemas.microsoft.com/office/drawing/2014/main" id="{0C617480-73E3-E949-068A-DBE35B5BE9A8}"/>
              </a:ext>
            </a:extLst>
          </p:cNvPr>
          <p:cNvSpPr/>
          <p:nvPr/>
        </p:nvSpPr>
        <p:spPr>
          <a:xfrm>
            <a:off x="5626100" y="1729504"/>
            <a:ext cx="12700" cy="4572000"/>
          </a:xfrm>
          <a:prstGeom prst="rect">
            <a:avLst/>
          </a:prstGeom>
          <a:solidFill>
            <a:srgbClr val="D5DAE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110004020202020204"/>
              <a:ea typeface="游ゴシック" panose="020B0400000000000000" pitchFamily="50" charset="-128"/>
              <a:cs typeface="+mn-cs"/>
            </a:endParaRPr>
          </a:p>
        </p:txBody>
      </p:sp>
      <p:pic>
        <p:nvPicPr>
          <p:cNvPr id="11" name="グラフィックス 10">
            <a:extLst>
              <a:ext uri="{FF2B5EF4-FFF2-40B4-BE49-F238E27FC236}">
                <a16:creationId xmlns:a16="http://schemas.microsoft.com/office/drawing/2014/main" id="{39D69419-C5F1-074C-F5FD-D08367733DB9}"/>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546100" y="1683902"/>
            <a:ext cx="317500" cy="317500"/>
          </a:xfrm>
          <a:prstGeom prst="rect">
            <a:avLst/>
          </a:prstGeom>
        </p:spPr>
      </p:pic>
      <p:sp>
        <p:nvSpPr>
          <p:cNvPr id="12" name="テキスト ボックス 11">
            <a:extLst>
              <a:ext uri="{FF2B5EF4-FFF2-40B4-BE49-F238E27FC236}">
                <a16:creationId xmlns:a16="http://schemas.microsoft.com/office/drawing/2014/main" id="{4BD513D9-634B-420F-FEDE-5BEF39D1526E}"/>
              </a:ext>
            </a:extLst>
          </p:cNvPr>
          <p:cNvSpPr txBox="1"/>
          <p:nvPr/>
        </p:nvSpPr>
        <p:spPr>
          <a:xfrm>
            <a:off x="965200" y="1691404"/>
            <a:ext cx="4191000" cy="393700"/>
          </a:xfrm>
          <a:prstGeom prst="rect">
            <a:avLst/>
          </a:prstGeom>
          <a:noFill/>
        </p:spPr>
        <p:txBody>
          <a:bodyPr vert="horz" wrap="square" lIns="0" tIns="0" rIns="0" bIns="0" rtlCol="0">
            <a:noAutofit/>
          </a:bodyPr>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1" lang="ja-JP" altLang="en-US" sz="2200" b="1" i="0" u="none" strike="noStrike" kern="1200" cap="none" spc="0" normalizeH="0" baseline="0" noProof="0">
                <a:ln>
                  <a:noFill/>
                </a:ln>
                <a:solidFill>
                  <a:srgbClr val="6485C1"/>
                </a:solidFill>
                <a:effectLst/>
                <a:uLnTx/>
                <a:uFillTx/>
                <a:latin typeface="BIZ UDPゴシック" panose="020B0400000000000000" pitchFamily="50" charset="-128"/>
                <a:ea typeface="BIZ UDPゴシック" panose="020B0400000000000000" pitchFamily="50" charset="-128"/>
                <a:cs typeface="+mn-cs"/>
              </a:rPr>
              <a:t>着想元</a:t>
            </a:r>
            <a:r>
              <a:rPr kumimoji="1" lang="en-US" altLang="ja-JP" sz="2200" b="1" i="0" u="none" strike="noStrike" kern="1200" cap="none" spc="0" normalizeH="0" baseline="0" noProof="0">
                <a:ln>
                  <a:noFill/>
                </a:ln>
                <a:solidFill>
                  <a:srgbClr val="6485C1"/>
                </a:solidFill>
                <a:effectLst/>
                <a:uLnTx/>
                <a:uFillTx/>
                <a:latin typeface="BIZ UDPゴシック" panose="020B0400000000000000" pitchFamily="50" charset="-128"/>
                <a:ea typeface="BIZ UDPゴシック" panose="020B0400000000000000" pitchFamily="50" charset="-128"/>
                <a:cs typeface="+mn-cs"/>
              </a:rPr>
              <a:t>YouTube</a:t>
            </a:r>
            <a:endParaRPr kumimoji="1" lang="ja-JP" altLang="en-US" sz="2200" b="1" i="0" u="none" strike="noStrike" kern="1200" cap="none" spc="0" normalizeH="0" baseline="0" noProof="0">
              <a:ln>
                <a:noFill/>
              </a:ln>
              <a:solidFill>
                <a:srgbClr val="6485C1"/>
              </a:solidFill>
              <a:effectLst/>
              <a:uLnTx/>
              <a:uFillTx/>
              <a:latin typeface="BIZ UDPゴシック" panose="020B0400000000000000" pitchFamily="50" charset="-128"/>
              <a:ea typeface="BIZ UDPゴシック" panose="020B0400000000000000" pitchFamily="50" charset="-128"/>
              <a:cs typeface="+mn-cs"/>
            </a:endParaRPr>
          </a:p>
        </p:txBody>
      </p:sp>
      <p:sp>
        <p:nvSpPr>
          <p:cNvPr id="13" name="テキスト ボックス 12">
            <a:extLst>
              <a:ext uri="{FF2B5EF4-FFF2-40B4-BE49-F238E27FC236}">
                <a16:creationId xmlns:a16="http://schemas.microsoft.com/office/drawing/2014/main" id="{E45E7923-012B-E939-A027-FB23876EE1D8}"/>
              </a:ext>
            </a:extLst>
          </p:cNvPr>
          <p:cNvSpPr txBox="1"/>
          <p:nvPr/>
        </p:nvSpPr>
        <p:spPr>
          <a:xfrm>
            <a:off x="546100" y="2161304"/>
            <a:ext cx="4762500" cy="342900"/>
          </a:xfrm>
          <a:prstGeom prst="rect">
            <a:avLst/>
          </a:prstGeom>
          <a:noFill/>
        </p:spPr>
        <p:txBody>
          <a:bodyPr vert="horz" wrap="square" lIns="0" tIns="0" rIns="0" bIns="0" rtlCol="0">
            <a:noAutofit/>
          </a:bodyPr>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1" lang="ja-JP" altLang="en-US" sz="1800" b="1" i="0" u="none" strike="noStrike" kern="1200" cap="none" spc="0" normalizeH="0" baseline="0" noProof="0">
                <a:ln>
                  <a:noFill/>
                </a:ln>
                <a:solidFill>
                  <a:srgbClr val="000000"/>
                </a:solidFill>
                <a:effectLst/>
                <a:uLnTx/>
                <a:uFillTx/>
                <a:latin typeface="BIZ UDPゴシック" panose="020B0400000000000000" pitchFamily="50" charset="-128"/>
                <a:ea typeface="BIZ UDPゴシック" panose="020B0400000000000000" pitchFamily="50" charset="-128"/>
                <a:cs typeface="+mn-cs"/>
              </a:rPr>
              <a:t>数理の弾丸⚡️京大博士の</a:t>
            </a:r>
            <a:r>
              <a:rPr kumimoji="1" lang="en-US" altLang="ja-JP" sz="1800" b="1" i="0" u="none" strike="noStrike" kern="1200" cap="none" spc="0" normalizeH="0" baseline="0" noProof="0">
                <a:ln>
                  <a:noFill/>
                </a:ln>
                <a:solidFill>
                  <a:srgbClr val="000000"/>
                </a:solidFill>
                <a:effectLst/>
                <a:uLnTx/>
                <a:uFillTx/>
                <a:latin typeface="BIZ UDPゴシック" panose="020B0400000000000000" pitchFamily="50" charset="-128"/>
                <a:ea typeface="BIZ UDPゴシック" panose="020B0400000000000000" pitchFamily="50" charset="-128"/>
                <a:cs typeface="+mn-cs"/>
              </a:rPr>
              <a:t>AI</a:t>
            </a:r>
            <a:r>
              <a:rPr kumimoji="1" lang="ja-JP" altLang="en-US" sz="1800" b="1" i="0" u="none" strike="noStrike" kern="1200" cap="none" spc="0" normalizeH="0" baseline="0" noProof="0">
                <a:ln>
                  <a:noFill/>
                </a:ln>
                <a:solidFill>
                  <a:srgbClr val="000000"/>
                </a:solidFill>
                <a:effectLst/>
                <a:uLnTx/>
                <a:uFillTx/>
                <a:latin typeface="BIZ UDPゴシック" panose="020B0400000000000000" pitchFamily="50" charset="-128"/>
                <a:ea typeface="BIZ UDPゴシック" panose="020B0400000000000000" pitchFamily="50" charset="-128"/>
                <a:cs typeface="+mn-cs"/>
              </a:rPr>
              <a:t>解説</a:t>
            </a:r>
          </a:p>
        </p:txBody>
      </p:sp>
      <p:sp>
        <p:nvSpPr>
          <p:cNvPr id="14" name="テキスト ボックス 13">
            <a:extLst>
              <a:ext uri="{FF2B5EF4-FFF2-40B4-BE49-F238E27FC236}">
                <a16:creationId xmlns:a16="http://schemas.microsoft.com/office/drawing/2014/main" id="{1F93A8EE-5E1E-EA6E-F59C-1F8F67AD5EA1}"/>
              </a:ext>
            </a:extLst>
          </p:cNvPr>
          <p:cNvSpPr txBox="1"/>
          <p:nvPr/>
        </p:nvSpPr>
        <p:spPr>
          <a:xfrm>
            <a:off x="546100" y="2542304"/>
            <a:ext cx="4762500" cy="622300"/>
          </a:xfrm>
          <a:prstGeom prst="rect">
            <a:avLst/>
          </a:prstGeom>
          <a:noFill/>
        </p:spPr>
        <p:txBody>
          <a:bodyPr vert="horz" wrap="square" lIns="0" tIns="0" rIns="0" bIns="0" rtlCol="0">
            <a:noAutofit/>
          </a:bodyPr>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1" lang="ja-JP" altLang="en-US" sz="1600" b="0" i="0" u="none" strike="noStrike" kern="1200" cap="none" spc="0" normalizeH="0" baseline="0" noProof="0">
                <a:ln>
                  <a:noFill/>
                </a:ln>
                <a:solidFill>
                  <a:srgbClr val="555555"/>
                </a:solidFill>
                <a:effectLst/>
                <a:uLnTx/>
                <a:uFillTx/>
                <a:latin typeface="BIZ UDPゴシック" panose="020B0400000000000000" pitchFamily="50" charset="-128"/>
                <a:ea typeface="BIZ UDPゴシック" panose="020B0400000000000000" pitchFamily="50" charset="-128"/>
                <a:cs typeface="+mn-cs"/>
              </a:rPr>
              <a:t>生成</a:t>
            </a:r>
            <a:r>
              <a:rPr kumimoji="1" lang="en-US" altLang="ja-JP" sz="1600" b="0" i="0" u="none" strike="noStrike" kern="1200" cap="none" spc="0" normalizeH="0" baseline="0" noProof="0">
                <a:ln>
                  <a:noFill/>
                </a:ln>
                <a:solidFill>
                  <a:srgbClr val="555555"/>
                </a:solidFill>
                <a:effectLst/>
                <a:uLnTx/>
                <a:uFillTx/>
                <a:latin typeface="BIZ UDPゴシック" panose="020B0400000000000000" pitchFamily="50" charset="-128"/>
                <a:ea typeface="BIZ UDPゴシック" panose="020B0400000000000000" pitchFamily="50" charset="-128"/>
                <a:cs typeface="+mn-cs"/>
              </a:rPr>
              <a:t>AI</a:t>
            </a:r>
            <a:r>
              <a:rPr kumimoji="1" lang="ja-JP" altLang="en-US" sz="1600" b="0" i="0" u="none" strike="noStrike" kern="1200" cap="none" spc="0" normalizeH="0" baseline="0" noProof="0">
                <a:ln>
                  <a:noFill/>
                </a:ln>
                <a:solidFill>
                  <a:srgbClr val="555555"/>
                </a:solidFill>
                <a:effectLst/>
                <a:uLnTx/>
                <a:uFillTx/>
                <a:latin typeface="BIZ UDPゴシック" panose="020B0400000000000000" pitchFamily="50" charset="-128"/>
                <a:ea typeface="BIZ UDPゴシック" panose="020B0400000000000000" pitchFamily="50" charset="-128"/>
                <a:cs typeface="+mn-cs"/>
              </a:rPr>
              <a:t>の話題をわかりやすく解説し、</a:t>
            </a:r>
          </a:p>
          <a:p>
            <a:pPr marL="0" marR="0" lvl="0" indent="0" algn="l" defTabSz="914400" rtl="0" eaLnBrk="1" fontAlgn="auto" latinLnBrk="0" hangingPunct="1">
              <a:lnSpc>
                <a:spcPct val="105000"/>
              </a:lnSpc>
              <a:spcBef>
                <a:spcPts val="0"/>
              </a:spcBef>
              <a:spcAft>
                <a:spcPts val="0"/>
              </a:spcAft>
              <a:buClrTx/>
              <a:buSzTx/>
              <a:buFontTx/>
              <a:buNone/>
              <a:tabLst/>
              <a:defRPr/>
            </a:pPr>
            <a:r>
              <a:rPr kumimoji="1" lang="ja-JP" altLang="en-US" sz="1600" b="0" i="0" u="none" strike="noStrike" kern="1200" cap="none" spc="0" normalizeH="0" baseline="0" noProof="0">
                <a:ln>
                  <a:noFill/>
                </a:ln>
                <a:solidFill>
                  <a:srgbClr val="555555"/>
                </a:solidFill>
                <a:effectLst/>
                <a:uLnTx/>
                <a:uFillTx/>
                <a:latin typeface="BIZ UDPゴシック" panose="020B0400000000000000" pitchFamily="50" charset="-128"/>
                <a:ea typeface="BIZ UDPゴシック" panose="020B0400000000000000" pitchFamily="50" charset="-128"/>
                <a:cs typeface="+mn-cs"/>
              </a:rPr>
              <a:t>実践に活かすヒントまで得られるおすすめチャンネル</a:t>
            </a:r>
          </a:p>
        </p:txBody>
      </p:sp>
      <p:pic>
        <p:nvPicPr>
          <p:cNvPr id="16" name="図 15">
            <a:extLst>
              <a:ext uri="{FF2B5EF4-FFF2-40B4-BE49-F238E27FC236}">
                <a16:creationId xmlns:a16="http://schemas.microsoft.com/office/drawing/2014/main" id="{61EF64E5-1E26-1AB5-5878-B61807EA3DDD}"/>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46100" y="3278904"/>
            <a:ext cx="4762500" cy="2679700"/>
          </a:xfrm>
          <a:prstGeom prst="rect">
            <a:avLst/>
          </a:prstGeom>
        </p:spPr>
      </p:pic>
      <p:sp>
        <p:nvSpPr>
          <p:cNvPr id="17" name="テキスト ボックス 16">
            <a:extLst>
              <a:ext uri="{FF2B5EF4-FFF2-40B4-BE49-F238E27FC236}">
                <a16:creationId xmlns:a16="http://schemas.microsoft.com/office/drawing/2014/main" id="{71E2FF10-13C8-204D-0A60-BC202C2BF455}"/>
              </a:ext>
            </a:extLst>
          </p:cNvPr>
          <p:cNvSpPr txBox="1"/>
          <p:nvPr/>
        </p:nvSpPr>
        <p:spPr>
          <a:xfrm>
            <a:off x="546100" y="6022104"/>
            <a:ext cx="4762500" cy="533400"/>
          </a:xfrm>
          <a:prstGeom prst="rect">
            <a:avLst/>
          </a:prstGeom>
          <a:noFill/>
        </p:spPr>
        <p:txBody>
          <a:bodyPr vert="horz" wrap="square" lIns="0" tIns="0" rIns="0" bIns="0" rtlCol="0">
            <a:noAutofit/>
          </a:bodyPr>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1" lang="en-US" altLang="ja-JP" sz="1400" b="1" i="0" u="none" strike="noStrike" kern="1200" cap="none" spc="0" normalizeH="0" baseline="0" noProof="0">
                <a:ln>
                  <a:noFill/>
                </a:ln>
                <a:solidFill>
                  <a:srgbClr val="000000"/>
                </a:solidFill>
                <a:effectLst/>
                <a:uLnTx/>
                <a:uFillTx/>
                <a:latin typeface="BIZ UDPゴシック" panose="020B0400000000000000" pitchFamily="50" charset="-128"/>
                <a:ea typeface="BIZ UDPゴシック" panose="020B0400000000000000" pitchFamily="50" charset="-128"/>
                <a:cs typeface="+mn-cs"/>
              </a:rPr>
              <a:t>/grill-me</a:t>
            </a:r>
            <a:r>
              <a:rPr kumimoji="1" lang="ja-JP" altLang="en-US" sz="1400" b="1" i="0" u="none" strike="noStrike" kern="1200" cap="none" spc="0" normalizeH="0" baseline="0" noProof="0">
                <a:ln>
                  <a:noFill/>
                </a:ln>
                <a:solidFill>
                  <a:srgbClr val="000000"/>
                </a:solidFill>
                <a:effectLst/>
                <a:uLnTx/>
                <a:uFillTx/>
                <a:latin typeface="BIZ UDPゴシック" panose="020B0400000000000000" pitchFamily="50" charset="-128"/>
                <a:ea typeface="BIZ UDPゴシック" panose="020B0400000000000000" pitchFamily="50" charset="-128"/>
                <a:cs typeface="+mn-cs"/>
              </a:rPr>
              <a:t>：</a:t>
            </a:r>
            <a:r>
              <a:rPr kumimoji="1" lang="en-US" altLang="ja-JP" sz="1400" b="1" i="0" u="none" strike="noStrike" kern="1200" cap="none" spc="0" normalizeH="0" baseline="0" noProof="0">
                <a:ln>
                  <a:noFill/>
                </a:ln>
                <a:solidFill>
                  <a:srgbClr val="000000"/>
                </a:solidFill>
                <a:effectLst/>
                <a:uLnTx/>
                <a:uFillTx/>
                <a:latin typeface="BIZ UDPゴシック" panose="020B0400000000000000" pitchFamily="50" charset="-128"/>
                <a:ea typeface="BIZ UDPゴシック" panose="020B0400000000000000" pitchFamily="50" charset="-128"/>
                <a:cs typeface="+mn-cs"/>
              </a:rPr>
              <a:t>AI</a:t>
            </a:r>
            <a:r>
              <a:rPr kumimoji="1" lang="ja-JP" altLang="en-US" sz="1400" b="1" i="0" u="none" strike="noStrike" kern="1200" cap="none" spc="0" normalizeH="0" baseline="0" noProof="0">
                <a:ln>
                  <a:noFill/>
                </a:ln>
                <a:solidFill>
                  <a:srgbClr val="000000"/>
                </a:solidFill>
                <a:effectLst/>
                <a:uLnTx/>
                <a:uFillTx/>
                <a:latin typeface="BIZ UDPゴシック" panose="020B0400000000000000" pitchFamily="50" charset="-128"/>
                <a:ea typeface="BIZ UDPゴシック" panose="020B0400000000000000" pitchFamily="50" charset="-128"/>
                <a:cs typeface="+mn-cs"/>
              </a:rPr>
              <a:t>駆動開発を超助けてくれる</a:t>
            </a:r>
            <a:r>
              <a:rPr kumimoji="1" lang="en-US" altLang="ja-JP" sz="1400" b="1" i="0" u="none" strike="noStrike" kern="1200" cap="none" spc="0" normalizeH="0" baseline="0" noProof="0">
                <a:ln>
                  <a:noFill/>
                </a:ln>
                <a:solidFill>
                  <a:srgbClr val="000000"/>
                </a:solidFill>
                <a:effectLst/>
                <a:uLnTx/>
                <a:uFillTx/>
                <a:latin typeface="BIZ UDPゴシック" panose="020B0400000000000000" pitchFamily="50" charset="-128"/>
                <a:ea typeface="BIZ UDPゴシック" panose="020B0400000000000000" pitchFamily="50" charset="-128"/>
                <a:cs typeface="+mn-cs"/>
              </a:rPr>
              <a:t>Skill</a:t>
            </a:r>
          </a:p>
          <a:p>
            <a:pPr marL="0" marR="0" lvl="0" indent="0" algn="l" defTabSz="914400" rtl="0" eaLnBrk="1" fontAlgn="auto" latinLnBrk="0" hangingPunct="1">
              <a:lnSpc>
                <a:spcPct val="105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555555"/>
                </a:solidFill>
                <a:effectLst/>
                <a:uLnTx/>
                <a:uFillTx/>
                <a:latin typeface="BIZ UDPゴシック" panose="020B0400000000000000" pitchFamily="50" charset="-128"/>
                <a:ea typeface="BIZ UDPゴシック" panose="020B0400000000000000" pitchFamily="50" charset="-128"/>
                <a:cs typeface="+mn-cs"/>
              </a:rPr>
              <a:t>youtube.com/watch?v=VKuZeNlz_2o</a:t>
            </a:r>
            <a:endParaRPr kumimoji="1" lang="ja-JP" altLang="en-US" sz="1400" b="0" i="0" u="none" strike="noStrike" kern="1200" cap="none" spc="0" normalizeH="0" baseline="0" noProof="0">
              <a:ln>
                <a:noFill/>
              </a:ln>
              <a:solidFill>
                <a:srgbClr val="555555"/>
              </a:solidFill>
              <a:effectLst/>
              <a:uLnTx/>
              <a:uFillTx/>
              <a:latin typeface="BIZ UDPゴシック" panose="020B0400000000000000" pitchFamily="50" charset="-128"/>
              <a:ea typeface="BIZ UDPゴシック" panose="020B0400000000000000" pitchFamily="50" charset="-128"/>
              <a:cs typeface="+mn-cs"/>
            </a:endParaRPr>
          </a:p>
        </p:txBody>
      </p:sp>
      <p:pic>
        <p:nvPicPr>
          <p:cNvPr id="19" name="グラフィックス 18">
            <a:extLst>
              <a:ext uri="{FF2B5EF4-FFF2-40B4-BE49-F238E27FC236}">
                <a16:creationId xmlns:a16="http://schemas.microsoft.com/office/drawing/2014/main" id="{84E6E393-7F69-1FE2-B18F-22C5033CCA35}"/>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5969000" y="1683902"/>
            <a:ext cx="317500" cy="317500"/>
          </a:xfrm>
          <a:prstGeom prst="rect">
            <a:avLst/>
          </a:prstGeom>
        </p:spPr>
      </p:pic>
      <p:sp>
        <p:nvSpPr>
          <p:cNvPr id="20" name="テキスト ボックス 19">
            <a:extLst>
              <a:ext uri="{FF2B5EF4-FFF2-40B4-BE49-F238E27FC236}">
                <a16:creationId xmlns:a16="http://schemas.microsoft.com/office/drawing/2014/main" id="{156A4B2C-863F-88C1-3607-7A2E461CD997}"/>
              </a:ext>
            </a:extLst>
          </p:cNvPr>
          <p:cNvSpPr txBox="1"/>
          <p:nvPr/>
        </p:nvSpPr>
        <p:spPr>
          <a:xfrm>
            <a:off x="6388100" y="1691404"/>
            <a:ext cx="4953000" cy="393700"/>
          </a:xfrm>
          <a:prstGeom prst="rect">
            <a:avLst/>
          </a:prstGeom>
          <a:noFill/>
        </p:spPr>
        <p:txBody>
          <a:bodyPr vert="horz" wrap="square" lIns="0" tIns="0" rIns="0" bIns="0" rtlCol="0">
            <a:noAutofit/>
          </a:bodyPr>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1" lang="ja-JP" altLang="en-US" sz="2200" b="1" i="0" u="none" strike="noStrike" kern="1200" cap="none" spc="0" normalizeH="0" baseline="0" noProof="0">
                <a:ln>
                  <a:noFill/>
                </a:ln>
                <a:solidFill>
                  <a:srgbClr val="6485C1"/>
                </a:solidFill>
                <a:effectLst/>
                <a:uLnTx/>
                <a:uFillTx/>
                <a:latin typeface="BIZ UDPゴシック" panose="020B0400000000000000" pitchFamily="50" charset="-128"/>
                <a:ea typeface="BIZ UDPゴシック" panose="020B0400000000000000" pitchFamily="50" charset="-128"/>
                <a:cs typeface="+mn-cs"/>
              </a:rPr>
              <a:t>利用する</a:t>
            </a:r>
            <a:r>
              <a:rPr kumimoji="1" lang="en-US" altLang="ja-JP" sz="2200" b="1" i="0" u="none" strike="noStrike" kern="1200" cap="none" spc="0" normalizeH="0" baseline="0" noProof="0">
                <a:ln>
                  <a:noFill/>
                </a:ln>
                <a:solidFill>
                  <a:srgbClr val="6485C1"/>
                </a:solidFill>
                <a:effectLst/>
                <a:uLnTx/>
                <a:uFillTx/>
                <a:latin typeface="BIZ UDPゴシック" panose="020B0400000000000000" pitchFamily="50" charset="-128"/>
                <a:ea typeface="BIZ UDPゴシック" panose="020B0400000000000000" pitchFamily="50" charset="-128"/>
                <a:cs typeface="+mn-cs"/>
              </a:rPr>
              <a:t>Agent Skills</a:t>
            </a:r>
            <a:endParaRPr kumimoji="1" lang="ja-JP" altLang="en-US" sz="2200" b="1" i="0" u="none" strike="noStrike" kern="1200" cap="none" spc="0" normalizeH="0" baseline="0" noProof="0">
              <a:ln>
                <a:noFill/>
              </a:ln>
              <a:solidFill>
                <a:srgbClr val="6485C1"/>
              </a:solidFill>
              <a:effectLst/>
              <a:uLnTx/>
              <a:uFillTx/>
              <a:latin typeface="BIZ UDPゴシック" panose="020B0400000000000000" pitchFamily="50" charset="-128"/>
              <a:ea typeface="BIZ UDPゴシック" panose="020B0400000000000000" pitchFamily="50" charset="-128"/>
              <a:cs typeface="+mn-cs"/>
            </a:endParaRPr>
          </a:p>
        </p:txBody>
      </p:sp>
      <p:sp>
        <p:nvSpPr>
          <p:cNvPr id="21" name="四角形: 角を丸くする 20">
            <a:extLst>
              <a:ext uri="{FF2B5EF4-FFF2-40B4-BE49-F238E27FC236}">
                <a16:creationId xmlns:a16="http://schemas.microsoft.com/office/drawing/2014/main" id="{29AED0A2-C1F3-787A-57F8-45B9DB1BC1C8}"/>
              </a:ext>
            </a:extLst>
          </p:cNvPr>
          <p:cNvSpPr/>
          <p:nvPr/>
        </p:nvSpPr>
        <p:spPr>
          <a:xfrm>
            <a:off x="5969000" y="2199404"/>
            <a:ext cx="5689600" cy="1816100"/>
          </a:xfrm>
          <a:prstGeom prst="roundRect">
            <a:avLst>
              <a:gd name="adj" fmla="val 8000"/>
            </a:avLst>
          </a:prstGeom>
          <a:solidFill>
            <a:srgbClr val="EDF2F9"/>
          </a:solidFill>
          <a:ln w="25400">
            <a:solidFill>
              <a:srgbClr val="6485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110004020202020204"/>
              <a:ea typeface="游ゴシック" panose="020B0400000000000000" pitchFamily="50" charset="-128"/>
              <a:cs typeface="+mn-cs"/>
            </a:endParaRPr>
          </a:p>
        </p:txBody>
      </p:sp>
      <p:pic>
        <p:nvPicPr>
          <p:cNvPr id="23" name="グラフィックス 22">
            <a:extLst>
              <a:ext uri="{FF2B5EF4-FFF2-40B4-BE49-F238E27FC236}">
                <a16:creationId xmlns:a16="http://schemas.microsoft.com/office/drawing/2014/main" id="{85ED9776-F173-9F07-529A-E35FEDD09C86}"/>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6197600" y="2363352"/>
            <a:ext cx="355600" cy="355600"/>
          </a:xfrm>
          <a:prstGeom prst="rect">
            <a:avLst/>
          </a:prstGeom>
        </p:spPr>
      </p:pic>
      <p:sp>
        <p:nvSpPr>
          <p:cNvPr id="24" name="テキスト ボックス 23">
            <a:extLst>
              <a:ext uri="{FF2B5EF4-FFF2-40B4-BE49-F238E27FC236}">
                <a16:creationId xmlns:a16="http://schemas.microsoft.com/office/drawing/2014/main" id="{44679715-3FC7-8AD0-51D6-17E6579B6AD8}"/>
              </a:ext>
            </a:extLst>
          </p:cNvPr>
          <p:cNvSpPr txBox="1"/>
          <p:nvPr/>
        </p:nvSpPr>
        <p:spPr>
          <a:xfrm>
            <a:off x="6705600" y="2377204"/>
            <a:ext cx="4622800" cy="381000"/>
          </a:xfrm>
          <a:prstGeom prst="rect">
            <a:avLst/>
          </a:prstGeom>
          <a:noFill/>
        </p:spPr>
        <p:txBody>
          <a:bodyPr vert="horz" wrap="square" lIns="0" tIns="0" rIns="0" bIns="0" rtlCol="0">
            <a:noAutofit/>
          </a:bodyPr>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1" lang="en-US" altLang="ja-JP" sz="2100" b="1" i="0" u="none" strike="noStrike" kern="1200" cap="none" spc="0" normalizeH="0" baseline="0" noProof="0">
                <a:ln>
                  <a:noFill/>
                </a:ln>
                <a:solidFill>
                  <a:srgbClr val="6485C1"/>
                </a:solidFill>
                <a:effectLst/>
                <a:uLnTx/>
                <a:uFillTx/>
                <a:latin typeface="BIZ UDPゴシック" panose="020B0400000000000000" pitchFamily="50" charset="-128"/>
                <a:ea typeface="BIZ UDPゴシック" panose="020B0400000000000000" pitchFamily="50" charset="-128"/>
                <a:cs typeface="+mn-cs"/>
              </a:rPr>
              <a:t>mattpocock/skills</a:t>
            </a:r>
            <a:endParaRPr kumimoji="1" lang="ja-JP" altLang="en-US" sz="2100" b="1" i="0" u="none" strike="noStrike" kern="1200" cap="none" spc="0" normalizeH="0" baseline="0" noProof="0">
              <a:ln>
                <a:noFill/>
              </a:ln>
              <a:solidFill>
                <a:srgbClr val="6485C1"/>
              </a:solidFill>
              <a:effectLst/>
              <a:uLnTx/>
              <a:uFillTx/>
              <a:latin typeface="BIZ UDPゴシック" panose="020B0400000000000000" pitchFamily="50" charset="-128"/>
              <a:ea typeface="BIZ UDPゴシック" panose="020B0400000000000000" pitchFamily="50" charset="-128"/>
              <a:cs typeface="+mn-cs"/>
            </a:endParaRPr>
          </a:p>
        </p:txBody>
      </p:sp>
      <p:sp>
        <p:nvSpPr>
          <p:cNvPr id="25" name="テキスト ボックス 24">
            <a:extLst>
              <a:ext uri="{FF2B5EF4-FFF2-40B4-BE49-F238E27FC236}">
                <a16:creationId xmlns:a16="http://schemas.microsoft.com/office/drawing/2014/main" id="{17BA5ABD-CFBD-8EA0-3711-7CDC9A88C2E1}"/>
              </a:ext>
            </a:extLst>
          </p:cNvPr>
          <p:cNvSpPr txBox="1"/>
          <p:nvPr/>
        </p:nvSpPr>
        <p:spPr>
          <a:xfrm>
            <a:off x="6197600" y="2872504"/>
            <a:ext cx="5321300" cy="711200"/>
          </a:xfrm>
          <a:prstGeom prst="rect">
            <a:avLst/>
          </a:prstGeom>
          <a:noFill/>
        </p:spPr>
        <p:txBody>
          <a:bodyPr vert="horz" wrap="square" lIns="0" tIns="0" rIns="0" bIns="0" rtlCol="0">
            <a:noAutofit/>
          </a:bodyPr>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1" lang="ja-JP" altLang="en-US" sz="1600" b="0" i="0" u="none" strike="noStrike" kern="1200" cap="none" spc="0" normalizeH="0" baseline="0" noProof="0" dirty="0">
                <a:ln>
                  <a:noFill/>
                </a:ln>
                <a:solidFill>
                  <a:srgbClr val="000000"/>
                </a:solidFill>
                <a:effectLst/>
                <a:uLnTx/>
                <a:uFillTx/>
                <a:latin typeface="BIZ UDPゴシック" panose="020B0400000000000000" pitchFamily="50" charset="-128"/>
                <a:ea typeface="BIZ UDPゴシック" panose="020B0400000000000000" pitchFamily="50" charset="-128"/>
                <a:cs typeface="+mn-cs"/>
              </a:rPr>
              <a:t>プロセスで利用する</a:t>
            </a:r>
            <a:r>
              <a:rPr kumimoji="1" lang="en-US" altLang="ja-JP" sz="1600" b="0" i="0" u="none" strike="noStrike" kern="1200" cap="none" spc="0" normalizeH="0" baseline="0" noProof="0" dirty="0">
                <a:ln>
                  <a:noFill/>
                </a:ln>
                <a:solidFill>
                  <a:srgbClr val="000000"/>
                </a:solidFill>
                <a:effectLst/>
                <a:uLnTx/>
                <a:uFillTx/>
                <a:latin typeface="BIZ UDPゴシック" panose="020B0400000000000000" pitchFamily="50" charset="-128"/>
                <a:ea typeface="BIZ UDPゴシック" panose="020B0400000000000000" pitchFamily="50" charset="-128"/>
                <a:cs typeface="+mn-cs"/>
              </a:rPr>
              <a:t>Skills</a:t>
            </a:r>
            <a:r>
              <a:rPr kumimoji="1" lang="ja-JP" altLang="en-US" sz="1600" b="0" i="0" u="none" strike="noStrike" kern="1200" cap="none" spc="0" normalizeH="0" baseline="0" noProof="0" dirty="0">
                <a:ln>
                  <a:noFill/>
                </a:ln>
                <a:solidFill>
                  <a:srgbClr val="000000"/>
                </a:solidFill>
                <a:effectLst/>
                <a:uLnTx/>
                <a:uFillTx/>
                <a:latin typeface="BIZ UDPゴシック" panose="020B0400000000000000" pitchFamily="50" charset="-128"/>
                <a:ea typeface="BIZ UDPゴシック" panose="020B0400000000000000" pitchFamily="50" charset="-128"/>
                <a:cs typeface="+mn-cs"/>
              </a:rPr>
              <a:t>の提供元。</a:t>
            </a:r>
          </a:p>
          <a:p>
            <a:pPr marL="0" marR="0" lvl="0" indent="0" algn="l" defTabSz="914400" rtl="0" eaLnBrk="1" fontAlgn="auto" latinLnBrk="0" hangingPunct="1">
              <a:lnSpc>
                <a:spcPct val="105000"/>
              </a:lnSpc>
              <a:spcBef>
                <a:spcPts val="0"/>
              </a:spcBef>
              <a:spcAft>
                <a:spcPts val="0"/>
              </a:spcAft>
              <a:buClrTx/>
              <a:buSzTx/>
              <a:buFontTx/>
              <a:buNone/>
              <a:tabLst/>
              <a:defRPr/>
            </a:pPr>
            <a:r>
              <a:rPr kumimoji="1" lang="en-US" altLang="ja-JP" sz="1600" b="0" i="0" u="none" strike="noStrike" kern="1200" cap="none" spc="0" normalizeH="0" baseline="0" noProof="0" dirty="0" err="1">
                <a:ln>
                  <a:noFill/>
                </a:ln>
                <a:solidFill>
                  <a:srgbClr val="000000"/>
                </a:solidFill>
                <a:effectLst/>
                <a:uLnTx/>
                <a:uFillTx/>
                <a:latin typeface="BIZ UDPゴシック" panose="020B0400000000000000" pitchFamily="50" charset="-128"/>
                <a:ea typeface="BIZ UDPゴシック" panose="020B0400000000000000" pitchFamily="50" charset="-128"/>
                <a:cs typeface="+mn-cs"/>
              </a:rPr>
              <a:t>ui</a:t>
            </a:r>
            <a:r>
              <a:rPr kumimoji="1" lang="en-US" altLang="ja-JP" sz="1600" b="0" i="0" u="none" strike="noStrike" kern="1200" cap="none" spc="0" normalizeH="0" baseline="0" noProof="0" dirty="0">
                <a:ln>
                  <a:noFill/>
                </a:ln>
                <a:solidFill>
                  <a:srgbClr val="000000"/>
                </a:solidFill>
                <a:effectLst/>
                <a:uLnTx/>
                <a:uFillTx/>
                <a:latin typeface="BIZ UDPゴシック" panose="020B0400000000000000" pitchFamily="50" charset="-128"/>
                <a:ea typeface="BIZ UDPゴシック" panose="020B0400000000000000" pitchFamily="50" charset="-128"/>
                <a:cs typeface="+mn-cs"/>
              </a:rPr>
              <a:t>-</a:t>
            </a:r>
            <a:r>
              <a:rPr kumimoji="1" lang="en-US" altLang="ja-JP" sz="1600" b="0" i="0" u="none" strike="noStrike" kern="1200" cap="none" spc="0" normalizeH="0" baseline="0" noProof="0" dirty="0" err="1">
                <a:ln>
                  <a:noFill/>
                </a:ln>
                <a:solidFill>
                  <a:srgbClr val="000000"/>
                </a:solidFill>
                <a:effectLst/>
                <a:uLnTx/>
                <a:uFillTx/>
                <a:latin typeface="BIZ UDPゴシック" panose="020B0400000000000000" pitchFamily="50" charset="-128"/>
                <a:ea typeface="BIZ UDPゴシック" panose="020B0400000000000000" pitchFamily="50" charset="-128"/>
                <a:cs typeface="+mn-cs"/>
              </a:rPr>
              <a:t>ux</a:t>
            </a:r>
            <a:r>
              <a:rPr kumimoji="1" lang="en-US" altLang="ja-JP" sz="1600" b="0" i="0" u="none" strike="noStrike" kern="1200" cap="none" spc="0" normalizeH="0" baseline="0" noProof="0" dirty="0">
                <a:ln>
                  <a:noFill/>
                </a:ln>
                <a:solidFill>
                  <a:srgbClr val="000000"/>
                </a:solidFill>
                <a:effectLst/>
                <a:uLnTx/>
                <a:uFillTx/>
                <a:latin typeface="BIZ UDPゴシック" panose="020B0400000000000000" pitchFamily="50" charset="-128"/>
                <a:ea typeface="BIZ UDPゴシック" panose="020B0400000000000000" pitchFamily="50" charset="-128"/>
                <a:cs typeface="+mn-cs"/>
              </a:rPr>
              <a:t>-pro-max</a:t>
            </a:r>
            <a:r>
              <a:rPr kumimoji="1" lang="ja-JP" altLang="en-US" sz="1600" b="0" i="0" u="none" strike="noStrike" kern="1200" cap="none" spc="0" normalizeH="0" baseline="0" noProof="0" dirty="0">
                <a:ln>
                  <a:noFill/>
                </a:ln>
                <a:solidFill>
                  <a:srgbClr val="000000"/>
                </a:solidFill>
                <a:effectLst/>
                <a:uLnTx/>
                <a:uFillTx/>
                <a:latin typeface="BIZ UDPゴシック" panose="020B0400000000000000" pitchFamily="50" charset="-128"/>
                <a:ea typeface="BIZ UDPゴシック" panose="020B0400000000000000" pitchFamily="50" charset="-128"/>
                <a:cs typeface="+mn-cs"/>
              </a:rPr>
              <a:t>を除き、すべて</a:t>
            </a:r>
            <a:r>
              <a:rPr kumimoji="1" lang="en-US" altLang="ja-JP" sz="1600" b="0" i="0" u="none" strike="noStrike" kern="1200" cap="none" spc="0" normalizeH="0" baseline="0" noProof="0" dirty="0">
                <a:ln>
                  <a:noFill/>
                </a:ln>
                <a:solidFill>
                  <a:srgbClr val="000000"/>
                </a:solidFill>
                <a:effectLst/>
                <a:uLnTx/>
                <a:uFillTx/>
                <a:latin typeface="BIZ UDPゴシック" panose="020B0400000000000000" pitchFamily="50" charset="-128"/>
                <a:ea typeface="BIZ UDPゴシック" panose="020B0400000000000000" pitchFamily="50" charset="-128"/>
                <a:cs typeface="+mn-cs"/>
              </a:rPr>
              <a:t>Matt Pocock</a:t>
            </a:r>
            <a:r>
              <a:rPr kumimoji="1" lang="ja-JP" altLang="en-US" sz="1600" b="0" i="0" u="none" strike="noStrike" kern="1200" cap="none" spc="0" normalizeH="0" baseline="0" noProof="0" dirty="0">
                <a:ln>
                  <a:noFill/>
                </a:ln>
                <a:solidFill>
                  <a:srgbClr val="000000"/>
                </a:solidFill>
                <a:effectLst/>
                <a:uLnTx/>
                <a:uFillTx/>
                <a:latin typeface="BIZ UDPゴシック" panose="020B0400000000000000" pitchFamily="50" charset="-128"/>
                <a:ea typeface="BIZ UDPゴシック" panose="020B0400000000000000" pitchFamily="50" charset="-128"/>
                <a:cs typeface="+mn-cs"/>
              </a:rPr>
              <a:t>氏が公開</a:t>
            </a:r>
          </a:p>
        </p:txBody>
      </p:sp>
      <p:sp>
        <p:nvSpPr>
          <p:cNvPr id="26" name="テキスト ボックス 25">
            <a:extLst>
              <a:ext uri="{FF2B5EF4-FFF2-40B4-BE49-F238E27FC236}">
                <a16:creationId xmlns:a16="http://schemas.microsoft.com/office/drawing/2014/main" id="{717F5362-7983-7237-C141-66E97690B2E7}"/>
              </a:ext>
            </a:extLst>
          </p:cNvPr>
          <p:cNvSpPr txBox="1"/>
          <p:nvPr/>
        </p:nvSpPr>
        <p:spPr>
          <a:xfrm>
            <a:off x="6197600" y="3634504"/>
            <a:ext cx="5143500" cy="254000"/>
          </a:xfrm>
          <a:prstGeom prst="rect">
            <a:avLst/>
          </a:prstGeom>
          <a:noFill/>
        </p:spPr>
        <p:txBody>
          <a:bodyPr vert="horz" wrap="square" lIns="0" tIns="0" rIns="0" bIns="0" rtlCol="0">
            <a:noAutofit/>
          </a:bodyPr>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555555"/>
                </a:solidFill>
                <a:effectLst/>
                <a:uLnTx/>
                <a:uFillTx/>
                <a:latin typeface="BIZ UDPゴシック" panose="020B0400000000000000" pitchFamily="50" charset="-128"/>
                <a:ea typeface="BIZ UDPゴシック" panose="020B0400000000000000" pitchFamily="50" charset="-128"/>
                <a:cs typeface="+mn-cs"/>
              </a:rPr>
              <a:t>github.com/mattpocock/skills</a:t>
            </a:r>
            <a:endParaRPr kumimoji="1" lang="ja-JP" altLang="en-US" sz="1400" b="0" i="0" u="none" strike="noStrike" kern="1200" cap="none" spc="0" normalizeH="0" baseline="0" noProof="0">
              <a:ln>
                <a:noFill/>
              </a:ln>
              <a:solidFill>
                <a:srgbClr val="555555"/>
              </a:solidFill>
              <a:effectLst/>
              <a:uLnTx/>
              <a:uFillTx/>
              <a:latin typeface="BIZ UDPゴシック" panose="020B0400000000000000" pitchFamily="50" charset="-128"/>
              <a:ea typeface="BIZ UDPゴシック" panose="020B0400000000000000" pitchFamily="50" charset="-128"/>
              <a:cs typeface="+mn-cs"/>
            </a:endParaRPr>
          </a:p>
        </p:txBody>
      </p:sp>
      <p:pic>
        <p:nvPicPr>
          <p:cNvPr id="28" name="グラフィックス 27">
            <a:hlinkClick r:id="rId7"/>
            <a:extLst>
              <a:ext uri="{FF2B5EF4-FFF2-40B4-BE49-F238E27FC236}">
                <a16:creationId xmlns:a16="http://schemas.microsoft.com/office/drawing/2014/main" id="{1791A892-B004-1634-45E8-53F246FF5E9F}"/>
              </a:ext>
            </a:extLst>
          </p:cNvPr>
          <p:cNvPicPr>
            <a:picLocks/>
          </p:cNvPicPr>
          <p:nvPr/>
        </p:nvPicPr>
        <p:blipFill>
          <a:blip>
            <a:extLst>
              <a:ext uri="{96DAC541-7B7A-43D3-8B79-37D633B846F1}">
                <asvg:svgBlip xmlns:asvg="http://schemas.microsoft.com/office/drawing/2016/SVG/main" r:embed="rId8"/>
              </a:ext>
            </a:extLst>
          </a:blip>
          <a:stretch>
            <a:fillRect/>
          </a:stretch>
        </p:blipFill>
        <p:spPr>
          <a:xfrm>
            <a:off x="11315700" y="3659904"/>
            <a:ext cx="203200" cy="203200"/>
          </a:xfrm>
          <a:prstGeom prst="rect">
            <a:avLst/>
          </a:prstGeom>
        </p:spPr>
      </p:pic>
      <p:sp>
        <p:nvSpPr>
          <p:cNvPr id="29" name="四角形: 角を丸くする 28">
            <a:extLst>
              <a:ext uri="{FF2B5EF4-FFF2-40B4-BE49-F238E27FC236}">
                <a16:creationId xmlns:a16="http://schemas.microsoft.com/office/drawing/2014/main" id="{FA07A5E2-BDD2-6FDF-922C-D5EEF6A009DC}"/>
              </a:ext>
            </a:extLst>
          </p:cNvPr>
          <p:cNvSpPr/>
          <p:nvPr/>
        </p:nvSpPr>
        <p:spPr>
          <a:xfrm>
            <a:off x="5969000" y="4193304"/>
            <a:ext cx="5689600" cy="1447800"/>
          </a:xfrm>
          <a:prstGeom prst="roundRect">
            <a:avLst>
              <a:gd name="adj" fmla="val 8000"/>
            </a:avLst>
          </a:prstGeom>
          <a:solidFill>
            <a:srgbClr val="F5F5F5"/>
          </a:solidFill>
          <a:ln w="12700">
            <a:solidFill>
              <a:srgbClr val="D5DAE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110004020202020204"/>
              <a:ea typeface="游ゴシック" panose="020B0400000000000000" pitchFamily="50" charset="-128"/>
              <a:cs typeface="+mn-cs"/>
            </a:endParaRPr>
          </a:p>
        </p:txBody>
      </p:sp>
      <p:pic>
        <p:nvPicPr>
          <p:cNvPr id="31" name="グラフィックス 30">
            <a:extLst>
              <a:ext uri="{FF2B5EF4-FFF2-40B4-BE49-F238E27FC236}">
                <a16:creationId xmlns:a16="http://schemas.microsoft.com/office/drawing/2014/main" id="{7A547205-7776-F68E-088A-A5A6F6A2D4FA}"/>
              </a:ext>
            </a:extLst>
          </p:cNvPr>
          <p:cNvPicPr>
            <a:picLocks/>
          </p:cNvPicPr>
          <p:nvPr/>
        </p:nvPicPr>
        <p:blipFill>
          <a:blip>
            <a:extLst>
              <a:ext uri="{96DAC541-7B7A-43D3-8B79-37D633B846F1}">
                <asvg:svgBlip xmlns:asvg="http://schemas.microsoft.com/office/drawing/2016/SVG/main" r:embed="rId9"/>
              </a:ext>
            </a:extLst>
          </a:blip>
          <a:stretch>
            <a:fillRect/>
          </a:stretch>
        </p:blipFill>
        <p:spPr>
          <a:xfrm>
            <a:off x="6197600" y="4351480"/>
            <a:ext cx="330200" cy="330200"/>
          </a:xfrm>
          <a:prstGeom prst="rect">
            <a:avLst/>
          </a:prstGeom>
        </p:spPr>
      </p:pic>
      <p:sp>
        <p:nvSpPr>
          <p:cNvPr id="32" name="テキスト ボックス 31">
            <a:extLst>
              <a:ext uri="{FF2B5EF4-FFF2-40B4-BE49-F238E27FC236}">
                <a16:creationId xmlns:a16="http://schemas.microsoft.com/office/drawing/2014/main" id="{167EDECF-2018-7087-5A3C-7C4F1E46C70A}"/>
              </a:ext>
            </a:extLst>
          </p:cNvPr>
          <p:cNvSpPr txBox="1"/>
          <p:nvPr/>
        </p:nvSpPr>
        <p:spPr>
          <a:xfrm>
            <a:off x="6680200" y="4358404"/>
            <a:ext cx="3022600" cy="355600"/>
          </a:xfrm>
          <a:prstGeom prst="rect">
            <a:avLst/>
          </a:prstGeom>
          <a:noFill/>
        </p:spPr>
        <p:txBody>
          <a:bodyPr vert="horz" wrap="square" lIns="0" tIns="0" rIns="0" bIns="0" rtlCol="0">
            <a:noAutofit/>
          </a:bodyPr>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1" lang="en-US" altLang="ja-JP" sz="2000" b="1" i="0" u="none" strike="noStrike" kern="1200" cap="none" spc="0" normalizeH="0" baseline="0" noProof="0">
                <a:ln>
                  <a:noFill/>
                </a:ln>
                <a:solidFill>
                  <a:srgbClr val="000000"/>
                </a:solidFill>
                <a:effectLst/>
                <a:uLnTx/>
                <a:uFillTx/>
                <a:latin typeface="BIZ UDPゴシック" panose="020B0400000000000000" pitchFamily="50" charset="-128"/>
                <a:ea typeface="BIZ UDPゴシック" panose="020B0400000000000000" pitchFamily="50" charset="-128"/>
                <a:cs typeface="+mn-cs"/>
              </a:rPr>
              <a:t>ui-ux-pro-max</a:t>
            </a:r>
            <a:endParaRPr kumimoji="1" lang="ja-JP" altLang="en-US" sz="2000" b="1" i="0" u="none" strike="noStrike" kern="1200" cap="none" spc="0" normalizeH="0" baseline="0" noProof="0">
              <a:ln>
                <a:noFill/>
              </a:ln>
              <a:solidFill>
                <a:srgbClr val="000000"/>
              </a:solidFill>
              <a:effectLst/>
              <a:uLnTx/>
              <a:uFillTx/>
              <a:latin typeface="BIZ UDPゴシック" panose="020B0400000000000000" pitchFamily="50" charset="-128"/>
              <a:ea typeface="BIZ UDPゴシック" panose="020B0400000000000000" pitchFamily="50" charset="-128"/>
              <a:cs typeface="+mn-cs"/>
            </a:endParaRPr>
          </a:p>
        </p:txBody>
      </p:sp>
      <p:sp>
        <p:nvSpPr>
          <p:cNvPr id="35" name="テキスト ボックス 34">
            <a:extLst>
              <a:ext uri="{FF2B5EF4-FFF2-40B4-BE49-F238E27FC236}">
                <a16:creationId xmlns:a16="http://schemas.microsoft.com/office/drawing/2014/main" id="{37B3B7B4-9C89-E228-86AA-11C4CA734B77}"/>
              </a:ext>
            </a:extLst>
          </p:cNvPr>
          <p:cNvSpPr txBox="1"/>
          <p:nvPr/>
        </p:nvSpPr>
        <p:spPr>
          <a:xfrm>
            <a:off x="6197600" y="4841004"/>
            <a:ext cx="5143500" cy="304800"/>
          </a:xfrm>
          <a:prstGeom prst="rect">
            <a:avLst/>
          </a:prstGeom>
          <a:noFill/>
        </p:spPr>
        <p:txBody>
          <a:bodyPr vert="horz" wrap="square" lIns="0" tIns="0" rIns="0" bIns="0" rtlCol="0">
            <a:noAutofit/>
          </a:bodyPr>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1" lang="ja-JP" altLang="en-US" sz="1600" b="0" i="0" u="none" strike="noStrike" kern="1200" cap="none" spc="0" normalizeH="0" baseline="0" noProof="0" dirty="0">
                <a:ln>
                  <a:noFill/>
                </a:ln>
                <a:solidFill>
                  <a:srgbClr val="000000"/>
                </a:solidFill>
                <a:effectLst/>
                <a:uLnTx/>
                <a:uFillTx/>
                <a:latin typeface="BIZ UDPゴシック" panose="020B0400000000000000" pitchFamily="50" charset="-128"/>
                <a:ea typeface="BIZ UDPゴシック" panose="020B0400000000000000" pitchFamily="50" charset="-128"/>
                <a:cs typeface="+mn-cs"/>
              </a:rPr>
              <a:t>フロントエンドの実装に活用</a:t>
            </a:r>
          </a:p>
        </p:txBody>
      </p:sp>
      <p:sp>
        <p:nvSpPr>
          <p:cNvPr id="36" name="テキスト ボックス 35">
            <a:extLst>
              <a:ext uri="{FF2B5EF4-FFF2-40B4-BE49-F238E27FC236}">
                <a16:creationId xmlns:a16="http://schemas.microsoft.com/office/drawing/2014/main" id="{E4BB8521-C522-6591-76D2-21B2F89BE024}"/>
              </a:ext>
            </a:extLst>
          </p:cNvPr>
          <p:cNvSpPr txBox="1"/>
          <p:nvPr/>
        </p:nvSpPr>
        <p:spPr>
          <a:xfrm>
            <a:off x="6197600" y="5234704"/>
            <a:ext cx="5143500" cy="254000"/>
          </a:xfrm>
          <a:prstGeom prst="rect">
            <a:avLst/>
          </a:prstGeom>
          <a:noFill/>
        </p:spPr>
        <p:txBody>
          <a:bodyPr vert="horz" wrap="square" lIns="0" tIns="0" rIns="0" bIns="0" rtlCol="0">
            <a:noAutofit/>
          </a:bodyPr>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rgbClr val="555555"/>
                </a:solidFill>
                <a:effectLst/>
                <a:uLnTx/>
                <a:uFillTx/>
                <a:latin typeface="BIZ UDPゴシック" panose="020B0400000000000000" pitchFamily="50" charset="-128"/>
                <a:ea typeface="BIZ UDPゴシック" panose="020B0400000000000000" pitchFamily="50" charset="-128"/>
                <a:cs typeface="+mn-cs"/>
              </a:rPr>
              <a:t>github.com/</a:t>
            </a:r>
            <a:r>
              <a:rPr kumimoji="1" lang="en-US" altLang="ja-JP" sz="1400" b="0" i="0" u="none" strike="noStrike" kern="1200" cap="none" spc="0" normalizeH="0" baseline="0" noProof="0" dirty="0" err="1">
                <a:ln>
                  <a:noFill/>
                </a:ln>
                <a:solidFill>
                  <a:srgbClr val="555555"/>
                </a:solidFill>
                <a:effectLst/>
                <a:uLnTx/>
                <a:uFillTx/>
                <a:latin typeface="BIZ UDPゴシック" panose="020B0400000000000000" pitchFamily="50" charset="-128"/>
                <a:ea typeface="BIZ UDPゴシック" panose="020B0400000000000000" pitchFamily="50" charset="-128"/>
                <a:cs typeface="+mn-cs"/>
              </a:rPr>
              <a:t>nextlevelbuilder</a:t>
            </a:r>
            <a:r>
              <a:rPr kumimoji="1" lang="en-US" altLang="ja-JP" sz="1400" b="0" i="0" u="none" strike="noStrike" kern="1200" cap="none" spc="0" normalizeH="0" baseline="0" noProof="0" dirty="0">
                <a:ln>
                  <a:noFill/>
                </a:ln>
                <a:solidFill>
                  <a:srgbClr val="555555"/>
                </a:solidFill>
                <a:effectLst/>
                <a:uLnTx/>
                <a:uFillTx/>
                <a:latin typeface="BIZ UDPゴシック" panose="020B0400000000000000" pitchFamily="50" charset="-128"/>
                <a:ea typeface="BIZ UDPゴシック" panose="020B0400000000000000" pitchFamily="50" charset="-128"/>
                <a:cs typeface="+mn-cs"/>
              </a:rPr>
              <a:t>/</a:t>
            </a:r>
            <a:r>
              <a:rPr kumimoji="1" lang="en-US" altLang="ja-JP" sz="1400" b="0" i="0" u="none" strike="noStrike" kern="1200" cap="none" spc="0" normalizeH="0" baseline="0" noProof="0" dirty="0" err="1">
                <a:ln>
                  <a:noFill/>
                </a:ln>
                <a:solidFill>
                  <a:srgbClr val="555555"/>
                </a:solidFill>
                <a:effectLst/>
                <a:uLnTx/>
                <a:uFillTx/>
                <a:latin typeface="BIZ UDPゴシック" panose="020B0400000000000000" pitchFamily="50" charset="-128"/>
                <a:ea typeface="BIZ UDPゴシック" panose="020B0400000000000000" pitchFamily="50" charset="-128"/>
                <a:cs typeface="+mn-cs"/>
              </a:rPr>
              <a:t>ui</a:t>
            </a:r>
            <a:r>
              <a:rPr kumimoji="1" lang="en-US" altLang="ja-JP" sz="1400" b="0" i="0" u="none" strike="noStrike" kern="1200" cap="none" spc="0" normalizeH="0" baseline="0" noProof="0" dirty="0">
                <a:ln>
                  <a:noFill/>
                </a:ln>
                <a:solidFill>
                  <a:srgbClr val="555555"/>
                </a:solidFill>
                <a:effectLst/>
                <a:uLnTx/>
                <a:uFillTx/>
                <a:latin typeface="BIZ UDPゴシック" panose="020B0400000000000000" pitchFamily="50" charset="-128"/>
                <a:ea typeface="BIZ UDPゴシック" panose="020B0400000000000000" pitchFamily="50" charset="-128"/>
                <a:cs typeface="+mn-cs"/>
              </a:rPr>
              <a:t>-</a:t>
            </a:r>
            <a:r>
              <a:rPr kumimoji="1" lang="en-US" altLang="ja-JP" sz="1400" b="0" i="0" u="none" strike="noStrike" kern="1200" cap="none" spc="0" normalizeH="0" baseline="0" noProof="0" dirty="0" err="1">
                <a:ln>
                  <a:noFill/>
                </a:ln>
                <a:solidFill>
                  <a:srgbClr val="555555"/>
                </a:solidFill>
                <a:effectLst/>
                <a:uLnTx/>
                <a:uFillTx/>
                <a:latin typeface="BIZ UDPゴシック" panose="020B0400000000000000" pitchFamily="50" charset="-128"/>
                <a:ea typeface="BIZ UDPゴシック" panose="020B0400000000000000" pitchFamily="50" charset="-128"/>
                <a:cs typeface="+mn-cs"/>
              </a:rPr>
              <a:t>ux</a:t>
            </a:r>
            <a:r>
              <a:rPr kumimoji="1" lang="en-US" altLang="ja-JP" sz="1400" b="0" i="0" u="none" strike="noStrike" kern="1200" cap="none" spc="0" normalizeH="0" baseline="0" noProof="0" dirty="0">
                <a:ln>
                  <a:noFill/>
                </a:ln>
                <a:solidFill>
                  <a:srgbClr val="555555"/>
                </a:solidFill>
                <a:effectLst/>
                <a:uLnTx/>
                <a:uFillTx/>
                <a:latin typeface="BIZ UDPゴシック" panose="020B0400000000000000" pitchFamily="50" charset="-128"/>
                <a:ea typeface="BIZ UDPゴシック" panose="020B0400000000000000" pitchFamily="50" charset="-128"/>
                <a:cs typeface="+mn-cs"/>
              </a:rPr>
              <a:t>-pro-max-skill</a:t>
            </a:r>
            <a:endParaRPr kumimoji="1" lang="ja-JP" altLang="en-US" sz="1400" b="0" i="0" u="none" strike="noStrike" kern="1200" cap="none" spc="0" normalizeH="0" baseline="0" noProof="0" dirty="0">
              <a:ln>
                <a:noFill/>
              </a:ln>
              <a:solidFill>
                <a:srgbClr val="555555"/>
              </a:solidFill>
              <a:effectLst/>
              <a:uLnTx/>
              <a:uFillTx/>
              <a:latin typeface="BIZ UDPゴシック" panose="020B0400000000000000" pitchFamily="50" charset="-128"/>
              <a:ea typeface="BIZ UDPゴシック" panose="020B0400000000000000" pitchFamily="50" charset="-128"/>
              <a:cs typeface="+mn-cs"/>
            </a:endParaRPr>
          </a:p>
        </p:txBody>
      </p:sp>
      <p:pic>
        <p:nvPicPr>
          <p:cNvPr id="38" name="グラフィックス 37">
            <a:hlinkClick r:id="rId10"/>
            <a:extLst>
              <a:ext uri="{FF2B5EF4-FFF2-40B4-BE49-F238E27FC236}">
                <a16:creationId xmlns:a16="http://schemas.microsoft.com/office/drawing/2014/main" id="{3E28CDA3-CD28-E1E5-B951-C5C099704127}"/>
              </a:ext>
            </a:extLst>
          </p:cNvPr>
          <p:cNvPicPr>
            <a:picLocks/>
          </p:cNvPicPr>
          <p:nvPr/>
        </p:nvPicPr>
        <p:blipFill>
          <a:blip>
            <a:extLst>
              <a:ext uri="{96DAC541-7B7A-43D3-8B79-37D633B846F1}">
                <asvg:svgBlip xmlns:asvg="http://schemas.microsoft.com/office/drawing/2016/SVG/main" r:embed="rId8"/>
              </a:ext>
            </a:extLst>
          </a:blip>
          <a:stretch>
            <a:fillRect/>
          </a:stretch>
        </p:blipFill>
        <p:spPr>
          <a:xfrm>
            <a:off x="11315700" y="5260104"/>
            <a:ext cx="203200" cy="203200"/>
          </a:xfrm>
          <a:prstGeom prst="rect">
            <a:avLst/>
          </a:prstGeom>
        </p:spPr>
      </p:pic>
      <p:pic>
        <p:nvPicPr>
          <p:cNvPr id="40" name="グラフィックス 39">
            <a:extLst>
              <a:ext uri="{FF2B5EF4-FFF2-40B4-BE49-F238E27FC236}">
                <a16:creationId xmlns:a16="http://schemas.microsoft.com/office/drawing/2014/main" id="{E3488510-3F9B-193C-EEE1-B2502EAA250D}"/>
              </a:ext>
            </a:extLst>
          </p:cNvPr>
          <p:cNvPicPr>
            <a:picLocks/>
          </p:cNvPicPr>
          <p:nvPr/>
        </p:nvPicPr>
        <p:blipFill>
          <a:blip>
            <a:extLst>
              <a:ext uri="{96DAC541-7B7A-43D3-8B79-37D633B846F1}">
                <asvg:svgBlip xmlns:asvg="http://schemas.microsoft.com/office/drawing/2016/SVG/main" r:embed="rId11"/>
              </a:ext>
            </a:extLst>
          </a:blip>
          <a:stretch>
            <a:fillRect/>
          </a:stretch>
        </p:blipFill>
        <p:spPr>
          <a:xfrm>
            <a:off x="5994400" y="5857004"/>
            <a:ext cx="279400" cy="279400"/>
          </a:xfrm>
          <a:prstGeom prst="rect">
            <a:avLst/>
          </a:prstGeom>
        </p:spPr>
      </p:pic>
      <p:sp>
        <p:nvSpPr>
          <p:cNvPr id="41" name="テキスト ボックス 40">
            <a:extLst>
              <a:ext uri="{FF2B5EF4-FFF2-40B4-BE49-F238E27FC236}">
                <a16:creationId xmlns:a16="http://schemas.microsoft.com/office/drawing/2014/main" id="{43FA5EC8-441A-FDBD-79CD-19171567086B}"/>
              </a:ext>
            </a:extLst>
          </p:cNvPr>
          <p:cNvSpPr txBox="1"/>
          <p:nvPr/>
        </p:nvSpPr>
        <p:spPr>
          <a:xfrm>
            <a:off x="6400800" y="5806204"/>
            <a:ext cx="5168900" cy="482600"/>
          </a:xfrm>
          <a:prstGeom prst="rect">
            <a:avLst/>
          </a:prstGeom>
          <a:noFill/>
        </p:spPr>
        <p:txBody>
          <a:bodyPr vert="horz" wrap="square" lIns="0" tIns="0" rIns="0" bIns="0" rtlCol="0">
            <a:noAutofit/>
          </a:bodyPr>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555555"/>
                </a:solidFill>
                <a:effectLst/>
                <a:uLnTx/>
                <a:uFillTx/>
                <a:latin typeface="BIZ UDPゴシック" panose="020B0400000000000000" pitchFamily="50" charset="-128"/>
                <a:ea typeface="BIZ UDPゴシック" panose="020B0400000000000000" pitchFamily="50" charset="-128"/>
                <a:cs typeface="+mn-cs"/>
              </a:rPr>
              <a:t>導入・セットアップ方法は、</a:t>
            </a:r>
          </a:p>
          <a:p>
            <a:pPr marL="0" marR="0" lvl="0" indent="0" algn="l" defTabSz="914400" rtl="0" eaLnBrk="1" fontAlgn="auto" latinLnBrk="0" hangingPunct="1">
              <a:lnSpc>
                <a:spcPct val="105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555555"/>
                </a:solidFill>
                <a:effectLst/>
                <a:uLnTx/>
                <a:uFillTx/>
                <a:latin typeface="BIZ UDPゴシック" panose="020B0400000000000000" pitchFamily="50" charset="-128"/>
                <a:ea typeface="BIZ UDPゴシック" panose="020B0400000000000000" pitchFamily="50" charset="-128"/>
                <a:cs typeface="+mn-cs"/>
              </a:rPr>
              <a:t>それぞれの</a:t>
            </a:r>
            <a:r>
              <a:rPr kumimoji="1" lang="en-US" altLang="ja-JP" sz="1400" b="0" i="0" u="none" strike="noStrike" kern="1200" cap="none" spc="0" normalizeH="0" baseline="0" noProof="0">
                <a:ln>
                  <a:noFill/>
                </a:ln>
                <a:solidFill>
                  <a:srgbClr val="555555"/>
                </a:solidFill>
                <a:effectLst/>
                <a:uLnTx/>
                <a:uFillTx/>
                <a:latin typeface="BIZ UDPゴシック" panose="020B0400000000000000" pitchFamily="50" charset="-128"/>
                <a:ea typeface="BIZ UDPゴシック" panose="020B0400000000000000" pitchFamily="50" charset="-128"/>
                <a:cs typeface="+mn-cs"/>
              </a:rPr>
              <a:t>README</a:t>
            </a:r>
            <a:r>
              <a:rPr kumimoji="1" lang="ja-JP" altLang="en-US" sz="1400" b="0" i="0" u="none" strike="noStrike" kern="1200" cap="none" spc="0" normalizeH="0" baseline="0" noProof="0">
                <a:ln>
                  <a:noFill/>
                </a:ln>
                <a:solidFill>
                  <a:srgbClr val="555555"/>
                </a:solidFill>
                <a:effectLst/>
                <a:uLnTx/>
                <a:uFillTx/>
                <a:latin typeface="BIZ UDPゴシック" panose="020B0400000000000000" pitchFamily="50" charset="-128"/>
                <a:ea typeface="BIZ UDPゴシック" panose="020B0400000000000000" pitchFamily="50" charset="-128"/>
                <a:cs typeface="+mn-cs"/>
              </a:rPr>
              <a:t>を参照してください</a:t>
            </a:r>
          </a:p>
        </p:txBody>
      </p:sp>
      <p:pic>
        <p:nvPicPr>
          <p:cNvPr id="3" name="グラフィックス 2">
            <a:hlinkClick r:id="rId12"/>
            <a:extLst>
              <a:ext uri="{FF2B5EF4-FFF2-40B4-BE49-F238E27FC236}">
                <a16:creationId xmlns:a16="http://schemas.microsoft.com/office/drawing/2014/main" id="{4B3C99B4-145C-B79B-22B4-7150BEE26CFE}"/>
              </a:ext>
            </a:extLst>
          </p:cNvPr>
          <p:cNvPicPr>
            <a:picLocks/>
          </p:cNvPicPr>
          <p:nvPr/>
        </p:nvPicPr>
        <p:blipFill>
          <a:blip>
            <a:extLst>
              <a:ext uri="{96DAC541-7B7A-43D3-8B79-37D633B846F1}">
                <asvg:svgBlip xmlns:asvg="http://schemas.microsoft.com/office/drawing/2016/SVG/main" r:embed="rId8"/>
              </a:ext>
            </a:extLst>
          </a:blip>
          <a:stretch>
            <a:fillRect/>
          </a:stretch>
        </p:blipFill>
        <p:spPr>
          <a:xfrm>
            <a:off x="4349750" y="6253879"/>
            <a:ext cx="203200" cy="203200"/>
          </a:xfrm>
          <a:prstGeom prst="rect">
            <a:avLst/>
          </a:prstGeom>
        </p:spPr>
      </p:pic>
    </p:spTree>
    <p:extLst>
      <p:ext uri="{BB962C8B-B14F-4D97-AF65-F5344CB8AC3E}">
        <p14:creationId xmlns:p14="http://schemas.microsoft.com/office/powerpoint/2010/main" val="16611522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FA02A-693C-A57B-8A89-A5CF952CA6CE}"/>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829C30EB-E644-1DA8-A915-630350326EBF}"/>
              </a:ext>
            </a:extLst>
          </p:cNvPr>
          <p:cNvSpPr txBox="1"/>
          <p:nvPr/>
        </p:nvSpPr>
        <p:spPr>
          <a:xfrm>
            <a:off x="685800" y="444500"/>
            <a:ext cx="10795000" cy="615553"/>
          </a:xfrm>
          <a:prstGeom prst="rect">
            <a:avLst/>
          </a:prstGeom>
          <a:noFill/>
        </p:spPr>
        <p:txBody>
          <a:bodyPr vert="horz" rtlCol="0">
            <a:spAutoFit/>
          </a:bodyPr>
          <a:lstStyle/>
          <a:p>
            <a:r>
              <a:rPr kumimoji="1" lang="ja-JP" altLang="en-US" sz="3400" b="1">
                <a:latin typeface="BIZ UDPゴシック" panose="020B0400000000000000" pitchFamily="50" charset="-128"/>
                <a:ea typeface="BIZ UDPゴシック" panose="020B0400000000000000" pitchFamily="50" charset="-128"/>
              </a:rPr>
              <a:t>こんな経験、ありませんか？</a:t>
            </a:r>
          </a:p>
        </p:txBody>
      </p:sp>
      <p:sp>
        <p:nvSpPr>
          <p:cNvPr id="3" name="テキスト ボックス 2">
            <a:extLst>
              <a:ext uri="{FF2B5EF4-FFF2-40B4-BE49-F238E27FC236}">
                <a16:creationId xmlns:a16="http://schemas.microsoft.com/office/drawing/2014/main" id="{ACBA5EAD-7592-631D-3CD4-40B4113D5A4C}"/>
              </a:ext>
            </a:extLst>
          </p:cNvPr>
          <p:cNvSpPr txBox="1"/>
          <p:nvPr/>
        </p:nvSpPr>
        <p:spPr>
          <a:xfrm>
            <a:off x="736600" y="1066800"/>
            <a:ext cx="10668000" cy="400110"/>
          </a:xfrm>
          <a:prstGeom prst="rect">
            <a:avLst/>
          </a:prstGeom>
          <a:noFill/>
        </p:spPr>
        <p:txBody>
          <a:bodyPr vert="horz" rtlCol="0">
            <a:spAutoFit/>
          </a:bodyPr>
          <a:lstStyle/>
          <a:p>
            <a:r>
              <a:rPr kumimoji="1" lang="ja-JP" altLang="en-US" sz="2000" dirty="0">
                <a:solidFill>
                  <a:srgbClr val="555555"/>
                </a:solidFill>
                <a:latin typeface="BIZ UDPゴシック" panose="020B0400000000000000" pitchFamily="50" charset="-128"/>
                <a:ea typeface="BIZ UDPゴシック" panose="020B0400000000000000" pitchFamily="50" charset="-128"/>
              </a:rPr>
              <a:t>コーディングエージェントでつまずきやすい</a:t>
            </a:r>
            <a:r>
              <a:rPr kumimoji="1" lang="en-US" altLang="ja-JP" sz="2000" dirty="0">
                <a:solidFill>
                  <a:srgbClr val="555555"/>
                </a:solidFill>
                <a:latin typeface="BIZ UDPゴシック" panose="020B0400000000000000" pitchFamily="50" charset="-128"/>
                <a:ea typeface="BIZ UDPゴシック" panose="020B0400000000000000" pitchFamily="50" charset="-128"/>
              </a:rPr>
              <a:t>2</a:t>
            </a:r>
            <a:r>
              <a:rPr kumimoji="1" lang="ja-JP" altLang="en-US" sz="2000" dirty="0">
                <a:solidFill>
                  <a:srgbClr val="555555"/>
                </a:solidFill>
                <a:latin typeface="BIZ UDPゴシック" panose="020B0400000000000000" pitchFamily="50" charset="-128"/>
                <a:ea typeface="BIZ UDPゴシック" panose="020B0400000000000000" pitchFamily="50" charset="-128"/>
              </a:rPr>
              <a:t>つの壁</a:t>
            </a:r>
          </a:p>
        </p:txBody>
      </p:sp>
      <p:sp>
        <p:nvSpPr>
          <p:cNvPr id="4" name="正方形/長方形 3">
            <a:extLst>
              <a:ext uri="{FF2B5EF4-FFF2-40B4-BE49-F238E27FC236}">
                <a16:creationId xmlns:a16="http://schemas.microsoft.com/office/drawing/2014/main" id="{9C5A0F54-4196-1B7A-8B95-02E37D9BEA54}"/>
              </a:ext>
            </a:extLst>
          </p:cNvPr>
          <p:cNvSpPr/>
          <p:nvPr/>
        </p:nvSpPr>
        <p:spPr>
          <a:xfrm>
            <a:off x="685800" y="1676400"/>
            <a:ext cx="5181600" cy="3937000"/>
          </a:xfrm>
          <a:prstGeom prst="rect">
            <a:avLst/>
          </a:prstGeom>
          <a:solidFill>
            <a:srgbClr val="EDF2F9"/>
          </a:solidFill>
          <a:ln>
            <a:solidFill>
              <a:srgbClr val="6485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正方形/長方形 4">
            <a:extLst>
              <a:ext uri="{FF2B5EF4-FFF2-40B4-BE49-F238E27FC236}">
                <a16:creationId xmlns:a16="http://schemas.microsoft.com/office/drawing/2014/main" id="{8272F6F6-F099-569E-869F-6C6ED2018843}"/>
              </a:ext>
            </a:extLst>
          </p:cNvPr>
          <p:cNvSpPr/>
          <p:nvPr/>
        </p:nvSpPr>
        <p:spPr>
          <a:xfrm>
            <a:off x="6324600" y="1676400"/>
            <a:ext cx="5181600" cy="3937000"/>
          </a:xfrm>
          <a:prstGeom prst="rect">
            <a:avLst/>
          </a:prstGeom>
          <a:solidFill>
            <a:srgbClr val="F5F5F5"/>
          </a:solidFill>
          <a:ln>
            <a:solidFill>
              <a:srgbClr val="6485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9" name="図 8">
            <a:extLst>
              <a:ext uri="{FF2B5EF4-FFF2-40B4-BE49-F238E27FC236}">
                <a16:creationId xmlns:a16="http://schemas.microsoft.com/office/drawing/2014/main" id="{8F8958BF-7468-F00B-D5BF-C412F58666D0}"/>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4330700" y="3749445"/>
            <a:ext cx="1692564" cy="1968500"/>
          </a:xfrm>
          <a:prstGeom prst="rect">
            <a:avLst/>
          </a:prstGeom>
        </p:spPr>
      </p:pic>
      <p:sp>
        <p:nvSpPr>
          <p:cNvPr id="10" name="テキスト ボックス 9">
            <a:extLst>
              <a:ext uri="{FF2B5EF4-FFF2-40B4-BE49-F238E27FC236}">
                <a16:creationId xmlns:a16="http://schemas.microsoft.com/office/drawing/2014/main" id="{FB9322D6-7DC5-6CBA-712D-ECDF3D3676C3}"/>
              </a:ext>
            </a:extLst>
          </p:cNvPr>
          <p:cNvSpPr txBox="1"/>
          <p:nvPr/>
        </p:nvSpPr>
        <p:spPr>
          <a:xfrm>
            <a:off x="990599" y="2329562"/>
            <a:ext cx="4317999" cy="523220"/>
          </a:xfrm>
          <a:prstGeom prst="rect">
            <a:avLst/>
          </a:prstGeom>
          <a:noFill/>
        </p:spPr>
        <p:txBody>
          <a:bodyPr vert="horz" wrap="square" rtlCol="0">
            <a:spAutoFit/>
          </a:bodyPr>
          <a:lstStyle/>
          <a:p>
            <a:r>
              <a:rPr kumimoji="1" lang="ja-JP" altLang="en-US" sz="2800" b="1" dirty="0">
                <a:latin typeface="BIZ UDPゴシック" panose="020B0400000000000000" pitchFamily="50" charset="-128"/>
                <a:ea typeface="BIZ UDPゴシック" panose="020B0400000000000000" pitchFamily="50" charset="-128"/>
              </a:rPr>
              <a:t>頼んだものと違う</a:t>
            </a:r>
          </a:p>
        </p:txBody>
      </p:sp>
      <p:sp>
        <p:nvSpPr>
          <p:cNvPr id="11" name="テキスト ボックス 10">
            <a:extLst>
              <a:ext uri="{FF2B5EF4-FFF2-40B4-BE49-F238E27FC236}">
                <a16:creationId xmlns:a16="http://schemas.microsoft.com/office/drawing/2014/main" id="{BAB9EAC3-63E4-42DD-AB2C-46221B8CC168}"/>
              </a:ext>
            </a:extLst>
          </p:cNvPr>
          <p:cNvSpPr txBox="1"/>
          <p:nvPr/>
        </p:nvSpPr>
        <p:spPr>
          <a:xfrm>
            <a:off x="990600" y="3231420"/>
            <a:ext cx="3810000" cy="677108"/>
          </a:xfrm>
          <a:prstGeom prst="rect">
            <a:avLst/>
          </a:prstGeom>
          <a:noFill/>
        </p:spPr>
        <p:txBody>
          <a:bodyPr vert="horz" rtlCol="0">
            <a:spAutoFit/>
          </a:bodyPr>
          <a:lstStyle/>
          <a:p>
            <a:r>
              <a:rPr kumimoji="1" lang="ja-JP" altLang="en-US" sz="1900" b="1" dirty="0">
                <a:latin typeface="BIZ UDPゴシック" panose="020B0400000000000000" pitchFamily="50" charset="-128"/>
                <a:ea typeface="BIZ UDPゴシック" panose="020B0400000000000000" pitchFamily="50" charset="-128"/>
              </a:rPr>
              <a:t>動く。</a:t>
            </a:r>
            <a:endParaRPr kumimoji="1" lang="en-US" altLang="ja-JP" sz="1900" b="1" dirty="0">
              <a:latin typeface="BIZ UDPゴシック" panose="020B0400000000000000" pitchFamily="50" charset="-128"/>
              <a:ea typeface="BIZ UDPゴシック" panose="020B0400000000000000" pitchFamily="50" charset="-128"/>
            </a:endParaRPr>
          </a:p>
          <a:p>
            <a:r>
              <a:rPr kumimoji="1" lang="ja-JP" altLang="en-US" sz="1900" b="1" dirty="0">
                <a:latin typeface="BIZ UDPゴシック" panose="020B0400000000000000" pitchFamily="50" charset="-128"/>
                <a:ea typeface="BIZ UDPゴシック" panose="020B0400000000000000" pitchFamily="50" charset="-128"/>
              </a:rPr>
              <a:t>でも、欲しかったものではない</a:t>
            </a:r>
          </a:p>
        </p:txBody>
      </p:sp>
      <p:sp>
        <p:nvSpPr>
          <p:cNvPr id="12" name="テキスト ボックス 11">
            <a:extLst>
              <a:ext uri="{FF2B5EF4-FFF2-40B4-BE49-F238E27FC236}">
                <a16:creationId xmlns:a16="http://schemas.microsoft.com/office/drawing/2014/main" id="{DECD01EB-541A-752A-E8A8-58B51C876642}"/>
              </a:ext>
            </a:extLst>
          </p:cNvPr>
          <p:cNvSpPr txBox="1"/>
          <p:nvPr/>
        </p:nvSpPr>
        <p:spPr>
          <a:xfrm>
            <a:off x="990600" y="4176188"/>
            <a:ext cx="4318000" cy="584775"/>
          </a:xfrm>
          <a:prstGeom prst="rect">
            <a:avLst/>
          </a:prstGeom>
          <a:noFill/>
        </p:spPr>
        <p:txBody>
          <a:bodyPr vert="horz" rtlCol="0">
            <a:spAutoFit/>
          </a:bodyPr>
          <a:lstStyle/>
          <a:p>
            <a:r>
              <a:rPr kumimoji="1" lang="ja-JP" altLang="en-US" sz="1600" dirty="0">
                <a:solidFill>
                  <a:srgbClr val="555555"/>
                </a:solidFill>
                <a:latin typeface="BIZ UDPゴシック" panose="020B0400000000000000" pitchFamily="50" charset="-128"/>
                <a:ea typeface="BIZ UDPゴシック" panose="020B0400000000000000" pitchFamily="50" charset="-128"/>
              </a:rPr>
              <a:t>曖昧な要望を、</a:t>
            </a:r>
            <a:endParaRPr kumimoji="1" lang="en-US" altLang="ja-JP" sz="1600" dirty="0">
              <a:solidFill>
                <a:srgbClr val="555555"/>
              </a:solidFill>
              <a:latin typeface="BIZ UDPゴシック" panose="020B0400000000000000" pitchFamily="50" charset="-128"/>
              <a:ea typeface="BIZ UDPゴシック" panose="020B0400000000000000" pitchFamily="50" charset="-128"/>
            </a:endParaRPr>
          </a:p>
          <a:p>
            <a:r>
              <a:rPr kumimoji="1" lang="en-US" altLang="ja-JP" sz="1600" dirty="0">
                <a:solidFill>
                  <a:srgbClr val="555555"/>
                </a:solidFill>
                <a:latin typeface="BIZ UDPゴシック" panose="020B0400000000000000" pitchFamily="50" charset="-128"/>
                <a:ea typeface="BIZ UDPゴシック" panose="020B0400000000000000" pitchFamily="50" charset="-128"/>
              </a:rPr>
              <a:t>AI</a:t>
            </a:r>
            <a:r>
              <a:rPr kumimoji="1" lang="ja-JP" altLang="en-US" sz="1600" dirty="0">
                <a:solidFill>
                  <a:srgbClr val="555555"/>
                </a:solidFill>
                <a:latin typeface="BIZ UDPゴシック" panose="020B0400000000000000" pitchFamily="50" charset="-128"/>
                <a:ea typeface="BIZ UDPゴシック" panose="020B0400000000000000" pitchFamily="50" charset="-128"/>
              </a:rPr>
              <a:t>が別の意味で補ってしまう</a:t>
            </a:r>
          </a:p>
        </p:txBody>
      </p:sp>
      <p:pic>
        <p:nvPicPr>
          <p:cNvPr id="16" name="図 15">
            <a:extLst>
              <a:ext uri="{FF2B5EF4-FFF2-40B4-BE49-F238E27FC236}">
                <a16:creationId xmlns:a16="http://schemas.microsoft.com/office/drawing/2014/main" id="{18151717-4C28-7AD9-99CA-71FB9EAFDF2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224654" y="3749445"/>
            <a:ext cx="1497445" cy="1968500"/>
          </a:xfrm>
          <a:prstGeom prst="rect">
            <a:avLst/>
          </a:prstGeom>
        </p:spPr>
      </p:pic>
      <p:sp>
        <p:nvSpPr>
          <p:cNvPr id="17" name="テキスト ボックス 16">
            <a:extLst>
              <a:ext uri="{FF2B5EF4-FFF2-40B4-BE49-F238E27FC236}">
                <a16:creationId xmlns:a16="http://schemas.microsoft.com/office/drawing/2014/main" id="{19D49D29-3F83-D354-AA60-03607CDB5421}"/>
              </a:ext>
            </a:extLst>
          </p:cNvPr>
          <p:cNvSpPr txBox="1"/>
          <p:nvPr/>
        </p:nvSpPr>
        <p:spPr>
          <a:xfrm>
            <a:off x="6629399" y="2329562"/>
            <a:ext cx="4317999" cy="523220"/>
          </a:xfrm>
          <a:prstGeom prst="rect">
            <a:avLst/>
          </a:prstGeom>
          <a:noFill/>
        </p:spPr>
        <p:txBody>
          <a:bodyPr vert="horz" wrap="square" rtlCol="0">
            <a:spAutoFit/>
          </a:bodyPr>
          <a:lstStyle/>
          <a:p>
            <a:r>
              <a:rPr kumimoji="1" lang="ja-JP" altLang="en-US" sz="2800" b="1" dirty="0">
                <a:latin typeface="BIZ UDPゴシック" panose="020B0400000000000000" pitchFamily="50" charset="-128"/>
                <a:ea typeface="BIZ UDPゴシック" panose="020B0400000000000000" pitchFamily="50" charset="-128"/>
              </a:rPr>
              <a:t>途中から迷走する</a:t>
            </a:r>
          </a:p>
        </p:txBody>
      </p:sp>
      <p:sp>
        <p:nvSpPr>
          <p:cNvPr id="18" name="テキスト ボックス 17">
            <a:extLst>
              <a:ext uri="{FF2B5EF4-FFF2-40B4-BE49-F238E27FC236}">
                <a16:creationId xmlns:a16="http://schemas.microsoft.com/office/drawing/2014/main" id="{C2E30364-B54B-38D3-3745-509820E99EF2}"/>
              </a:ext>
            </a:extLst>
          </p:cNvPr>
          <p:cNvSpPr txBox="1"/>
          <p:nvPr/>
        </p:nvSpPr>
        <p:spPr>
          <a:xfrm>
            <a:off x="6629400" y="3231420"/>
            <a:ext cx="3810000" cy="677108"/>
          </a:xfrm>
          <a:prstGeom prst="rect">
            <a:avLst/>
          </a:prstGeom>
          <a:noFill/>
        </p:spPr>
        <p:txBody>
          <a:bodyPr vert="horz" rtlCol="0">
            <a:spAutoFit/>
          </a:bodyPr>
          <a:lstStyle/>
          <a:p>
            <a:r>
              <a:rPr kumimoji="1" lang="ja-JP" altLang="en-US" sz="1900" b="1" dirty="0">
                <a:latin typeface="BIZ UDPゴシック" panose="020B0400000000000000" pitchFamily="50" charset="-128"/>
                <a:ea typeface="BIZ UDPゴシック" panose="020B0400000000000000" pitchFamily="50" charset="-128"/>
              </a:rPr>
              <a:t>修正するほど、</a:t>
            </a:r>
            <a:endParaRPr kumimoji="1" lang="en-US" altLang="ja-JP" sz="1900" b="1" dirty="0">
              <a:latin typeface="BIZ UDPゴシック" panose="020B0400000000000000" pitchFamily="50" charset="-128"/>
              <a:ea typeface="BIZ UDPゴシック" panose="020B0400000000000000" pitchFamily="50" charset="-128"/>
            </a:endParaRPr>
          </a:p>
          <a:p>
            <a:r>
              <a:rPr kumimoji="1" lang="ja-JP" altLang="en-US" sz="1900" b="1" dirty="0">
                <a:latin typeface="BIZ UDPゴシック" panose="020B0400000000000000" pitchFamily="50" charset="-128"/>
                <a:ea typeface="BIZ UDPゴシック" panose="020B0400000000000000" pitchFamily="50" charset="-128"/>
              </a:rPr>
              <a:t>別のところが崩れる</a:t>
            </a:r>
          </a:p>
        </p:txBody>
      </p:sp>
      <p:sp>
        <p:nvSpPr>
          <p:cNvPr id="19" name="テキスト ボックス 18">
            <a:extLst>
              <a:ext uri="{FF2B5EF4-FFF2-40B4-BE49-F238E27FC236}">
                <a16:creationId xmlns:a16="http://schemas.microsoft.com/office/drawing/2014/main" id="{2A48A0A7-5D9B-EB73-51F5-00E79149AA83}"/>
              </a:ext>
            </a:extLst>
          </p:cNvPr>
          <p:cNvSpPr txBox="1"/>
          <p:nvPr/>
        </p:nvSpPr>
        <p:spPr>
          <a:xfrm>
            <a:off x="6629400" y="4176188"/>
            <a:ext cx="4318000" cy="584775"/>
          </a:xfrm>
          <a:prstGeom prst="rect">
            <a:avLst/>
          </a:prstGeom>
          <a:noFill/>
        </p:spPr>
        <p:txBody>
          <a:bodyPr vert="horz" rtlCol="0">
            <a:spAutoFit/>
          </a:bodyPr>
          <a:lstStyle/>
          <a:p>
            <a:r>
              <a:rPr kumimoji="1" lang="ja-JP" altLang="en-US" sz="1600" dirty="0">
                <a:solidFill>
                  <a:srgbClr val="555555"/>
                </a:solidFill>
                <a:latin typeface="BIZ UDPゴシック" panose="020B0400000000000000" pitchFamily="50" charset="-128"/>
                <a:ea typeface="BIZ UDPゴシック" panose="020B0400000000000000" pitchFamily="50" charset="-128"/>
              </a:rPr>
              <a:t>一度に扱う範囲が広いと、</a:t>
            </a:r>
            <a:endParaRPr kumimoji="1" lang="en-US" altLang="ja-JP" sz="1600" dirty="0">
              <a:solidFill>
                <a:srgbClr val="555555"/>
              </a:solidFill>
              <a:latin typeface="BIZ UDPゴシック" panose="020B0400000000000000" pitchFamily="50" charset="-128"/>
              <a:ea typeface="BIZ UDPゴシック" panose="020B0400000000000000" pitchFamily="50" charset="-128"/>
            </a:endParaRPr>
          </a:p>
          <a:p>
            <a:r>
              <a:rPr kumimoji="1" lang="ja-JP" altLang="en-US" sz="1600" dirty="0">
                <a:solidFill>
                  <a:srgbClr val="555555"/>
                </a:solidFill>
                <a:latin typeface="BIZ UDPゴシック" panose="020B0400000000000000" pitchFamily="50" charset="-128"/>
                <a:ea typeface="BIZ UDPゴシック" panose="020B0400000000000000" pitchFamily="50" charset="-128"/>
              </a:rPr>
              <a:t>判断も検証も追いつかない</a:t>
            </a:r>
          </a:p>
        </p:txBody>
      </p:sp>
      <p:sp>
        <p:nvSpPr>
          <p:cNvPr id="20" name="正方形/長方形 19">
            <a:extLst>
              <a:ext uri="{FF2B5EF4-FFF2-40B4-BE49-F238E27FC236}">
                <a16:creationId xmlns:a16="http://schemas.microsoft.com/office/drawing/2014/main" id="{B59C1677-3AB8-97CF-6CA3-30A8EB91268B}"/>
              </a:ext>
            </a:extLst>
          </p:cNvPr>
          <p:cNvSpPr/>
          <p:nvPr/>
        </p:nvSpPr>
        <p:spPr>
          <a:xfrm>
            <a:off x="685800" y="5842000"/>
            <a:ext cx="10820400" cy="787400"/>
          </a:xfrm>
          <a:prstGeom prst="rect">
            <a:avLst/>
          </a:prstGeom>
          <a:solidFill>
            <a:srgbClr val="6485C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B0B6C9AD-45E3-B202-D146-593852236E3D}"/>
              </a:ext>
            </a:extLst>
          </p:cNvPr>
          <p:cNvSpPr txBox="1"/>
          <p:nvPr/>
        </p:nvSpPr>
        <p:spPr>
          <a:xfrm>
            <a:off x="1041400" y="5953865"/>
            <a:ext cx="10109200" cy="523220"/>
          </a:xfrm>
          <a:prstGeom prst="rect">
            <a:avLst/>
          </a:prstGeom>
          <a:noFill/>
        </p:spPr>
        <p:txBody>
          <a:bodyPr vert="horz" rtlCol="0">
            <a:spAutoFit/>
          </a:bodyPr>
          <a:lstStyle/>
          <a:p>
            <a:pPr algn="ctr"/>
            <a:r>
              <a:rPr kumimoji="1" lang="en-US" altLang="ja-JP" sz="2800" b="1" dirty="0">
                <a:solidFill>
                  <a:srgbClr val="FFFFFF"/>
                </a:solidFill>
                <a:latin typeface="BIZ UDPゴシック" panose="020B0400000000000000" pitchFamily="50" charset="-128"/>
                <a:ea typeface="BIZ UDPゴシック" panose="020B0400000000000000" pitchFamily="50" charset="-128"/>
              </a:rPr>
              <a:t>AI</a:t>
            </a:r>
            <a:r>
              <a:rPr kumimoji="1" lang="ja-JP" altLang="en-US" sz="2800" b="1" dirty="0">
                <a:solidFill>
                  <a:srgbClr val="FFFFFF"/>
                </a:solidFill>
                <a:latin typeface="BIZ UDPゴシック" panose="020B0400000000000000" pitchFamily="50" charset="-128"/>
                <a:ea typeface="BIZ UDPゴシック" panose="020B0400000000000000" pitchFamily="50" charset="-128"/>
              </a:rPr>
              <a:t>の能力だけでなく、進め方に“ガードレール”が足りない</a:t>
            </a:r>
          </a:p>
        </p:txBody>
      </p:sp>
    </p:spTree>
    <p:extLst>
      <p:ext uri="{BB962C8B-B14F-4D97-AF65-F5344CB8AC3E}">
        <p14:creationId xmlns:p14="http://schemas.microsoft.com/office/powerpoint/2010/main" val="8037621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896D3-DCBB-71FE-F9E7-796FCC49357C}"/>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C83B9865-C2A5-DFBE-D830-A32902381772}"/>
              </a:ext>
            </a:extLst>
          </p:cNvPr>
          <p:cNvSpPr txBox="1"/>
          <p:nvPr/>
        </p:nvSpPr>
        <p:spPr>
          <a:xfrm>
            <a:off x="685800" y="444500"/>
            <a:ext cx="10795000" cy="615553"/>
          </a:xfrm>
          <a:prstGeom prst="rect">
            <a:avLst/>
          </a:prstGeom>
          <a:noFill/>
        </p:spPr>
        <p:txBody>
          <a:bodyPr vert="horz" rtlCol="0">
            <a:spAutoFit/>
          </a:bodyPr>
          <a:lstStyle/>
          <a:p>
            <a:r>
              <a:rPr kumimoji="1" lang="ja-JP" altLang="en-US" sz="3400" b="1">
                <a:latin typeface="BIZ UDPゴシック" panose="020B0400000000000000" pitchFamily="50" charset="-128"/>
                <a:ea typeface="BIZ UDPゴシック" panose="020B0400000000000000" pitchFamily="50" charset="-128"/>
              </a:rPr>
              <a:t>答えは、</a:t>
            </a:r>
            <a:r>
              <a:rPr kumimoji="1" lang="en-US" altLang="ja-JP" sz="3400" b="1">
                <a:latin typeface="BIZ UDPゴシック" panose="020B0400000000000000" pitchFamily="50" charset="-128"/>
                <a:ea typeface="BIZ UDPゴシック" panose="020B0400000000000000" pitchFamily="50" charset="-128"/>
              </a:rPr>
              <a:t>3</a:t>
            </a:r>
            <a:r>
              <a:rPr kumimoji="1" lang="ja-JP" altLang="en-US" sz="3400" b="1">
                <a:latin typeface="BIZ UDPゴシック" panose="020B0400000000000000" pitchFamily="50" charset="-128"/>
                <a:ea typeface="BIZ UDPゴシック" panose="020B0400000000000000" pitchFamily="50" charset="-128"/>
              </a:rPr>
              <a:t>つのガードレール</a:t>
            </a:r>
          </a:p>
        </p:txBody>
      </p:sp>
      <p:sp>
        <p:nvSpPr>
          <p:cNvPr id="3" name="テキスト ボックス 2">
            <a:extLst>
              <a:ext uri="{FF2B5EF4-FFF2-40B4-BE49-F238E27FC236}">
                <a16:creationId xmlns:a16="http://schemas.microsoft.com/office/drawing/2014/main" id="{4F1F12B5-14A4-749F-C242-E299DA91D297}"/>
              </a:ext>
            </a:extLst>
          </p:cNvPr>
          <p:cNvSpPr txBox="1"/>
          <p:nvPr/>
        </p:nvSpPr>
        <p:spPr>
          <a:xfrm>
            <a:off x="736600" y="1066800"/>
            <a:ext cx="10668000" cy="400110"/>
          </a:xfrm>
          <a:prstGeom prst="rect">
            <a:avLst/>
          </a:prstGeom>
          <a:noFill/>
        </p:spPr>
        <p:txBody>
          <a:bodyPr vert="horz" rtlCol="0">
            <a:spAutoFit/>
          </a:bodyPr>
          <a:lstStyle/>
          <a:p>
            <a:r>
              <a:rPr kumimoji="1" lang="ja-JP" altLang="en-US" sz="2000" dirty="0">
                <a:solidFill>
                  <a:srgbClr val="555555"/>
                </a:solidFill>
                <a:latin typeface="BIZ UDPゴシック" panose="020B0400000000000000" pitchFamily="50" charset="-128"/>
                <a:ea typeface="BIZ UDPゴシック" panose="020B0400000000000000" pitchFamily="50" charset="-128"/>
              </a:rPr>
              <a:t>明確な要件、小さな目標があれば</a:t>
            </a:r>
            <a:r>
              <a:rPr kumimoji="1" lang="en-US" altLang="ja-JP" sz="2000" dirty="0">
                <a:solidFill>
                  <a:srgbClr val="555555"/>
                </a:solidFill>
                <a:latin typeface="BIZ UDPゴシック" panose="020B0400000000000000" pitchFamily="50" charset="-128"/>
                <a:ea typeface="BIZ UDPゴシック" panose="020B0400000000000000" pitchFamily="50" charset="-128"/>
              </a:rPr>
              <a:t>AI</a:t>
            </a:r>
            <a:r>
              <a:rPr kumimoji="1" lang="ja-JP" altLang="en-US" sz="2000" dirty="0">
                <a:solidFill>
                  <a:srgbClr val="555555"/>
                </a:solidFill>
                <a:latin typeface="BIZ UDPゴシック" panose="020B0400000000000000" pitchFamily="50" charset="-128"/>
                <a:ea typeface="BIZ UDPゴシック" panose="020B0400000000000000" pitchFamily="50" charset="-128"/>
              </a:rPr>
              <a:t>は思ったように動いてくれる</a:t>
            </a:r>
          </a:p>
        </p:txBody>
      </p:sp>
      <p:sp>
        <p:nvSpPr>
          <p:cNvPr id="4" name="正方形/長方形 3">
            <a:extLst>
              <a:ext uri="{FF2B5EF4-FFF2-40B4-BE49-F238E27FC236}">
                <a16:creationId xmlns:a16="http://schemas.microsoft.com/office/drawing/2014/main" id="{65B3A226-77F8-1324-40B7-F33D69E7C9F7}"/>
              </a:ext>
            </a:extLst>
          </p:cNvPr>
          <p:cNvSpPr/>
          <p:nvPr/>
        </p:nvSpPr>
        <p:spPr>
          <a:xfrm>
            <a:off x="685800" y="1778000"/>
            <a:ext cx="3276600" cy="3429000"/>
          </a:xfrm>
          <a:prstGeom prst="rect">
            <a:avLst/>
          </a:prstGeom>
          <a:solidFill>
            <a:srgbClr val="EDF2F9"/>
          </a:solidFill>
          <a:ln>
            <a:solidFill>
              <a:srgbClr val="6485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正方形/長方形 4">
            <a:extLst>
              <a:ext uri="{FF2B5EF4-FFF2-40B4-BE49-F238E27FC236}">
                <a16:creationId xmlns:a16="http://schemas.microsoft.com/office/drawing/2014/main" id="{3F7EB932-7B50-3B6E-0B53-F4E528AF455B}"/>
              </a:ext>
            </a:extLst>
          </p:cNvPr>
          <p:cNvSpPr/>
          <p:nvPr/>
        </p:nvSpPr>
        <p:spPr>
          <a:xfrm>
            <a:off x="4457700" y="1778000"/>
            <a:ext cx="3276600" cy="3429000"/>
          </a:xfrm>
          <a:prstGeom prst="rect">
            <a:avLst/>
          </a:prstGeom>
          <a:solidFill>
            <a:srgbClr val="EDF2F9"/>
          </a:solidFill>
          <a:ln>
            <a:solidFill>
              <a:srgbClr val="6485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2CB13879-58E9-3384-D37B-425C17F01ED3}"/>
              </a:ext>
            </a:extLst>
          </p:cNvPr>
          <p:cNvSpPr/>
          <p:nvPr/>
        </p:nvSpPr>
        <p:spPr>
          <a:xfrm>
            <a:off x="8229600" y="1778000"/>
            <a:ext cx="3276600" cy="3429000"/>
          </a:xfrm>
          <a:prstGeom prst="rect">
            <a:avLst/>
          </a:prstGeom>
          <a:solidFill>
            <a:srgbClr val="EDF2F9"/>
          </a:solidFill>
          <a:ln>
            <a:solidFill>
              <a:srgbClr val="6485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8" name="グラフィックス 7">
            <a:extLst>
              <a:ext uri="{FF2B5EF4-FFF2-40B4-BE49-F238E27FC236}">
                <a16:creationId xmlns:a16="http://schemas.microsoft.com/office/drawing/2014/main" id="{18F20884-5F4C-448E-84BA-59B05A04B139}"/>
              </a:ext>
            </a:extLst>
          </p:cNvPr>
          <p:cNvPicPr>
            <a:picLocks/>
          </p:cNvPicPr>
          <p:nvPr/>
        </p:nvPicPr>
        <p:blipFill>
          <a:blip>
            <a:extLst>
              <a:ext uri="{96DAC541-7B7A-43D3-8B79-37D633B846F1}">
                <asvg:svgBlip xmlns:asvg="http://schemas.microsoft.com/office/drawing/2016/SVG/main" r:embed="rId2"/>
              </a:ext>
            </a:extLst>
          </a:blip>
          <a:stretch>
            <a:fillRect/>
          </a:stretch>
        </p:blipFill>
        <p:spPr>
          <a:xfrm>
            <a:off x="2006600" y="2095500"/>
            <a:ext cx="635000" cy="635000"/>
          </a:xfrm>
          <a:prstGeom prst="rect">
            <a:avLst/>
          </a:prstGeom>
        </p:spPr>
      </p:pic>
      <p:pic>
        <p:nvPicPr>
          <p:cNvPr id="10" name="グラフィックス 9">
            <a:extLst>
              <a:ext uri="{FF2B5EF4-FFF2-40B4-BE49-F238E27FC236}">
                <a16:creationId xmlns:a16="http://schemas.microsoft.com/office/drawing/2014/main" id="{893BA363-A1F6-A8A7-76FF-F2D9171E7E68}"/>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5778500" y="2095500"/>
            <a:ext cx="635000" cy="635000"/>
          </a:xfrm>
          <a:prstGeom prst="rect">
            <a:avLst/>
          </a:prstGeom>
        </p:spPr>
      </p:pic>
      <p:pic>
        <p:nvPicPr>
          <p:cNvPr id="12" name="グラフィックス 11">
            <a:extLst>
              <a:ext uri="{FF2B5EF4-FFF2-40B4-BE49-F238E27FC236}">
                <a16:creationId xmlns:a16="http://schemas.microsoft.com/office/drawing/2014/main" id="{40D771E3-DBBE-CDA9-9716-24387542A9E5}"/>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9550400" y="2095500"/>
            <a:ext cx="635000" cy="635000"/>
          </a:xfrm>
          <a:prstGeom prst="rect">
            <a:avLst/>
          </a:prstGeom>
        </p:spPr>
      </p:pic>
      <p:sp>
        <p:nvSpPr>
          <p:cNvPr id="13" name="テキスト ボックス 12">
            <a:extLst>
              <a:ext uri="{FF2B5EF4-FFF2-40B4-BE49-F238E27FC236}">
                <a16:creationId xmlns:a16="http://schemas.microsoft.com/office/drawing/2014/main" id="{A6F51474-C78B-8434-AC03-EDD7085A9D2D}"/>
              </a:ext>
            </a:extLst>
          </p:cNvPr>
          <p:cNvSpPr txBox="1"/>
          <p:nvPr/>
        </p:nvSpPr>
        <p:spPr>
          <a:xfrm>
            <a:off x="939800" y="2921000"/>
            <a:ext cx="2768600" cy="430887"/>
          </a:xfrm>
          <a:prstGeom prst="rect">
            <a:avLst/>
          </a:prstGeom>
          <a:noFill/>
        </p:spPr>
        <p:txBody>
          <a:bodyPr vert="horz" rtlCol="0">
            <a:spAutoFit/>
          </a:bodyPr>
          <a:lstStyle/>
          <a:p>
            <a:pPr algn="ctr"/>
            <a:r>
              <a:rPr kumimoji="1" lang="en-US" altLang="ja-JP" sz="2200" b="1">
                <a:latin typeface="BIZ UDPゴシック" panose="020B0400000000000000" pitchFamily="50" charset="-128"/>
                <a:ea typeface="BIZ UDPゴシック" panose="020B0400000000000000" pitchFamily="50" charset="-128"/>
              </a:rPr>
              <a:t>1  </a:t>
            </a:r>
            <a:r>
              <a:rPr kumimoji="1" lang="ja-JP" altLang="en-US" sz="2200" b="1">
                <a:latin typeface="BIZ UDPゴシック" panose="020B0400000000000000" pitchFamily="50" charset="-128"/>
                <a:ea typeface="BIZ UDPゴシック" panose="020B0400000000000000" pitchFamily="50" charset="-128"/>
              </a:rPr>
              <a:t>先に合意する</a:t>
            </a:r>
          </a:p>
        </p:txBody>
      </p:sp>
      <p:sp>
        <p:nvSpPr>
          <p:cNvPr id="14" name="テキスト ボックス 13">
            <a:extLst>
              <a:ext uri="{FF2B5EF4-FFF2-40B4-BE49-F238E27FC236}">
                <a16:creationId xmlns:a16="http://schemas.microsoft.com/office/drawing/2014/main" id="{0DC8D310-55F4-5DA0-48A1-3987381780A1}"/>
              </a:ext>
            </a:extLst>
          </p:cNvPr>
          <p:cNvSpPr txBox="1"/>
          <p:nvPr/>
        </p:nvSpPr>
        <p:spPr>
          <a:xfrm>
            <a:off x="4711700" y="2921000"/>
            <a:ext cx="2768600" cy="430887"/>
          </a:xfrm>
          <a:prstGeom prst="rect">
            <a:avLst/>
          </a:prstGeom>
          <a:noFill/>
        </p:spPr>
        <p:txBody>
          <a:bodyPr vert="horz" rtlCol="0">
            <a:spAutoFit/>
          </a:bodyPr>
          <a:lstStyle/>
          <a:p>
            <a:pPr algn="ctr"/>
            <a:r>
              <a:rPr kumimoji="1" lang="en-US" altLang="ja-JP" sz="2200" b="1" dirty="0">
                <a:latin typeface="BIZ UDPゴシック" panose="020B0400000000000000" pitchFamily="50" charset="-128"/>
                <a:ea typeface="BIZ UDPゴシック" panose="020B0400000000000000" pitchFamily="50" charset="-128"/>
              </a:rPr>
              <a:t>2  </a:t>
            </a:r>
            <a:r>
              <a:rPr kumimoji="1" lang="ja-JP" altLang="en-US" sz="2200" b="1" dirty="0">
                <a:latin typeface="BIZ UDPゴシック" panose="020B0400000000000000" pitchFamily="50" charset="-128"/>
                <a:ea typeface="BIZ UDPゴシック" panose="020B0400000000000000" pitchFamily="50" charset="-128"/>
              </a:rPr>
              <a:t>小さく分ける</a:t>
            </a:r>
          </a:p>
        </p:txBody>
      </p:sp>
      <p:sp>
        <p:nvSpPr>
          <p:cNvPr id="15" name="テキスト ボックス 14">
            <a:extLst>
              <a:ext uri="{FF2B5EF4-FFF2-40B4-BE49-F238E27FC236}">
                <a16:creationId xmlns:a16="http://schemas.microsoft.com/office/drawing/2014/main" id="{807E42D3-536C-FF1A-0C9D-C3E5144EA410}"/>
              </a:ext>
            </a:extLst>
          </p:cNvPr>
          <p:cNvSpPr txBox="1"/>
          <p:nvPr/>
        </p:nvSpPr>
        <p:spPr>
          <a:xfrm>
            <a:off x="8483600" y="2921000"/>
            <a:ext cx="2768600" cy="430887"/>
          </a:xfrm>
          <a:prstGeom prst="rect">
            <a:avLst/>
          </a:prstGeom>
          <a:noFill/>
        </p:spPr>
        <p:txBody>
          <a:bodyPr vert="horz" rtlCol="0">
            <a:spAutoFit/>
          </a:bodyPr>
          <a:lstStyle/>
          <a:p>
            <a:pPr algn="ctr"/>
            <a:r>
              <a:rPr kumimoji="1" lang="en-US" altLang="ja-JP" sz="2200" b="1">
                <a:latin typeface="BIZ UDPゴシック" panose="020B0400000000000000" pitchFamily="50" charset="-128"/>
                <a:ea typeface="BIZ UDPゴシック" panose="020B0400000000000000" pitchFamily="50" charset="-128"/>
              </a:rPr>
              <a:t>3  </a:t>
            </a:r>
            <a:r>
              <a:rPr kumimoji="1" lang="ja-JP" altLang="en-US" sz="2200" b="1">
                <a:latin typeface="BIZ UDPゴシック" panose="020B0400000000000000" pitchFamily="50" charset="-128"/>
                <a:ea typeface="BIZ UDPゴシック" panose="020B0400000000000000" pitchFamily="50" charset="-128"/>
              </a:rPr>
              <a:t>テストで確かめる</a:t>
            </a:r>
          </a:p>
        </p:txBody>
      </p:sp>
      <p:sp>
        <p:nvSpPr>
          <p:cNvPr id="16" name="テキスト ボックス 15">
            <a:extLst>
              <a:ext uri="{FF2B5EF4-FFF2-40B4-BE49-F238E27FC236}">
                <a16:creationId xmlns:a16="http://schemas.microsoft.com/office/drawing/2014/main" id="{B4C7B2BF-957F-5123-C622-97E4F54FA246}"/>
              </a:ext>
            </a:extLst>
          </p:cNvPr>
          <p:cNvSpPr txBox="1"/>
          <p:nvPr/>
        </p:nvSpPr>
        <p:spPr>
          <a:xfrm>
            <a:off x="990600" y="3873500"/>
            <a:ext cx="2667000" cy="830997"/>
          </a:xfrm>
          <a:prstGeom prst="rect">
            <a:avLst/>
          </a:prstGeom>
          <a:noFill/>
        </p:spPr>
        <p:txBody>
          <a:bodyPr vert="horz" rtlCol="0">
            <a:spAutoFit/>
          </a:bodyPr>
          <a:lstStyle/>
          <a:p>
            <a:r>
              <a:rPr kumimoji="1" lang="ja-JP" altLang="en-US" sz="1600" dirty="0">
                <a:latin typeface="BIZ UDPゴシック" panose="020B0400000000000000" pitchFamily="50" charset="-128"/>
                <a:ea typeface="BIZ UDPゴシック" panose="020B0400000000000000" pitchFamily="50" charset="-128"/>
              </a:rPr>
              <a:t>「何をつくるか」「どこまでやるか」を、人間と</a:t>
            </a:r>
            <a:r>
              <a:rPr kumimoji="1" lang="en-US" altLang="ja-JP" sz="1600" dirty="0">
                <a:latin typeface="BIZ UDPゴシック" panose="020B0400000000000000" pitchFamily="50" charset="-128"/>
                <a:ea typeface="BIZ UDPゴシック" panose="020B0400000000000000" pitchFamily="50" charset="-128"/>
              </a:rPr>
              <a:t>AI</a:t>
            </a:r>
            <a:r>
              <a:rPr kumimoji="1" lang="ja-JP" altLang="en-US" sz="1600" dirty="0">
                <a:latin typeface="BIZ UDPゴシック" panose="020B0400000000000000" pitchFamily="50" charset="-128"/>
                <a:ea typeface="BIZ UDPゴシック" panose="020B0400000000000000" pitchFamily="50" charset="-128"/>
              </a:rPr>
              <a:t>の間で合意する。</a:t>
            </a:r>
          </a:p>
        </p:txBody>
      </p:sp>
      <p:sp>
        <p:nvSpPr>
          <p:cNvPr id="17" name="テキスト ボックス 16">
            <a:extLst>
              <a:ext uri="{FF2B5EF4-FFF2-40B4-BE49-F238E27FC236}">
                <a16:creationId xmlns:a16="http://schemas.microsoft.com/office/drawing/2014/main" id="{6A8FAD9C-DEDC-7652-C26E-55E5358110C9}"/>
              </a:ext>
            </a:extLst>
          </p:cNvPr>
          <p:cNvSpPr txBox="1"/>
          <p:nvPr/>
        </p:nvSpPr>
        <p:spPr>
          <a:xfrm>
            <a:off x="4762500" y="3873500"/>
            <a:ext cx="2667000" cy="584775"/>
          </a:xfrm>
          <a:prstGeom prst="rect">
            <a:avLst/>
          </a:prstGeom>
          <a:noFill/>
        </p:spPr>
        <p:txBody>
          <a:bodyPr vert="horz" rtlCol="0">
            <a:spAutoFit/>
          </a:bodyPr>
          <a:lstStyle/>
          <a:p>
            <a:r>
              <a:rPr kumimoji="1" lang="ja-JP" altLang="en-US" sz="1600">
                <a:latin typeface="BIZ UDPゴシック" panose="020B0400000000000000" pitchFamily="50" charset="-128"/>
                <a:ea typeface="BIZ UDPゴシック" panose="020B0400000000000000" pitchFamily="50" charset="-128"/>
              </a:rPr>
              <a:t>一度に全部を任せず、確認できる小さな単位へ分ける。</a:t>
            </a:r>
          </a:p>
        </p:txBody>
      </p:sp>
      <p:sp>
        <p:nvSpPr>
          <p:cNvPr id="18" name="テキスト ボックス 17">
            <a:extLst>
              <a:ext uri="{FF2B5EF4-FFF2-40B4-BE49-F238E27FC236}">
                <a16:creationId xmlns:a16="http://schemas.microsoft.com/office/drawing/2014/main" id="{C0DFB2B5-1E67-7740-7A7B-0A3967EE3551}"/>
              </a:ext>
            </a:extLst>
          </p:cNvPr>
          <p:cNvSpPr txBox="1"/>
          <p:nvPr/>
        </p:nvSpPr>
        <p:spPr>
          <a:xfrm>
            <a:off x="8534400" y="3873500"/>
            <a:ext cx="2667000" cy="830997"/>
          </a:xfrm>
          <a:prstGeom prst="rect">
            <a:avLst/>
          </a:prstGeom>
          <a:noFill/>
        </p:spPr>
        <p:txBody>
          <a:bodyPr vert="horz" rtlCol="0">
            <a:spAutoFit/>
          </a:bodyPr>
          <a:lstStyle/>
          <a:p>
            <a:r>
              <a:rPr kumimoji="1" lang="ja-JP" altLang="en-US" sz="1600" dirty="0">
                <a:latin typeface="BIZ UDPゴシック" panose="020B0400000000000000" pitchFamily="50" charset="-128"/>
                <a:ea typeface="BIZ UDPゴシック" panose="020B0400000000000000" pitchFamily="50" charset="-128"/>
              </a:rPr>
              <a:t>「こう動くべき」をテストにし、外れたらすぐ分かるようにする。</a:t>
            </a:r>
          </a:p>
        </p:txBody>
      </p:sp>
      <p:sp>
        <p:nvSpPr>
          <p:cNvPr id="19" name="テキスト ボックス 18">
            <a:extLst>
              <a:ext uri="{FF2B5EF4-FFF2-40B4-BE49-F238E27FC236}">
                <a16:creationId xmlns:a16="http://schemas.microsoft.com/office/drawing/2014/main" id="{FFE94B34-0B32-2D56-2AD9-FD6AF9657AB1}"/>
              </a:ext>
            </a:extLst>
          </p:cNvPr>
          <p:cNvSpPr txBox="1"/>
          <p:nvPr/>
        </p:nvSpPr>
        <p:spPr>
          <a:xfrm>
            <a:off x="1117600" y="5664200"/>
            <a:ext cx="9956800" cy="523220"/>
          </a:xfrm>
          <a:prstGeom prst="rect">
            <a:avLst/>
          </a:prstGeom>
          <a:noFill/>
        </p:spPr>
        <p:txBody>
          <a:bodyPr vert="horz" rtlCol="0">
            <a:spAutoFit/>
          </a:bodyPr>
          <a:lstStyle/>
          <a:p>
            <a:pPr algn="ctr"/>
            <a:r>
              <a:rPr kumimoji="1" lang="ja-JP" altLang="en-US" sz="2800" b="1" dirty="0">
                <a:solidFill>
                  <a:srgbClr val="E86B43"/>
                </a:solidFill>
                <a:latin typeface="BIZ UDPゴシック" panose="020B0400000000000000" pitchFamily="50" charset="-128"/>
                <a:ea typeface="BIZ UDPゴシック" panose="020B0400000000000000" pitchFamily="50" charset="-128"/>
              </a:rPr>
              <a:t>これらを実行するための</a:t>
            </a:r>
            <a:r>
              <a:rPr kumimoji="1" lang="en-US" altLang="ja-JP" sz="2800" b="1" dirty="0">
                <a:solidFill>
                  <a:srgbClr val="E86B43"/>
                </a:solidFill>
                <a:latin typeface="BIZ UDPゴシック" panose="020B0400000000000000" pitchFamily="50" charset="-128"/>
                <a:ea typeface="BIZ UDPゴシック" panose="020B0400000000000000" pitchFamily="50" charset="-128"/>
              </a:rPr>
              <a:t>Agent Skills</a:t>
            </a:r>
            <a:r>
              <a:rPr kumimoji="1" lang="ja-JP" altLang="en-US" sz="2800" b="1" dirty="0">
                <a:solidFill>
                  <a:srgbClr val="E86B43"/>
                </a:solidFill>
                <a:latin typeface="BIZ UDPゴシック" panose="020B0400000000000000" pitchFamily="50" charset="-128"/>
                <a:ea typeface="BIZ UDPゴシック" panose="020B0400000000000000" pitchFamily="50" charset="-128"/>
              </a:rPr>
              <a:t>あります</a:t>
            </a:r>
          </a:p>
        </p:txBody>
      </p:sp>
    </p:spTree>
    <p:extLst>
      <p:ext uri="{BB962C8B-B14F-4D97-AF65-F5344CB8AC3E}">
        <p14:creationId xmlns:p14="http://schemas.microsoft.com/office/powerpoint/2010/main" val="29839066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78AB8C-AC86-4D41-8577-DEBA9912D844}"/>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8E100227-C0A9-5951-104F-060D8BBF2F37}"/>
              </a:ext>
            </a:extLst>
          </p:cNvPr>
          <p:cNvSpPr txBox="1"/>
          <p:nvPr/>
        </p:nvSpPr>
        <p:spPr>
          <a:xfrm>
            <a:off x="685800" y="381000"/>
            <a:ext cx="10795000" cy="615553"/>
          </a:xfrm>
          <a:prstGeom prst="rect">
            <a:avLst/>
          </a:prstGeom>
          <a:noFill/>
        </p:spPr>
        <p:txBody>
          <a:bodyPr vert="horz" rtlCol="0">
            <a:spAutoFit/>
          </a:bodyPr>
          <a:lstStyle/>
          <a:p>
            <a:r>
              <a:rPr kumimoji="1" lang="ja-JP" altLang="en-US" sz="3400" b="1" dirty="0">
                <a:latin typeface="BIZ UDPゴシック" panose="020B0400000000000000" pitchFamily="50" charset="-128"/>
                <a:ea typeface="BIZ UDPゴシック" panose="020B0400000000000000" pitchFamily="50" charset="-128"/>
              </a:rPr>
              <a:t>ガードレールを実現する</a:t>
            </a:r>
            <a:r>
              <a:rPr kumimoji="1" lang="en-US" altLang="ja-JP" sz="3400" b="1" dirty="0">
                <a:latin typeface="BIZ UDPゴシック" panose="020B0400000000000000" pitchFamily="50" charset="-128"/>
                <a:ea typeface="BIZ UDPゴシック" panose="020B0400000000000000" pitchFamily="50" charset="-128"/>
              </a:rPr>
              <a:t>Agent</a:t>
            </a:r>
            <a:r>
              <a:rPr kumimoji="1" lang="ja-JP" altLang="en-US" sz="3400" b="1" dirty="0">
                <a:latin typeface="BIZ UDPゴシック" panose="020B0400000000000000" pitchFamily="50" charset="-128"/>
                <a:ea typeface="BIZ UDPゴシック" panose="020B0400000000000000" pitchFamily="50" charset="-128"/>
              </a:rPr>
              <a:t> </a:t>
            </a:r>
            <a:r>
              <a:rPr kumimoji="1" lang="en-US" altLang="ja-JP" sz="3400" b="1" dirty="0">
                <a:latin typeface="BIZ UDPゴシック" panose="020B0400000000000000" pitchFamily="50" charset="-128"/>
                <a:ea typeface="BIZ UDPゴシック" panose="020B0400000000000000" pitchFamily="50" charset="-128"/>
              </a:rPr>
              <a:t>Skills</a:t>
            </a:r>
            <a:endParaRPr kumimoji="1" lang="ja-JP" altLang="en-US" sz="3400" b="1" dirty="0">
              <a:latin typeface="BIZ UDPゴシック" panose="020B0400000000000000" pitchFamily="50" charset="-128"/>
              <a:ea typeface="BIZ UDPゴシック" panose="020B0400000000000000" pitchFamily="50" charset="-128"/>
            </a:endParaRPr>
          </a:p>
        </p:txBody>
      </p:sp>
      <p:sp>
        <p:nvSpPr>
          <p:cNvPr id="3" name="テキスト ボックス 2">
            <a:extLst>
              <a:ext uri="{FF2B5EF4-FFF2-40B4-BE49-F238E27FC236}">
                <a16:creationId xmlns:a16="http://schemas.microsoft.com/office/drawing/2014/main" id="{A59F0AA1-DFA9-DE19-4DD5-7D4718967667}"/>
              </a:ext>
            </a:extLst>
          </p:cNvPr>
          <p:cNvSpPr txBox="1"/>
          <p:nvPr/>
        </p:nvSpPr>
        <p:spPr>
          <a:xfrm>
            <a:off x="736600" y="990600"/>
            <a:ext cx="10668000" cy="400110"/>
          </a:xfrm>
          <a:prstGeom prst="rect">
            <a:avLst/>
          </a:prstGeom>
          <a:noFill/>
        </p:spPr>
        <p:txBody>
          <a:bodyPr vert="horz" rtlCol="0">
            <a:spAutoFit/>
          </a:bodyPr>
          <a:lstStyle/>
          <a:p>
            <a:r>
              <a:rPr kumimoji="1" lang="en-US" altLang="ja-JP" sz="2000" dirty="0" err="1">
                <a:solidFill>
                  <a:srgbClr val="555555"/>
                </a:solidFill>
                <a:latin typeface="BIZ UDPゴシック" panose="020B0400000000000000" pitchFamily="50" charset="-128"/>
                <a:ea typeface="BIZ UDPゴシック" panose="020B0400000000000000" pitchFamily="50" charset="-128"/>
              </a:rPr>
              <a:t>mattpocock</a:t>
            </a:r>
            <a:r>
              <a:rPr kumimoji="1" lang="ja-JP" altLang="en-US" sz="2000" dirty="0">
                <a:solidFill>
                  <a:srgbClr val="555555"/>
                </a:solidFill>
                <a:latin typeface="BIZ UDPゴシック" panose="020B0400000000000000" pitchFamily="50" charset="-128"/>
                <a:ea typeface="BIZ UDPゴシック" panose="020B0400000000000000" pitchFamily="50" charset="-128"/>
              </a:rPr>
              <a:t>氏による開発向けスキル群</a:t>
            </a:r>
            <a:endParaRPr kumimoji="1" lang="en-US" altLang="ja-JP" sz="2000" dirty="0">
              <a:solidFill>
                <a:srgbClr val="555555"/>
              </a:solidFill>
              <a:latin typeface="BIZ UDPゴシック" panose="020B0400000000000000" pitchFamily="50" charset="-128"/>
              <a:ea typeface="BIZ UDPゴシック" panose="020B0400000000000000" pitchFamily="50" charset="-128"/>
            </a:endParaRPr>
          </a:p>
        </p:txBody>
      </p:sp>
      <p:sp>
        <p:nvSpPr>
          <p:cNvPr id="12" name="正方形/長方形 11">
            <a:extLst>
              <a:ext uri="{FF2B5EF4-FFF2-40B4-BE49-F238E27FC236}">
                <a16:creationId xmlns:a16="http://schemas.microsoft.com/office/drawing/2014/main" id="{6C7609F4-D07F-639A-EBB6-D21190C39A42}"/>
              </a:ext>
            </a:extLst>
          </p:cNvPr>
          <p:cNvSpPr/>
          <p:nvPr/>
        </p:nvSpPr>
        <p:spPr>
          <a:xfrm>
            <a:off x="685800" y="1777999"/>
            <a:ext cx="3276600" cy="4605545"/>
          </a:xfrm>
          <a:prstGeom prst="rect">
            <a:avLst/>
          </a:prstGeom>
          <a:solidFill>
            <a:srgbClr val="EDF2F9"/>
          </a:solidFill>
          <a:ln>
            <a:solidFill>
              <a:srgbClr val="6485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a:extLst>
              <a:ext uri="{FF2B5EF4-FFF2-40B4-BE49-F238E27FC236}">
                <a16:creationId xmlns:a16="http://schemas.microsoft.com/office/drawing/2014/main" id="{9E14C8D6-AAD2-F037-E743-B4AC9BD77965}"/>
              </a:ext>
            </a:extLst>
          </p:cNvPr>
          <p:cNvSpPr/>
          <p:nvPr/>
        </p:nvSpPr>
        <p:spPr>
          <a:xfrm>
            <a:off x="4457700" y="1777999"/>
            <a:ext cx="3276600" cy="4605545"/>
          </a:xfrm>
          <a:prstGeom prst="rect">
            <a:avLst/>
          </a:prstGeom>
          <a:solidFill>
            <a:srgbClr val="EDF2F9"/>
          </a:solidFill>
          <a:ln>
            <a:solidFill>
              <a:srgbClr val="6485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7454811E-3565-2471-9C26-932B420AF16C}"/>
              </a:ext>
            </a:extLst>
          </p:cNvPr>
          <p:cNvSpPr/>
          <p:nvPr/>
        </p:nvSpPr>
        <p:spPr>
          <a:xfrm>
            <a:off x="8229600" y="1777999"/>
            <a:ext cx="3276600" cy="4605545"/>
          </a:xfrm>
          <a:prstGeom prst="rect">
            <a:avLst/>
          </a:prstGeom>
          <a:solidFill>
            <a:srgbClr val="EDF2F9"/>
          </a:solidFill>
          <a:ln>
            <a:solidFill>
              <a:srgbClr val="6485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9" name="グラフィックス 18">
            <a:extLst>
              <a:ext uri="{FF2B5EF4-FFF2-40B4-BE49-F238E27FC236}">
                <a16:creationId xmlns:a16="http://schemas.microsoft.com/office/drawing/2014/main" id="{7EE67326-3569-401D-AC7D-C83C7B7F6230}"/>
              </a:ext>
            </a:extLst>
          </p:cNvPr>
          <p:cNvPicPr>
            <a:picLocks/>
          </p:cNvPicPr>
          <p:nvPr/>
        </p:nvPicPr>
        <p:blipFill>
          <a:blip>
            <a:extLst>
              <a:ext uri="{96DAC541-7B7A-43D3-8B79-37D633B846F1}">
                <asvg:svgBlip xmlns:asvg="http://schemas.microsoft.com/office/drawing/2016/SVG/main" r:embed="rId2"/>
              </a:ext>
            </a:extLst>
          </a:blip>
          <a:stretch>
            <a:fillRect/>
          </a:stretch>
        </p:blipFill>
        <p:spPr>
          <a:xfrm>
            <a:off x="2006600" y="2095500"/>
            <a:ext cx="635000" cy="635000"/>
          </a:xfrm>
          <a:prstGeom prst="rect">
            <a:avLst/>
          </a:prstGeom>
        </p:spPr>
      </p:pic>
      <p:pic>
        <p:nvPicPr>
          <p:cNvPr id="25" name="グラフィックス 24">
            <a:extLst>
              <a:ext uri="{FF2B5EF4-FFF2-40B4-BE49-F238E27FC236}">
                <a16:creationId xmlns:a16="http://schemas.microsoft.com/office/drawing/2014/main" id="{F7D0E607-7292-EE04-2123-42686A7AB43D}"/>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5778500" y="2095500"/>
            <a:ext cx="635000" cy="635000"/>
          </a:xfrm>
          <a:prstGeom prst="rect">
            <a:avLst/>
          </a:prstGeom>
        </p:spPr>
      </p:pic>
      <p:pic>
        <p:nvPicPr>
          <p:cNvPr id="33" name="グラフィックス 32">
            <a:extLst>
              <a:ext uri="{FF2B5EF4-FFF2-40B4-BE49-F238E27FC236}">
                <a16:creationId xmlns:a16="http://schemas.microsoft.com/office/drawing/2014/main" id="{7F5A6102-8067-B52A-FB66-B9298EC0A6CE}"/>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9550400" y="2095500"/>
            <a:ext cx="635000" cy="635000"/>
          </a:xfrm>
          <a:prstGeom prst="rect">
            <a:avLst/>
          </a:prstGeom>
        </p:spPr>
      </p:pic>
      <p:sp>
        <p:nvSpPr>
          <p:cNvPr id="35" name="テキスト ボックス 34">
            <a:extLst>
              <a:ext uri="{FF2B5EF4-FFF2-40B4-BE49-F238E27FC236}">
                <a16:creationId xmlns:a16="http://schemas.microsoft.com/office/drawing/2014/main" id="{DA73E6ED-97F7-B407-7FB0-5B90AE05A456}"/>
              </a:ext>
            </a:extLst>
          </p:cNvPr>
          <p:cNvSpPr txBox="1"/>
          <p:nvPr/>
        </p:nvSpPr>
        <p:spPr>
          <a:xfrm>
            <a:off x="939800" y="2921000"/>
            <a:ext cx="2768600" cy="430887"/>
          </a:xfrm>
          <a:prstGeom prst="rect">
            <a:avLst/>
          </a:prstGeom>
          <a:noFill/>
        </p:spPr>
        <p:txBody>
          <a:bodyPr vert="horz" rtlCol="0">
            <a:spAutoFit/>
          </a:bodyPr>
          <a:lstStyle/>
          <a:p>
            <a:pPr algn="ctr"/>
            <a:r>
              <a:rPr kumimoji="1" lang="en-US" altLang="ja-JP" sz="2200" b="1">
                <a:latin typeface="BIZ UDPゴシック" panose="020B0400000000000000" pitchFamily="50" charset="-128"/>
                <a:ea typeface="BIZ UDPゴシック" panose="020B0400000000000000" pitchFamily="50" charset="-128"/>
              </a:rPr>
              <a:t>1  </a:t>
            </a:r>
            <a:r>
              <a:rPr kumimoji="1" lang="ja-JP" altLang="en-US" sz="2200" b="1">
                <a:latin typeface="BIZ UDPゴシック" panose="020B0400000000000000" pitchFamily="50" charset="-128"/>
                <a:ea typeface="BIZ UDPゴシック" panose="020B0400000000000000" pitchFamily="50" charset="-128"/>
              </a:rPr>
              <a:t>先に合意する</a:t>
            </a:r>
          </a:p>
        </p:txBody>
      </p:sp>
      <p:sp>
        <p:nvSpPr>
          <p:cNvPr id="37" name="テキスト ボックス 36">
            <a:extLst>
              <a:ext uri="{FF2B5EF4-FFF2-40B4-BE49-F238E27FC236}">
                <a16:creationId xmlns:a16="http://schemas.microsoft.com/office/drawing/2014/main" id="{2D764C52-30F5-45F2-22F6-7D4943A0DCD8}"/>
              </a:ext>
            </a:extLst>
          </p:cNvPr>
          <p:cNvSpPr txBox="1"/>
          <p:nvPr/>
        </p:nvSpPr>
        <p:spPr>
          <a:xfrm>
            <a:off x="4711700" y="2921000"/>
            <a:ext cx="2768600" cy="430887"/>
          </a:xfrm>
          <a:prstGeom prst="rect">
            <a:avLst/>
          </a:prstGeom>
          <a:noFill/>
        </p:spPr>
        <p:txBody>
          <a:bodyPr vert="horz" rtlCol="0">
            <a:spAutoFit/>
          </a:bodyPr>
          <a:lstStyle/>
          <a:p>
            <a:pPr algn="ctr"/>
            <a:r>
              <a:rPr kumimoji="1" lang="en-US" altLang="ja-JP" sz="2200" b="1" dirty="0">
                <a:latin typeface="BIZ UDPゴシック" panose="020B0400000000000000" pitchFamily="50" charset="-128"/>
                <a:ea typeface="BIZ UDPゴシック" panose="020B0400000000000000" pitchFamily="50" charset="-128"/>
              </a:rPr>
              <a:t>2  </a:t>
            </a:r>
            <a:r>
              <a:rPr kumimoji="1" lang="ja-JP" altLang="en-US" sz="2200" b="1" dirty="0">
                <a:latin typeface="BIZ UDPゴシック" panose="020B0400000000000000" pitchFamily="50" charset="-128"/>
                <a:ea typeface="BIZ UDPゴシック" panose="020B0400000000000000" pitchFamily="50" charset="-128"/>
              </a:rPr>
              <a:t>小さく分ける</a:t>
            </a:r>
          </a:p>
        </p:txBody>
      </p:sp>
      <p:sp>
        <p:nvSpPr>
          <p:cNvPr id="39" name="テキスト ボックス 38">
            <a:extLst>
              <a:ext uri="{FF2B5EF4-FFF2-40B4-BE49-F238E27FC236}">
                <a16:creationId xmlns:a16="http://schemas.microsoft.com/office/drawing/2014/main" id="{599BF8FF-1F4E-80FD-8FCF-93FBBB07CE37}"/>
              </a:ext>
            </a:extLst>
          </p:cNvPr>
          <p:cNvSpPr txBox="1"/>
          <p:nvPr/>
        </p:nvSpPr>
        <p:spPr>
          <a:xfrm>
            <a:off x="8483600" y="2921000"/>
            <a:ext cx="2768600" cy="430887"/>
          </a:xfrm>
          <a:prstGeom prst="rect">
            <a:avLst/>
          </a:prstGeom>
          <a:noFill/>
        </p:spPr>
        <p:txBody>
          <a:bodyPr vert="horz" rtlCol="0">
            <a:spAutoFit/>
          </a:bodyPr>
          <a:lstStyle/>
          <a:p>
            <a:pPr algn="ctr"/>
            <a:r>
              <a:rPr kumimoji="1" lang="en-US" altLang="ja-JP" sz="2200" b="1">
                <a:latin typeface="BIZ UDPゴシック" panose="020B0400000000000000" pitchFamily="50" charset="-128"/>
                <a:ea typeface="BIZ UDPゴシック" panose="020B0400000000000000" pitchFamily="50" charset="-128"/>
              </a:rPr>
              <a:t>3  </a:t>
            </a:r>
            <a:r>
              <a:rPr kumimoji="1" lang="ja-JP" altLang="en-US" sz="2200" b="1">
                <a:latin typeface="BIZ UDPゴシック" panose="020B0400000000000000" pitchFamily="50" charset="-128"/>
                <a:ea typeface="BIZ UDPゴシック" panose="020B0400000000000000" pitchFamily="50" charset="-128"/>
              </a:rPr>
              <a:t>テストで確かめる</a:t>
            </a:r>
          </a:p>
        </p:txBody>
      </p:sp>
      <p:sp>
        <p:nvSpPr>
          <p:cNvPr id="69" name="テキスト ボックス 68">
            <a:extLst>
              <a:ext uri="{FF2B5EF4-FFF2-40B4-BE49-F238E27FC236}">
                <a16:creationId xmlns:a16="http://schemas.microsoft.com/office/drawing/2014/main" id="{13EEE787-B78F-8EBA-228E-926461DF7DA2}"/>
              </a:ext>
            </a:extLst>
          </p:cNvPr>
          <p:cNvSpPr txBox="1"/>
          <p:nvPr/>
        </p:nvSpPr>
        <p:spPr>
          <a:xfrm>
            <a:off x="1079500" y="3981256"/>
            <a:ext cx="2489200" cy="830997"/>
          </a:xfrm>
          <a:prstGeom prst="rect">
            <a:avLst/>
          </a:prstGeom>
          <a:noFill/>
        </p:spPr>
        <p:txBody>
          <a:bodyPr vert="horz" rtlCol="0">
            <a:spAutoFit/>
          </a:bodyPr>
          <a:lstStyle/>
          <a:p>
            <a:pPr algn="ctr"/>
            <a:r>
              <a:rPr lang="en-US" altLang="ja-JP" sz="1600" dirty="0">
                <a:latin typeface="BIZ UDPゴシック" panose="020B0400000000000000" pitchFamily="50" charset="-128"/>
                <a:ea typeface="BIZ UDPゴシック" panose="020B0400000000000000" pitchFamily="50" charset="-128"/>
              </a:rPr>
              <a:t>AI</a:t>
            </a:r>
            <a:r>
              <a:rPr lang="ja-JP" altLang="en-US" sz="1600" dirty="0">
                <a:latin typeface="BIZ UDPゴシック" panose="020B0400000000000000" pitchFamily="50" charset="-128"/>
                <a:ea typeface="BIZ UDPゴシック" panose="020B0400000000000000" pitchFamily="50" charset="-128"/>
              </a:rPr>
              <a:t>が</a:t>
            </a:r>
            <a:r>
              <a:rPr lang="en-US" altLang="ja-JP" sz="1600" dirty="0">
                <a:latin typeface="BIZ UDPゴシック" panose="020B0400000000000000" pitchFamily="50" charset="-128"/>
                <a:ea typeface="BIZ UDPゴシック" panose="020B0400000000000000" pitchFamily="50" charset="-128"/>
              </a:rPr>
              <a:t>1</a:t>
            </a:r>
            <a:r>
              <a:rPr lang="ja-JP" altLang="en-US" sz="1600" dirty="0">
                <a:latin typeface="BIZ UDPゴシック" panose="020B0400000000000000" pitchFamily="50" charset="-128"/>
                <a:ea typeface="BIZ UDPゴシック" panose="020B0400000000000000" pitchFamily="50" charset="-128"/>
              </a:rPr>
              <a:t>つずつ要件を深掘りし、質疑応答で要件の曖昧さを穴埋め</a:t>
            </a:r>
          </a:p>
        </p:txBody>
      </p:sp>
      <p:sp>
        <p:nvSpPr>
          <p:cNvPr id="72" name="四角形: 角を丸くする 71">
            <a:extLst>
              <a:ext uri="{FF2B5EF4-FFF2-40B4-BE49-F238E27FC236}">
                <a16:creationId xmlns:a16="http://schemas.microsoft.com/office/drawing/2014/main" id="{EC2061B9-B679-8E9E-D3A8-26D4D1A01E3B}"/>
              </a:ext>
            </a:extLst>
          </p:cNvPr>
          <p:cNvSpPr/>
          <p:nvPr/>
        </p:nvSpPr>
        <p:spPr>
          <a:xfrm>
            <a:off x="1321088" y="3605312"/>
            <a:ext cx="2006023" cy="330199"/>
          </a:xfrm>
          <a:prstGeom prst="roundRect">
            <a:avLst/>
          </a:prstGeom>
          <a:solidFill>
            <a:srgbClr val="F5F5F5"/>
          </a:solidFill>
          <a:ln>
            <a:solidFill>
              <a:srgbClr val="6485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dirty="0">
                <a:solidFill>
                  <a:schemeClr val="tx1"/>
                </a:solidFill>
                <a:latin typeface="Consolas" panose="020B0609020204030204" pitchFamily="49" charset="0"/>
              </a:rPr>
              <a:t>/grill-me</a:t>
            </a:r>
          </a:p>
        </p:txBody>
      </p:sp>
      <p:sp>
        <p:nvSpPr>
          <p:cNvPr id="73" name="テキスト ボックス 72">
            <a:extLst>
              <a:ext uri="{FF2B5EF4-FFF2-40B4-BE49-F238E27FC236}">
                <a16:creationId xmlns:a16="http://schemas.microsoft.com/office/drawing/2014/main" id="{65FC240B-75FC-A474-D96E-80C004B16DD5}"/>
              </a:ext>
            </a:extLst>
          </p:cNvPr>
          <p:cNvSpPr txBox="1"/>
          <p:nvPr/>
        </p:nvSpPr>
        <p:spPr>
          <a:xfrm>
            <a:off x="1079500" y="5371311"/>
            <a:ext cx="2489200" cy="830997"/>
          </a:xfrm>
          <a:prstGeom prst="rect">
            <a:avLst/>
          </a:prstGeom>
          <a:noFill/>
        </p:spPr>
        <p:txBody>
          <a:bodyPr vert="horz" rtlCol="0">
            <a:spAutoFit/>
          </a:bodyPr>
          <a:lstStyle/>
          <a:p>
            <a:pPr algn="ctr"/>
            <a:r>
              <a:rPr lang="ja-JP" altLang="en-US" sz="1600" dirty="0">
                <a:latin typeface="BIZ UDPゴシック" panose="020B0400000000000000" pitchFamily="50" charset="-128"/>
                <a:ea typeface="BIZ UDPゴシック" panose="020B0400000000000000" pitchFamily="50" charset="-128"/>
              </a:rPr>
              <a:t>質疑応答の過程で出た判断や用語定義をドキュメントとして残す</a:t>
            </a:r>
          </a:p>
        </p:txBody>
      </p:sp>
      <p:sp>
        <p:nvSpPr>
          <p:cNvPr id="74" name="四角形: 角を丸くする 73">
            <a:extLst>
              <a:ext uri="{FF2B5EF4-FFF2-40B4-BE49-F238E27FC236}">
                <a16:creationId xmlns:a16="http://schemas.microsoft.com/office/drawing/2014/main" id="{8C8032C1-2681-E814-1867-44E62BAB2B55}"/>
              </a:ext>
            </a:extLst>
          </p:cNvPr>
          <p:cNvSpPr/>
          <p:nvPr/>
        </p:nvSpPr>
        <p:spPr>
          <a:xfrm>
            <a:off x="1321088" y="4995367"/>
            <a:ext cx="2006023" cy="330199"/>
          </a:xfrm>
          <a:prstGeom prst="roundRect">
            <a:avLst/>
          </a:prstGeom>
          <a:solidFill>
            <a:srgbClr val="F5F5F5"/>
          </a:solidFill>
          <a:ln>
            <a:solidFill>
              <a:srgbClr val="6485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dirty="0">
                <a:solidFill>
                  <a:schemeClr val="tx1"/>
                </a:solidFill>
                <a:latin typeface="Consolas" panose="020B0609020204030204" pitchFamily="49" charset="0"/>
              </a:rPr>
              <a:t>/grill-with-docs</a:t>
            </a:r>
          </a:p>
        </p:txBody>
      </p:sp>
      <p:sp>
        <p:nvSpPr>
          <p:cNvPr id="75" name="テキスト ボックス 74">
            <a:extLst>
              <a:ext uri="{FF2B5EF4-FFF2-40B4-BE49-F238E27FC236}">
                <a16:creationId xmlns:a16="http://schemas.microsoft.com/office/drawing/2014/main" id="{5CCAEEE5-D45A-B58C-F8CB-0FE0799D84B7}"/>
              </a:ext>
            </a:extLst>
          </p:cNvPr>
          <p:cNvSpPr txBox="1"/>
          <p:nvPr/>
        </p:nvSpPr>
        <p:spPr>
          <a:xfrm>
            <a:off x="4851400" y="4027001"/>
            <a:ext cx="2489200" cy="830997"/>
          </a:xfrm>
          <a:prstGeom prst="rect">
            <a:avLst/>
          </a:prstGeom>
          <a:noFill/>
        </p:spPr>
        <p:txBody>
          <a:bodyPr vert="horz" rtlCol="0">
            <a:spAutoFit/>
          </a:bodyPr>
          <a:lstStyle/>
          <a:p>
            <a:pPr algn="ctr"/>
            <a:r>
              <a:rPr lang="ja-JP" altLang="en-US" sz="1600" dirty="0">
                <a:latin typeface="BIZ UDPゴシック" panose="020B0400000000000000" pitchFamily="50" charset="-128"/>
                <a:ea typeface="BIZ UDPゴシック" panose="020B0400000000000000" pitchFamily="50" charset="-128"/>
              </a:rPr>
              <a:t>合意した要件を、個別に確認できる実装単位へタスク分解</a:t>
            </a:r>
          </a:p>
        </p:txBody>
      </p:sp>
      <p:sp>
        <p:nvSpPr>
          <p:cNvPr id="76" name="四角形: 角を丸くする 75">
            <a:extLst>
              <a:ext uri="{FF2B5EF4-FFF2-40B4-BE49-F238E27FC236}">
                <a16:creationId xmlns:a16="http://schemas.microsoft.com/office/drawing/2014/main" id="{5D6CB51F-A81B-5BA4-3BFA-77AF69F479FC}"/>
              </a:ext>
            </a:extLst>
          </p:cNvPr>
          <p:cNvSpPr/>
          <p:nvPr/>
        </p:nvSpPr>
        <p:spPr>
          <a:xfrm>
            <a:off x="5092988" y="3651057"/>
            <a:ext cx="2006023" cy="330199"/>
          </a:xfrm>
          <a:prstGeom prst="roundRect">
            <a:avLst/>
          </a:prstGeom>
          <a:solidFill>
            <a:srgbClr val="F5F5F5"/>
          </a:solidFill>
          <a:ln>
            <a:solidFill>
              <a:srgbClr val="6485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dirty="0">
                <a:solidFill>
                  <a:schemeClr val="tx1"/>
                </a:solidFill>
                <a:latin typeface="Consolas" panose="020B0609020204030204" pitchFamily="49" charset="0"/>
              </a:rPr>
              <a:t>/to-tickets</a:t>
            </a:r>
          </a:p>
        </p:txBody>
      </p:sp>
      <p:sp>
        <p:nvSpPr>
          <p:cNvPr id="77" name="テキスト ボックス 76">
            <a:extLst>
              <a:ext uri="{FF2B5EF4-FFF2-40B4-BE49-F238E27FC236}">
                <a16:creationId xmlns:a16="http://schemas.microsoft.com/office/drawing/2014/main" id="{B41CEDC2-CEF6-8F98-5354-FA34FEDEBF21}"/>
              </a:ext>
            </a:extLst>
          </p:cNvPr>
          <p:cNvSpPr txBox="1"/>
          <p:nvPr/>
        </p:nvSpPr>
        <p:spPr>
          <a:xfrm>
            <a:off x="8623301" y="4027001"/>
            <a:ext cx="2489200" cy="1323439"/>
          </a:xfrm>
          <a:prstGeom prst="rect">
            <a:avLst/>
          </a:prstGeom>
          <a:noFill/>
        </p:spPr>
        <p:txBody>
          <a:bodyPr vert="horz" rtlCol="0">
            <a:spAutoFit/>
          </a:bodyPr>
          <a:lstStyle/>
          <a:p>
            <a:pPr algn="ctr"/>
            <a:r>
              <a:rPr lang="ja-JP" altLang="en-US" sz="1600" dirty="0">
                <a:latin typeface="BIZ UDPゴシック" panose="020B0400000000000000" pitchFamily="50" charset="-128"/>
                <a:ea typeface="BIZ UDPゴシック" panose="020B0400000000000000" pitchFamily="50" charset="-128"/>
              </a:rPr>
              <a:t>失敗するテストコードを書く→そのテストをパスするための実装コードを書く</a:t>
            </a:r>
            <a:endParaRPr lang="en-US" altLang="ja-JP" sz="1600" dirty="0">
              <a:latin typeface="BIZ UDPゴシック" panose="020B0400000000000000" pitchFamily="50" charset="-128"/>
              <a:ea typeface="BIZ UDPゴシック" panose="020B0400000000000000" pitchFamily="50" charset="-128"/>
            </a:endParaRPr>
          </a:p>
          <a:p>
            <a:pPr algn="ctr"/>
            <a:r>
              <a:rPr lang="ja-JP" altLang="en-US" sz="1600" dirty="0">
                <a:latin typeface="BIZ UDPゴシック" panose="020B0400000000000000" pitchFamily="50" charset="-128"/>
                <a:ea typeface="BIZ UDPゴシック" panose="020B0400000000000000" pitchFamily="50" charset="-128"/>
              </a:rPr>
              <a:t>を繰り返す</a:t>
            </a:r>
            <a:endParaRPr lang="en-US" altLang="ja-JP" sz="1600" dirty="0">
              <a:latin typeface="BIZ UDPゴシック" panose="020B0400000000000000" pitchFamily="50" charset="-128"/>
              <a:ea typeface="BIZ UDPゴシック" panose="020B0400000000000000" pitchFamily="50" charset="-128"/>
            </a:endParaRPr>
          </a:p>
          <a:p>
            <a:pPr algn="ctr"/>
            <a:r>
              <a:rPr lang="ja-JP" altLang="en-US" sz="1600" dirty="0">
                <a:latin typeface="BIZ UDPゴシック" panose="020B0400000000000000" pitchFamily="50" charset="-128"/>
                <a:ea typeface="BIZ UDPゴシック" panose="020B0400000000000000" pitchFamily="50" charset="-128"/>
              </a:rPr>
              <a:t>（テスト駆動開発）</a:t>
            </a:r>
          </a:p>
        </p:txBody>
      </p:sp>
      <p:sp>
        <p:nvSpPr>
          <p:cNvPr id="78" name="四角形: 角を丸くする 77">
            <a:extLst>
              <a:ext uri="{FF2B5EF4-FFF2-40B4-BE49-F238E27FC236}">
                <a16:creationId xmlns:a16="http://schemas.microsoft.com/office/drawing/2014/main" id="{F161B6AD-6292-4802-A3E3-417A94F6200E}"/>
              </a:ext>
            </a:extLst>
          </p:cNvPr>
          <p:cNvSpPr/>
          <p:nvPr/>
        </p:nvSpPr>
        <p:spPr>
          <a:xfrm>
            <a:off x="8864889" y="3651057"/>
            <a:ext cx="2006023" cy="330199"/>
          </a:xfrm>
          <a:prstGeom prst="roundRect">
            <a:avLst/>
          </a:prstGeom>
          <a:solidFill>
            <a:srgbClr val="F5F5F5"/>
          </a:solidFill>
          <a:ln>
            <a:solidFill>
              <a:srgbClr val="6485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dirty="0">
                <a:solidFill>
                  <a:schemeClr val="tx1"/>
                </a:solidFill>
                <a:latin typeface="Consolas" panose="020B0609020204030204" pitchFamily="49" charset="0"/>
              </a:rPr>
              <a:t>/</a:t>
            </a:r>
            <a:r>
              <a:rPr lang="en-US" altLang="ja-JP" sz="1600" dirty="0" err="1">
                <a:solidFill>
                  <a:schemeClr val="tx1"/>
                </a:solidFill>
                <a:latin typeface="Consolas" panose="020B0609020204030204" pitchFamily="49" charset="0"/>
              </a:rPr>
              <a:t>tdd</a:t>
            </a:r>
            <a:endParaRPr lang="en-US" altLang="ja-JP" sz="1600" dirty="0">
              <a:solidFill>
                <a:schemeClr val="tx1"/>
              </a:solidFill>
              <a:latin typeface="Consolas" panose="020B0609020204030204" pitchFamily="49" charset="0"/>
            </a:endParaRPr>
          </a:p>
        </p:txBody>
      </p:sp>
    </p:spTree>
    <p:extLst>
      <p:ext uri="{BB962C8B-B14F-4D97-AF65-F5344CB8AC3E}">
        <p14:creationId xmlns:p14="http://schemas.microsoft.com/office/powerpoint/2010/main" val="10848804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CF6632-68A0-F2C3-BA85-034CE076A8A6}"/>
            </a:ext>
          </a:extLst>
        </p:cNvPr>
        <p:cNvGrpSpPr/>
        <p:nvPr/>
      </p:nvGrpSpPr>
      <p:grpSpPr>
        <a:xfrm>
          <a:off x="0" y="0"/>
          <a:ext cx="0" cy="0"/>
          <a:chOff x="0" y="0"/>
          <a:chExt cx="0" cy="0"/>
        </a:xfrm>
      </p:grpSpPr>
      <p:pic>
        <p:nvPicPr>
          <p:cNvPr id="7" name="グラフィックス 6">
            <a:extLst>
              <a:ext uri="{FF2B5EF4-FFF2-40B4-BE49-F238E27FC236}">
                <a16:creationId xmlns:a16="http://schemas.microsoft.com/office/drawing/2014/main" id="{71D9968C-5272-8640-1119-5F67A86A808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18113" y="1547078"/>
            <a:ext cx="11340502" cy="4632036"/>
          </a:xfrm>
          <a:prstGeom prst="rect">
            <a:avLst/>
          </a:prstGeom>
        </p:spPr>
      </p:pic>
      <p:sp>
        <p:nvSpPr>
          <p:cNvPr id="2" name="テキスト ボックス 1">
            <a:extLst>
              <a:ext uri="{FF2B5EF4-FFF2-40B4-BE49-F238E27FC236}">
                <a16:creationId xmlns:a16="http://schemas.microsoft.com/office/drawing/2014/main" id="{0A7EA521-5090-515B-3E7D-4CB01F8B61D7}"/>
              </a:ext>
            </a:extLst>
          </p:cNvPr>
          <p:cNvSpPr txBox="1"/>
          <p:nvPr/>
        </p:nvSpPr>
        <p:spPr>
          <a:xfrm>
            <a:off x="685800" y="381000"/>
            <a:ext cx="10795000" cy="615553"/>
          </a:xfrm>
          <a:prstGeom prst="rect">
            <a:avLst/>
          </a:prstGeom>
          <a:noFill/>
        </p:spPr>
        <p:txBody>
          <a:bodyPr vert="horz" rtlCol="0">
            <a:spAutoFit/>
          </a:bodyPr>
          <a:lstStyle/>
          <a:p>
            <a:r>
              <a:rPr kumimoji="1" lang="ja-JP" altLang="en-US" sz="3400" b="1" dirty="0">
                <a:latin typeface="BIZ UDPゴシック" panose="020B0400000000000000" pitchFamily="50" charset="-128"/>
                <a:ea typeface="BIZ UDPゴシック" panose="020B0400000000000000" pitchFamily="50" charset="-128"/>
              </a:rPr>
              <a:t>開発プロセスのフロー</a:t>
            </a:r>
          </a:p>
        </p:txBody>
      </p:sp>
      <p:sp>
        <p:nvSpPr>
          <p:cNvPr id="3" name="テキスト ボックス 2">
            <a:extLst>
              <a:ext uri="{FF2B5EF4-FFF2-40B4-BE49-F238E27FC236}">
                <a16:creationId xmlns:a16="http://schemas.microsoft.com/office/drawing/2014/main" id="{334ADE79-964D-7B9E-89A0-B7FC238224D7}"/>
              </a:ext>
            </a:extLst>
          </p:cNvPr>
          <p:cNvSpPr txBox="1"/>
          <p:nvPr/>
        </p:nvSpPr>
        <p:spPr>
          <a:xfrm>
            <a:off x="736600" y="990600"/>
            <a:ext cx="10668000" cy="369332"/>
          </a:xfrm>
          <a:prstGeom prst="rect">
            <a:avLst/>
          </a:prstGeom>
          <a:noFill/>
        </p:spPr>
        <p:txBody>
          <a:bodyPr vert="horz" rtlCol="0">
            <a:spAutoFit/>
          </a:bodyPr>
          <a:lstStyle/>
          <a:p>
            <a:r>
              <a:rPr kumimoji="1" lang="ja-JP" altLang="en-US" dirty="0">
                <a:solidFill>
                  <a:srgbClr val="555555"/>
                </a:solidFill>
                <a:latin typeface="BIZ UDPゴシック" panose="020B0400000000000000" pitchFamily="50" charset="-128"/>
                <a:ea typeface="BIZ UDPゴシック" panose="020B0400000000000000" pitchFamily="50" charset="-128"/>
              </a:rPr>
              <a:t>画面を先につくり、処理は</a:t>
            </a:r>
            <a:r>
              <a:rPr kumimoji="1" lang="en-US" altLang="ja-JP" dirty="0">
                <a:solidFill>
                  <a:srgbClr val="555555"/>
                </a:solidFill>
                <a:latin typeface="BIZ UDPゴシック" panose="020B0400000000000000" pitchFamily="50" charset="-128"/>
                <a:ea typeface="BIZ UDPゴシック" panose="020B0400000000000000" pitchFamily="50" charset="-128"/>
              </a:rPr>
              <a:t>1</a:t>
            </a:r>
            <a:r>
              <a:rPr kumimoji="1" lang="ja-JP" altLang="en-US" dirty="0">
                <a:solidFill>
                  <a:srgbClr val="555555"/>
                </a:solidFill>
                <a:latin typeface="BIZ UDPゴシック" panose="020B0400000000000000" pitchFamily="50" charset="-128"/>
                <a:ea typeface="BIZ UDPゴシック" panose="020B0400000000000000" pitchFamily="50" charset="-128"/>
              </a:rPr>
              <a:t>つずつ、を繰り返す</a:t>
            </a:r>
          </a:p>
        </p:txBody>
      </p:sp>
      <p:sp>
        <p:nvSpPr>
          <p:cNvPr id="6" name="テキスト ボックス 5">
            <a:extLst>
              <a:ext uri="{FF2B5EF4-FFF2-40B4-BE49-F238E27FC236}">
                <a16:creationId xmlns:a16="http://schemas.microsoft.com/office/drawing/2014/main" id="{DB60F20B-6B19-EA47-B0E1-95FED754DAAE}"/>
              </a:ext>
            </a:extLst>
          </p:cNvPr>
          <p:cNvSpPr txBox="1"/>
          <p:nvPr/>
        </p:nvSpPr>
        <p:spPr>
          <a:xfrm>
            <a:off x="4324928" y="5944420"/>
            <a:ext cx="7533687" cy="307777"/>
          </a:xfrm>
          <a:prstGeom prst="rect">
            <a:avLst/>
          </a:prstGeom>
          <a:noFill/>
        </p:spPr>
        <p:txBody>
          <a:bodyPr vert="horz" wrap="square" rtlCol="0">
            <a:spAutoFit/>
          </a:bodyPr>
          <a:lstStyle/>
          <a:p>
            <a:r>
              <a:rPr kumimoji="1" lang="ja-JP" altLang="en-US" sz="1400" dirty="0">
                <a:solidFill>
                  <a:srgbClr val="555555"/>
                </a:solidFill>
                <a:latin typeface="BIZ UDPゴシック" panose="020B0400000000000000" pitchFamily="50" charset="-128"/>
                <a:ea typeface="BIZ UDPゴシック" panose="020B0400000000000000" pitchFamily="50" charset="-128"/>
              </a:rPr>
              <a:t>「処理」＝ 〇〇画面の△△ボタンを押したとき、のような利用者が確認できる振る舞いの単位</a:t>
            </a:r>
          </a:p>
        </p:txBody>
      </p:sp>
    </p:spTree>
    <p:extLst>
      <p:ext uri="{BB962C8B-B14F-4D97-AF65-F5344CB8AC3E}">
        <p14:creationId xmlns:p14="http://schemas.microsoft.com/office/powerpoint/2010/main" val="18356660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9FDFC5-8A29-2638-518C-9980CA34294F}"/>
            </a:ext>
          </a:extLst>
        </p:cNvPr>
        <p:cNvGrpSpPr/>
        <p:nvPr/>
      </p:nvGrpSpPr>
      <p:grpSpPr>
        <a:xfrm>
          <a:off x="0" y="0"/>
          <a:ext cx="0" cy="0"/>
          <a:chOff x="0" y="0"/>
          <a:chExt cx="0" cy="0"/>
        </a:xfrm>
      </p:grpSpPr>
      <p:pic>
        <p:nvPicPr>
          <p:cNvPr id="7" name="グラフィックス 6">
            <a:extLst>
              <a:ext uri="{FF2B5EF4-FFF2-40B4-BE49-F238E27FC236}">
                <a16:creationId xmlns:a16="http://schemas.microsoft.com/office/drawing/2014/main" id="{36E405D8-698C-3828-B48F-449373E88D7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18113" y="1547078"/>
            <a:ext cx="11340502" cy="4632036"/>
          </a:xfrm>
          <a:prstGeom prst="rect">
            <a:avLst/>
          </a:prstGeom>
        </p:spPr>
      </p:pic>
      <p:sp>
        <p:nvSpPr>
          <p:cNvPr id="2" name="テキスト ボックス 1">
            <a:extLst>
              <a:ext uri="{FF2B5EF4-FFF2-40B4-BE49-F238E27FC236}">
                <a16:creationId xmlns:a16="http://schemas.microsoft.com/office/drawing/2014/main" id="{80FE803C-3576-A677-F480-E40A53184859}"/>
              </a:ext>
            </a:extLst>
          </p:cNvPr>
          <p:cNvSpPr txBox="1"/>
          <p:nvPr/>
        </p:nvSpPr>
        <p:spPr>
          <a:xfrm>
            <a:off x="685800" y="381000"/>
            <a:ext cx="10795000" cy="615553"/>
          </a:xfrm>
          <a:prstGeom prst="rect">
            <a:avLst/>
          </a:prstGeom>
          <a:noFill/>
        </p:spPr>
        <p:txBody>
          <a:bodyPr vert="horz"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3400" b="1" i="0" u="none" strike="noStrike" kern="1200" cap="none" spc="0" normalizeH="0" baseline="0" noProof="0" dirty="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開発プロセスのフロー</a:t>
            </a:r>
          </a:p>
        </p:txBody>
      </p:sp>
      <p:sp>
        <p:nvSpPr>
          <p:cNvPr id="3" name="テキスト ボックス 2">
            <a:extLst>
              <a:ext uri="{FF2B5EF4-FFF2-40B4-BE49-F238E27FC236}">
                <a16:creationId xmlns:a16="http://schemas.microsoft.com/office/drawing/2014/main" id="{C157CC81-DADD-AD1C-0C1F-03F62A3C843A}"/>
              </a:ext>
            </a:extLst>
          </p:cNvPr>
          <p:cNvSpPr txBox="1"/>
          <p:nvPr/>
        </p:nvSpPr>
        <p:spPr>
          <a:xfrm>
            <a:off x="736600" y="990600"/>
            <a:ext cx="10668000" cy="369332"/>
          </a:xfrm>
          <a:prstGeom prst="rect">
            <a:avLst/>
          </a:prstGeom>
          <a:noFill/>
        </p:spPr>
        <p:txBody>
          <a:bodyPr vert="horz"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srgbClr val="555555"/>
                </a:solidFill>
                <a:effectLst/>
                <a:uLnTx/>
                <a:uFillTx/>
                <a:latin typeface="BIZ UDPゴシック" panose="020B0400000000000000" pitchFamily="50" charset="-128"/>
                <a:ea typeface="BIZ UDPゴシック" panose="020B0400000000000000" pitchFamily="50" charset="-128"/>
                <a:cs typeface="+mn-cs"/>
              </a:rPr>
              <a:t>画面を先につくり、処理は</a:t>
            </a:r>
            <a:r>
              <a:rPr kumimoji="1" lang="en-US" altLang="ja-JP" sz="1800" b="0" i="0" u="none" strike="noStrike" kern="1200" cap="none" spc="0" normalizeH="0" baseline="0" noProof="0" dirty="0">
                <a:ln>
                  <a:noFill/>
                </a:ln>
                <a:solidFill>
                  <a:srgbClr val="555555"/>
                </a:solidFill>
                <a:effectLst/>
                <a:uLnTx/>
                <a:uFillTx/>
                <a:latin typeface="BIZ UDPゴシック" panose="020B0400000000000000" pitchFamily="50" charset="-128"/>
                <a:ea typeface="BIZ UDPゴシック" panose="020B0400000000000000" pitchFamily="50" charset="-128"/>
                <a:cs typeface="+mn-cs"/>
              </a:rPr>
              <a:t>1</a:t>
            </a:r>
            <a:r>
              <a:rPr kumimoji="1" lang="ja-JP" altLang="en-US" sz="1800" b="0" i="0" u="none" strike="noStrike" kern="1200" cap="none" spc="0" normalizeH="0" baseline="0" noProof="0" dirty="0">
                <a:ln>
                  <a:noFill/>
                </a:ln>
                <a:solidFill>
                  <a:srgbClr val="555555"/>
                </a:solidFill>
                <a:effectLst/>
                <a:uLnTx/>
                <a:uFillTx/>
                <a:latin typeface="BIZ UDPゴシック" panose="020B0400000000000000" pitchFamily="50" charset="-128"/>
                <a:ea typeface="BIZ UDPゴシック" panose="020B0400000000000000" pitchFamily="50" charset="-128"/>
                <a:cs typeface="+mn-cs"/>
              </a:rPr>
              <a:t>つずつ、を繰り返す</a:t>
            </a:r>
          </a:p>
        </p:txBody>
      </p:sp>
      <p:sp>
        <p:nvSpPr>
          <p:cNvPr id="6" name="テキスト ボックス 5">
            <a:extLst>
              <a:ext uri="{FF2B5EF4-FFF2-40B4-BE49-F238E27FC236}">
                <a16:creationId xmlns:a16="http://schemas.microsoft.com/office/drawing/2014/main" id="{B195EF2A-1937-7962-6FB2-01553EDA53B8}"/>
              </a:ext>
            </a:extLst>
          </p:cNvPr>
          <p:cNvSpPr txBox="1"/>
          <p:nvPr/>
        </p:nvSpPr>
        <p:spPr>
          <a:xfrm>
            <a:off x="4324928" y="5944420"/>
            <a:ext cx="7533687" cy="307777"/>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srgbClr val="555555"/>
                </a:solidFill>
                <a:effectLst/>
                <a:uLnTx/>
                <a:uFillTx/>
                <a:latin typeface="BIZ UDPゴシック" panose="020B0400000000000000" pitchFamily="50" charset="-128"/>
                <a:ea typeface="BIZ UDPゴシック" panose="020B0400000000000000" pitchFamily="50" charset="-128"/>
                <a:cs typeface="+mn-cs"/>
              </a:rPr>
              <a:t>「処理」＝ 〇〇画面の△△ボタンを押したとき、のような利用者が確認できる振る舞いの単位</a:t>
            </a:r>
          </a:p>
        </p:txBody>
      </p:sp>
      <p:sp>
        <p:nvSpPr>
          <p:cNvPr id="12" name="フリーフォーム: 図形 11">
            <a:extLst>
              <a:ext uri="{FF2B5EF4-FFF2-40B4-BE49-F238E27FC236}">
                <a16:creationId xmlns:a16="http://schemas.microsoft.com/office/drawing/2014/main" id="{EBFA1ED4-DA7D-F15A-C46C-6F35CF7CA5E0}"/>
              </a:ext>
            </a:extLst>
          </p:cNvPr>
          <p:cNvSpPr/>
          <p:nvPr/>
        </p:nvSpPr>
        <p:spPr>
          <a:xfrm>
            <a:off x="-1" y="-1"/>
            <a:ext cx="12192000" cy="6858000"/>
          </a:xfrm>
          <a:custGeom>
            <a:avLst/>
            <a:gdLst>
              <a:gd name="csX0" fmla="*/ 755655 w 12192000"/>
              <a:gd name="csY0" fmla="*/ 2083812 h 6858000"/>
              <a:gd name="csX1" fmla="*/ 755655 w 12192000"/>
              <a:gd name="csY1" fmla="*/ 3122037 h 6858000"/>
              <a:gd name="csX2" fmla="*/ 4632331 w 12192000"/>
              <a:gd name="csY2" fmla="*/ 3122037 h 6858000"/>
              <a:gd name="csX3" fmla="*/ 4632331 w 12192000"/>
              <a:gd name="csY3" fmla="*/ 2083812 h 6858000"/>
              <a:gd name="csX4" fmla="*/ 0 w 12192000"/>
              <a:gd name="csY4" fmla="*/ 0 h 6858000"/>
              <a:gd name="csX5" fmla="*/ 12192000 w 12192000"/>
              <a:gd name="csY5" fmla="*/ 0 h 6858000"/>
              <a:gd name="csX6" fmla="*/ 12192000 w 12192000"/>
              <a:gd name="csY6" fmla="*/ 6858000 h 6858000"/>
              <a:gd name="csX7" fmla="*/ 0 w 12192000"/>
              <a:gd name="csY7"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6858000">
                <a:moveTo>
                  <a:pt x="755655" y="2083812"/>
                </a:moveTo>
                <a:lnTo>
                  <a:pt x="755655" y="3122037"/>
                </a:lnTo>
                <a:lnTo>
                  <a:pt x="4632331" y="3122037"/>
                </a:lnTo>
                <a:lnTo>
                  <a:pt x="4632331" y="2083812"/>
                </a:lnTo>
                <a:close/>
                <a:moveTo>
                  <a:pt x="0" y="0"/>
                </a:moveTo>
                <a:lnTo>
                  <a:pt x="12192000" y="0"/>
                </a:lnTo>
                <a:lnTo>
                  <a:pt x="12192000" y="6858000"/>
                </a:lnTo>
                <a:lnTo>
                  <a:pt x="0" y="6858000"/>
                </a:lnTo>
                <a:close/>
              </a:path>
            </a:pathLst>
          </a:custGeom>
          <a:solidFill>
            <a:srgbClr val="BFBFBF">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ja-JP" altLang="en-US"/>
          </a:p>
        </p:txBody>
      </p:sp>
    </p:spTree>
    <p:extLst>
      <p:ext uri="{BB962C8B-B14F-4D97-AF65-F5344CB8AC3E}">
        <p14:creationId xmlns:p14="http://schemas.microsoft.com/office/powerpoint/2010/main" val="29059175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CF6632-68A0-F2C3-BA85-034CE076A8A6}"/>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0A7EA521-5090-515B-3E7D-4CB01F8B61D7}"/>
              </a:ext>
            </a:extLst>
          </p:cNvPr>
          <p:cNvSpPr txBox="1"/>
          <p:nvPr/>
        </p:nvSpPr>
        <p:spPr>
          <a:xfrm>
            <a:off x="685800" y="381000"/>
            <a:ext cx="10795000" cy="615553"/>
          </a:xfrm>
          <a:prstGeom prst="rect">
            <a:avLst/>
          </a:prstGeom>
          <a:noFill/>
        </p:spPr>
        <p:txBody>
          <a:bodyPr vert="horz" rtlCol="0">
            <a:spAutoFit/>
          </a:bodyPr>
          <a:lstStyle/>
          <a:p>
            <a:r>
              <a:rPr lang="ja-JP" altLang="en-US" sz="3400" b="1" dirty="0">
                <a:latin typeface="BIZ UDPゴシック" panose="020B0400000000000000" pitchFamily="50" charset="-128"/>
                <a:ea typeface="BIZ UDPゴシック" panose="020B0400000000000000" pitchFamily="50" charset="-128"/>
              </a:rPr>
              <a:t>プロンプト例</a:t>
            </a:r>
            <a:endParaRPr kumimoji="1" lang="ja-JP" altLang="en-US" sz="3400" b="1" dirty="0">
              <a:latin typeface="BIZ UDPゴシック" panose="020B0400000000000000" pitchFamily="50" charset="-128"/>
              <a:ea typeface="BIZ UDPゴシック" panose="020B0400000000000000" pitchFamily="50" charset="-128"/>
            </a:endParaRPr>
          </a:p>
        </p:txBody>
      </p:sp>
      <p:sp>
        <p:nvSpPr>
          <p:cNvPr id="3" name="テキスト ボックス 2">
            <a:extLst>
              <a:ext uri="{FF2B5EF4-FFF2-40B4-BE49-F238E27FC236}">
                <a16:creationId xmlns:a16="http://schemas.microsoft.com/office/drawing/2014/main" id="{334ADE79-964D-7B9E-89A0-B7FC238224D7}"/>
              </a:ext>
            </a:extLst>
          </p:cNvPr>
          <p:cNvSpPr txBox="1"/>
          <p:nvPr/>
        </p:nvSpPr>
        <p:spPr>
          <a:xfrm>
            <a:off x="736600" y="990600"/>
            <a:ext cx="10668000" cy="369332"/>
          </a:xfrm>
          <a:prstGeom prst="rect">
            <a:avLst/>
          </a:prstGeom>
          <a:noFill/>
        </p:spPr>
        <p:txBody>
          <a:bodyPr vert="horz" rtlCol="0">
            <a:spAutoFit/>
          </a:bodyPr>
          <a:lstStyle/>
          <a:p>
            <a:r>
              <a:rPr kumimoji="1" lang="en-US" altLang="ja-JP" dirty="0">
                <a:solidFill>
                  <a:srgbClr val="555555"/>
                </a:solidFill>
                <a:latin typeface="BIZ UDPゴシック" panose="020B0400000000000000" pitchFamily="50" charset="-128"/>
                <a:ea typeface="BIZ UDPゴシック" panose="020B0400000000000000" pitchFamily="50" charset="-128"/>
              </a:rPr>
              <a:t>/grill-me</a:t>
            </a:r>
            <a:r>
              <a:rPr kumimoji="1" lang="ja-JP" altLang="en-US" dirty="0">
                <a:solidFill>
                  <a:srgbClr val="555555"/>
                </a:solidFill>
                <a:latin typeface="BIZ UDPゴシック" panose="020B0400000000000000" pitchFamily="50" charset="-128"/>
                <a:ea typeface="BIZ UDPゴシック" panose="020B0400000000000000" pitchFamily="50" charset="-128"/>
              </a:rPr>
              <a:t>スキルを使用せず、チャットで同様のプロンプトを実行することでも、要件の詳細化が可能</a:t>
            </a:r>
          </a:p>
        </p:txBody>
      </p:sp>
      <p:sp>
        <p:nvSpPr>
          <p:cNvPr id="5" name="四角形: 角を丸くする 4">
            <a:extLst>
              <a:ext uri="{FF2B5EF4-FFF2-40B4-BE49-F238E27FC236}">
                <a16:creationId xmlns:a16="http://schemas.microsoft.com/office/drawing/2014/main" id="{67978D60-BF82-F7BE-7DBA-F01789C11AC1}"/>
              </a:ext>
            </a:extLst>
          </p:cNvPr>
          <p:cNvSpPr/>
          <p:nvPr/>
        </p:nvSpPr>
        <p:spPr>
          <a:xfrm>
            <a:off x="857249" y="1733550"/>
            <a:ext cx="2857501" cy="551020"/>
          </a:xfrm>
          <a:prstGeom prst="roundRect">
            <a:avLst>
              <a:gd name="adj" fmla="val 14600"/>
            </a:avLst>
          </a:prstGeom>
        </p:spPr>
        <p:style>
          <a:lnRef idx="2">
            <a:schemeClr val="dk1"/>
          </a:lnRef>
          <a:fillRef idx="1">
            <a:schemeClr val="lt1"/>
          </a:fillRef>
          <a:effectRef idx="0">
            <a:schemeClr val="dk1"/>
          </a:effectRef>
          <a:fontRef idx="minor">
            <a:schemeClr val="dk1"/>
          </a:fontRef>
        </p:style>
        <p:txBody>
          <a:bodyPr rtlCol="0" anchor="t" anchorCtr="0"/>
          <a:lstStyle/>
          <a:p>
            <a:pPr algn="ctr"/>
            <a:r>
              <a:rPr kumimoji="1" lang="ja-JP" altLang="en-US" dirty="0">
                <a:latin typeface="BIZ UDPゴシック" panose="020B0400000000000000" pitchFamily="50" charset="-128"/>
                <a:ea typeface="BIZ UDPゴシック" panose="020B0400000000000000" pitchFamily="50" charset="-128"/>
              </a:rPr>
              <a:t>生成</a:t>
            </a:r>
            <a:r>
              <a:rPr kumimoji="1" lang="en-US" altLang="ja-JP" dirty="0">
                <a:latin typeface="BIZ UDPゴシック" panose="020B0400000000000000" pitchFamily="50" charset="-128"/>
                <a:ea typeface="BIZ UDPゴシック" panose="020B0400000000000000" pitchFamily="50" charset="-128"/>
              </a:rPr>
              <a:t>AI</a:t>
            </a:r>
            <a:r>
              <a:rPr kumimoji="1" lang="ja-JP" altLang="en-US" dirty="0">
                <a:latin typeface="BIZ UDPゴシック" panose="020B0400000000000000" pitchFamily="50" charset="-128"/>
                <a:ea typeface="BIZ UDPゴシック" panose="020B0400000000000000" pitchFamily="50" charset="-128"/>
              </a:rPr>
              <a:t>チャット</a:t>
            </a:r>
          </a:p>
        </p:txBody>
      </p:sp>
      <p:sp>
        <p:nvSpPr>
          <p:cNvPr id="8" name="四角形: 角を丸くする 7">
            <a:extLst>
              <a:ext uri="{FF2B5EF4-FFF2-40B4-BE49-F238E27FC236}">
                <a16:creationId xmlns:a16="http://schemas.microsoft.com/office/drawing/2014/main" id="{3D886A06-03BD-737D-49E4-34CF87ABE7EB}"/>
              </a:ext>
            </a:extLst>
          </p:cNvPr>
          <p:cNvSpPr/>
          <p:nvPr/>
        </p:nvSpPr>
        <p:spPr>
          <a:xfrm>
            <a:off x="857249" y="2177652"/>
            <a:ext cx="10668000" cy="4385073"/>
          </a:xfrm>
          <a:prstGeom prst="roundRect">
            <a:avLst>
              <a:gd name="adj" fmla="val 1987"/>
            </a:avLst>
          </a:prstGeom>
          <a:solidFill>
            <a:schemeClr val="bg2">
              <a:lumMod val="25000"/>
            </a:schemeClr>
          </a:solidFill>
        </p:spPr>
        <p:style>
          <a:lnRef idx="2">
            <a:schemeClr val="dk1"/>
          </a:lnRef>
          <a:fillRef idx="1">
            <a:schemeClr val="lt1"/>
          </a:fillRef>
          <a:effectRef idx="0">
            <a:schemeClr val="dk1"/>
          </a:effectRef>
          <a:fontRef idx="minor">
            <a:schemeClr val="dk1"/>
          </a:fontRef>
        </p:style>
        <p:txBody>
          <a:bodyPr rtlCol="0" anchor="t" anchorCtr="0"/>
          <a:lstStyle/>
          <a:p>
            <a:r>
              <a:rPr kumimoji="1" lang="ja-JP" altLang="en-US"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提示するテーマに対し、あらゆる側面について、私たちが共通理解に達するまで徹底的に質問してください。決定ツリーの各枝をたどり、決定事項間の依存関係を一つずつ解決していきましょう。それぞれの質問に対して、あなたの推奨する回答を提示してください。一度に複数の質問をすると、混乱を招く可能性があります。質問は一つずつ行い、それぞれの質問に対する回答を待ってから次の質問に進んでください。</a:t>
            </a:r>
          </a:p>
          <a:p>
            <a:r>
              <a:rPr kumimoji="1" lang="ja-JP" altLang="en-US"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参照可能な情報を調べることで分かる事実であれば、私に尋ねるのではなく、自分で調べてください。ただし、最終的な決定権は私にあります。一つ一つ私に尋ねて、私の回答をお待ちください。双方の合意が得られたことを確認するまでは、総括しないでください。総括のタイミングは私が指示します。しかし、議論の間、決定事項を忘れないよう、質問と回答のターンごとに、それまでの議論ポイントと決定事項を簡潔に箇条書きにして提示してください。</a:t>
            </a:r>
          </a:p>
          <a:p>
            <a:r>
              <a:rPr kumimoji="1" lang="ja-JP" altLang="en-US"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それでは始めましょう。テーマは次の通りです。</a:t>
            </a:r>
          </a:p>
          <a:p>
            <a:r>
              <a:rPr kumimoji="1" lang="en-US" altLang="ja-JP"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a:t>
            </a:r>
          </a:p>
          <a:p>
            <a:r>
              <a:rPr kumimoji="1" lang="ja-JP" altLang="en-US"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コーディングエージェントに画面の生成を指示するための要件を整理したい。</a:t>
            </a:r>
          </a:p>
          <a:p>
            <a:r>
              <a:rPr kumimoji="1" lang="ja-JP" altLang="en-US"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現状で想定している要件は：</a:t>
            </a:r>
          </a:p>
          <a:p>
            <a:pPr marL="285750" indent="-285750">
              <a:buFontTx/>
              <a:buChar char="-"/>
            </a:pPr>
            <a:r>
              <a:rPr kumimoji="1" lang="en-US" altLang="ja-JP"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next.js</a:t>
            </a:r>
            <a:r>
              <a:rPr kumimoji="1" lang="ja-JP" altLang="en-US"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で実装</a:t>
            </a:r>
            <a:endParaRPr kumimoji="1" lang="en-US" altLang="ja-JP"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endParaRPr>
          </a:p>
          <a:p>
            <a:r>
              <a:rPr kumimoji="1" lang="en-US" altLang="ja-JP"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 </a:t>
            </a:r>
            <a:r>
              <a:rPr kumimoji="1" lang="ja-JP" altLang="en-US"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スマホでの操作性を想定し、垂直分割はなし。</a:t>
            </a:r>
          </a:p>
          <a:p>
            <a:r>
              <a:rPr kumimoji="1" lang="en-US" altLang="ja-JP"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 WIFI</a:t>
            </a:r>
            <a:r>
              <a:rPr kumimoji="1" lang="ja-JP" altLang="en-US"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ルータを管理するアプリの一部であり、</a:t>
            </a:r>
            <a:r>
              <a:rPr kumimoji="1" lang="en-US" altLang="ja-JP"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WIFI</a:t>
            </a:r>
            <a:r>
              <a:rPr kumimoji="1" lang="ja-JP" altLang="en-US"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ルータに接続を許可する</a:t>
            </a:r>
            <a:r>
              <a:rPr kumimoji="1" lang="en-US" altLang="ja-JP"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MAC</a:t>
            </a:r>
            <a:r>
              <a:rPr kumimoji="1" lang="ja-JP" altLang="en-US"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アドレスの一覧を表示しつつ、アドレスごとの許可・不許可をスイッチボタンで</a:t>
            </a:r>
            <a:endParaRPr kumimoji="1" lang="en-US" altLang="ja-JP"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endParaRPr>
          </a:p>
          <a:p>
            <a:r>
              <a:rPr kumimoji="1" lang="en-US" altLang="ja-JP"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a:t>
            </a:r>
          </a:p>
        </p:txBody>
      </p:sp>
    </p:spTree>
    <p:extLst>
      <p:ext uri="{BB962C8B-B14F-4D97-AF65-F5344CB8AC3E}">
        <p14:creationId xmlns:p14="http://schemas.microsoft.com/office/powerpoint/2010/main" val="5407146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7C9293-1424-83EA-ABF0-6269D4B8F45B}"/>
            </a:ext>
          </a:extLst>
        </p:cNvPr>
        <p:cNvGrpSpPr/>
        <p:nvPr/>
      </p:nvGrpSpPr>
      <p:grpSpPr>
        <a:xfrm>
          <a:off x="0" y="0"/>
          <a:ext cx="0" cy="0"/>
          <a:chOff x="0" y="0"/>
          <a:chExt cx="0" cy="0"/>
        </a:xfrm>
      </p:grpSpPr>
      <p:pic>
        <p:nvPicPr>
          <p:cNvPr id="7" name="グラフィックス 6">
            <a:extLst>
              <a:ext uri="{FF2B5EF4-FFF2-40B4-BE49-F238E27FC236}">
                <a16:creationId xmlns:a16="http://schemas.microsoft.com/office/drawing/2014/main" id="{48FFDBF0-93C0-13BF-1781-4A29D284C00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18113" y="1547078"/>
            <a:ext cx="11340502" cy="4632036"/>
          </a:xfrm>
          <a:prstGeom prst="rect">
            <a:avLst/>
          </a:prstGeom>
        </p:spPr>
      </p:pic>
      <p:sp>
        <p:nvSpPr>
          <p:cNvPr id="2" name="テキスト ボックス 1">
            <a:extLst>
              <a:ext uri="{FF2B5EF4-FFF2-40B4-BE49-F238E27FC236}">
                <a16:creationId xmlns:a16="http://schemas.microsoft.com/office/drawing/2014/main" id="{E678721A-1A4B-C214-CF3A-50D034F2E737}"/>
              </a:ext>
            </a:extLst>
          </p:cNvPr>
          <p:cNvSpPr txBox="1"/>
          <p:nvPr/>
        </p:nvSpPr>
        <p:spPr>
          <a:xfrm>
            <a:off x="685800" y="381000"/>
            <a:ext cx="10795000" cy="615553"/>
          </a:xfrm>
          <a:prstGeom prst="rect">
            <a:avLst/>
          </a:prstGeom>
          <a:noFill/>
        </p:spPr>
        <p:txBody>
          <a:bodyPr vert="horz"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3400" b="1" i="0" u="none" strike="noStrike" kern="1200" cap="none" spc="0" normalizeH="0" baseline="0" noProof="0" dirty="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開発プロセスのフロー</a:t>
            </a:r>
          </a:p>
        </p:txBody>
      </p:sp>
      <p:sp>
        <p:nvSpPr>
          <p:cNvPr id="3" name="テキスト ボックス 2">
            <a:extLst>
              <a:ext uri="{FF2B5EF4-FFF2-40B4-BE49-F238E27FC236}">
                <a16:creationId xmlns:a16="http://schemas.microsoft.com/office/drawing/2014/main" id="{0920F612-55F3-2998-D82C-D55F6371D500}"/>
              </a:ext>
            </a:extLst>
          </p:cNvPr>
          <p:cNvSpPr txBox="1"/>
          <p:nvPr/>
        </p:nvSpPr>
        <p:spPr>
          <a:xfrm>
            <a:off x="736600" y="990600"/>
            <a:ext cx="10668000" cy="369332"/>
          </a:xfrm>
          <a:prstGeom prst="rect">
            <a:avLst/>
          </a:prstGeom>
          <a:noFill/>
        </p:spPr>
        <p:txBody>
          <a:bodyPr vert="horz"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srgbClr val="555555"/>
                </a:solidFill>
                <a:effectLst/>
                <a:uLnTx/>
                <a:uFillTx/>
                <a:latin typeface="BIZ UDPゴシック" panose="020B0400000000000000" pitchFamily="50" charset="-128"/>
                <a:ea typeface="BIZ UDPゴシック" panose="020B0400000000000000" pitchFamily="50" charset="-128"/>
                <a:cs typeface="+mn-cs"/>
              </a:rPr>
              <a:t>画面を先につくり、処理は</a:t>
            </a:r>
            <a:r>
              <a:rPr kumimoji="1" lang="en-US" altLang="ja-JP" sz="1800" b="0" i="0" u="none" strike="noStrike" kern="1200" cap="none" spc="0" normalizeH="0" baseline="0" noProof="0" dirty="0">
                <a:ln>
                  <a:noFill/>
                </a:ln>
                <a:solidFill>
                  <a:srgbClr val="555555"/>
                </a:solidFill>
                <a:effectLst/>
                <a:uLnTx/>
                <a:uFillTx/>
                <a:latin typeface="BIZ UDPゴシック" panose="020B0400000000000000" pitchFamily="50" charset="-128"/>
                <a:ea typeface="BIZ UDPゴシック" panose="020B0400000000000000" pitchFamily="50" charset="-128"/>
                <a:cs typeface="+mn-cs"/>
              </a:rPr>
              <a:t>1</a:t>
            </a:r>
            <a:r>
              <a:rPr kumimoji="1" lang="ja-JP" altLang="en-US" sz="1800" b="0" i="0" u="none" strike="noStrike" kern="1200" cap="none" spc="0" normalizeH="0" baseline="0" noProof="0" dirty="0">
                <a:ln>
                  <a:noFill/>
                </a:ln>
                <a:solidFill>
                  <a:srgbClr val="555555"/>
                </a:solidFill>
                <a:effectLst/>
                <a:uLnTx/>
                <a:uFillTx/>
                <a:latin typeface="BIZ UDPゴシック" panose="020B0400000000000000" pitchFamily="50" charset="-128"/>
                <a:ea typeface="BIZ UDPゴシック" panose="020B0400000000000000" pitchFamily="50" charset="-128"/>
                <a:cs typeface="+mn-cs"/>
              </a:rPr>
              <a:t>つずつ、を繰り返す</a:t>
            </a:r>
          </a:p>
        </p:txBody>
      </p:sp>
      <p:sp>
        <p:nvSpPr>
          <p:cNvPr id="6" name="テキスト ボックス 5">
            <a:extLst>
              <a:ext uri="{FF2B5EF4-FFF2-40B4-BE49-F238E27FC236}">
                <a16:creationId xmlns:a16="http://schemas.microsoft.com/office/drawing/2014/main" id="{EAA6261E-5B63-BD89-CF46-00C13F110EC7}"/>
              </a:ext>
            </a:extLst>
          </p:cNvPr>
          <p:cNvSpPr txBox="1"/>
          <p:nvPr/>
        </p:nvSpPr>
        <p:spPr>
          <a:xfrm>
            <a:off x="4324928" y="5944420"/>
            <a:ext cx="7533687" cy="307777"/>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srgbClr val="555555"/>
                </a:solidFill>
                <a:effectLst/>
                <a:uLnTx/>
                <a:uFillTx/>
                <a:latin typeface="BIZ UDPゴシック" panose="020B0400000000000000" pitchFamily="50" charset="-128"/>
                <a:ea typeface="BIZ UDPゴシック" panose="020B0400000000000000" pitchFamily="50" charset="-128"/>
                <a:cs typeface="+mn-cs"/>
              </a:rPr>
              <a:t>「処理」＝ 〇〇画面の△△ボタンを押したとき、のような利用者が確認できる振る舞いの単位</a:t>
            </a:r>
          </a:p>
        </p:txBody>
      </p:sp>
      <p:sp>
        <p:nvSpPr>
          <p:cNvPr id="4" name="フリーフォーム: 図形 3">
            <a:extLst>
              <a:ext uri="{FF2B5EF4-FFF2-40B4-BE49-F238E27FC236}">
                <a16:creationId xmlns:a16="http://schemas.microsoft.com/office/drawing/2014/main" id="{FCBDB66C-4CBE-DE92-C630-A2FD6582E3C3}"/>
              </a:ext>
            </a:extLst>
          </p:cNvPr>
          <p:cNvSpPr/>
          <p:nvPr/>
        </p:nvSpPr>
        <p:spPr>
          <a:xfrm>
            <a:off x="-1" y="-1"/>
            <a:ext cx="12192000" cy="6858000"/>
          </a:xfrm>
          <a:custGeom>
            <a:avLst/>
            <a:gdLst>
              <a:gd name="csX0" fmla="*/ 4946655 w 12192000"/>
              <a:gd name="csY0" fmla="*/ 2083812 h 6858000"/>
              <a:gd name="csX1" fmla="*/ 4946655 w 12192000"/>
              <a:gd name="csY1" fmla="*/ 3122037 h 6858000"/>
              <a:gd name="csX2" fmla="*/ 8823330 w 12192000"/>
              <a:gd name="csY2" fmla="*/ 3122037 h 6858000"/>
              <a:gd name="csX3" fmla="*/ 8823330 w 12192000"/>
              <a:gd name="csY3" fmla="*/ 2083812 h 6858000"/>
              <a:gd name="csX4" fmla="*/ 0 w 12192000"/>
              <a:gd name="csY4" fmla="*/ 0 h 6858000"/>
              <a:gd name="csX5" fmla="*/ 12192000 w 12192000"/>
              <a:gd name="csY5" fmla="*/ 0 h 6858000"/>
              <a:gd name="csX6" fmla="*/ 12192000 w 12192000"/>
              <a:gd name="csY6" fmla="*/ 6858000 h 6858000"/>
              <a:gd name="csX7" fmla="*/ 0 w 12192000"/>
              <a:gd name="csY7"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6858000">
                <a:moveTo>
                  <a:pt x="4946655" y="2083812"/>
                </a:moveTo>
                <a:lnTo>
                  <a:pt x="4946655" y="3122037"/>
                </a:lnTo>
                <a:lnTo>
                  <a:pt x="8823330" y="3122037"/>
                </a:lnTo>
                <a:lnTo>
                  <a:pt x="8823330" y="2083812"/>
                </a:lnTo>
                <a:close/>
                <a:moveTo>
                  <a:pt x="0" y="0"/>
                </a:moveTo>
                <a:lnTo>
                  <a:pt x="12192000" y="0"/>
                </a:lnTo>
                <a:lnTo>
                  <a:pt x="12192000" y="6858000"/>
                </a:lnTo>
                <a:lnTo>
                  <a:pt x="0" y="6858000"/>
                </a:lnTo>
                <a:close/>
              </a:path>
            </a:pathLst>
          </a:custGeom>
          <a:solidFill>
            <a:srgbClr val="BFBFBF">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ja-JP" altLang="en-US"/>
          </a:p>
        </p:txBody>
      </p:sp>
    </p:spTree>
    <p:extLst>
      <p:ext uri="{BB962C8B-B14F-4D97-AF65-F5344CB8AC3E}">
        <p14:creationId xmlns:p14="http://schemas.microsoft.com/office/powerpoint/2010/main" val="5567619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CF6632-68A0-F2C3-BA85-034CE076A8A6}"/>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0A7EA521-5090-515B-3E7D-4CB01F8B61D7}"/>
              </a:ext>
            </a:extLst>
          </p:cNvPr>
          <p:cNvSpPr txBox="1"/>
          <p:nvPr/>
        </p:nvSpPr>
        <p:spPr>
          <a:xfrm>
            <a:off x="685800" y="381000"/>
            <a:ext cx="10795000" cy="615553"/>
          </a:xfrm>
          <a:prstGeom prst="rect">
            <a:avLst/>
          </a:prstGeom>
          <a:noFill/>
        </p:spPr>
        <p:txBody>
          <a:bodyPr vert="horz" rtlCol="0">
            <a:spAutoFit/>
          </a:bodyPr>
          <a:lstStyle/>
          <a:p>
            <a:r>
              <a:rPr lang="ja-JP" altLang="en-US" sz="3400" b="1" dirty="0">
                <a:latin typeface="BIZ UDPゴシック" panose="020B0400000000000000" pitchFamily="50" charset="-128"/>
                <a:ea typeface="BIZ UDPゴシック" panose="020B0400000000000000" pitchFamily="50" charset="-128"/>
              </a:rPr>
              <a:t>プロンプト例</a:t>
            </a:r>
            <a:endParaRPr kumimoji="1" lang="ja-JP" altLang="en-US" sz="3400" b="1" dirty="0">
              <a:latin typeface="BIZ UDPゴシック" panose="020B0400000000000000" pitchFamily="50" charset="-128"/>
              <a:ea typeface="BIZ UDPゴシック" panose="020B0400000000000000" pitchFamily="50" charset="-128"/>
            </a:endParaRPr>
          </a:p>
        </p:txBody>
      </p:sp>
      <p:sp>
        <p:nvSpPr>
          <p:cNvPr id="3" name="テキスト ボックス 2">
            <a:extLst>
              <a:ext uri="{FF2B5EF4-FFF2-40B4-BE49-F238E27FC236}">
                <a16:creationId xmlns:a16="http://schemas.microsoft.com/office/drawing/2014/main" id="{334ADE79-964D-7B9E-89A0-B7FC238224D7}"/>
              </a:ext>
            </a:extLst>
          </p:cNvPr>
          <p:cNvSpPr txBox="1"/>
          <p:nvPr/>
        </p:nvSpPr>
        <p:spPr>
          <a:xfrm>
            <a:off x="736600" y="990600"/>
            <a:ext cx="10668000" cy="369332"/>
          </a:xfrm>
          <a:prstGeom prst="rect">
            <a:avLst/>
          </a:prstGeom>
          <a:noFill/>
        </p:spPr>
        <p:txBody>
          <a:bodyPr vert="horz" rtlCol="0">
            <a:spAutoFit/>
          </a:bodyPr>
          <a:lstStyle/>
          <a:p>
            <a:r>
              <a:rPr kumimoji="1" lang="ja-JP" altLang="en-US" dirty="0">
                <a:solidFill>
                  <a:srgbClr val="555555"/>
                </a:solidFill>
                <a:latin typeface="BIZ UDPゴシック" panose="020B0400000000000000" pitchFamily="50" charset="-128"/>
                <a:ea typeface="BIZ UDPゴシック" panose="020B0400000000000000" pitchFamily="50" charset="-128"/>
              </a:rPr>
              <a:t>前作業でテキスト化した要件をスキルに渡すだけでフロントエンド実装が行われる</a:t>
            </a:r>
          </a:p>
        </p:txBody>
      </p:sp>
      <p:sp>
        <p:nvSpPr>
          <p:cNvPr id="5" name="四角形: 角を丸くする 4">
            <a:extLst>
              <a:ext uri="{FF2B5EF4-FFF2-40B4-BE49-F238E27FC236}">
                <a16:creationId xmlns:a16="http://schemas.microsoft.com/office/drawing/2014/main" id="{67978D60-BF82-F7BE-7DBA-F01789C11AC1}"/>
              </a:ext>
            </a:extLst>
          </p:cNvPr>
          <p:cNvSpPr/>
          <p:nvPr/>
        </p:nvSpPr>
        <p:spPr>
          <a:xfrm>
            <a:off x="857249" y="1733550"/>
            <a:ext cx="2857501" cy="551020"/>
          </a:xfrm>
          <a:prstGeom prst="roundRect">
            <a:avLst>
              <a:gd name="adj" fmla="val 14600"/>
            </a:avLst>
          </a:prstGeom>
        </p:spPr>
        <p:style>
          <a:lnRef idx="2">
            <a:schemeClr val="dk1"/>
          </a:lnRef>
          <a:fillRef idx="1">
            <a:schemeClr val="lt1"/>
          </a:fillRef>
          <a:effectRef idx="0">
            <a:schemeClr val="dk1"/>
          </a:effectRef>
          <a:fontRef idx="minor">
            <a:schemeClr val="dk1"/>
          </a:fontRef>
        </p:style>
        <p:txBody>
          <a:bodyPr rtlCol="0" anchor="t" anchorCtr="0"/>
          <a:lstStyle/>
          <a:p>
            <a:pPr algn="ctr"/>
            <a:r>
              <a:rPr kumimoji="1" lang="ja-JP" altLang="en-US" dirty="0">
                <a:latin typeface="BIZ UDPゴシック" panose="020B0400000000000000" pitchFamily="50" charset="-128"/>
                <a:ea typeface="BIZ UDPゴシック" panose="020B0400000000000000" pitchFamily="50" charset="-128"/>
              </a:rPr>
              <a:t>コーディングエージェント</a:t>
            </a:r>
          </a:p>
        </p:txBody>
      </p:sp>
      <p:sp>
        <p:nvSpPr>
          <p:cNvPr id="8" name="四角形: 角を丸くする 7">
            <a:extLst>
              <a:ext uri="{FF2B5EF4-FFF2-40B4-BE49-F238E27FC236}">
                <a16:creationId xmlns:a16="http://schemas.microsoft.com/office/drawing/2014/main" id="{3D886A06-03BD-737D-49E4-34CF87ABE7EB}"/>
              </a:ext>
            </a:extLst>
          </p:cNvPr>
          <p:cNvSpPr/>
          <p:nvPr/>
        </p:nvSpPr>
        <p:spPr>
          <a:xfrm>
            <a:off x="857249" y="2177652"/>
            <a:ext cx="10668000" cy="689373"/>
          </a:xfrm>
          <a:prstGeom prst="roundRect">
            <a:avLst>
              <a:gd name="adj" fmla="val 1987"/>
            </a:avLst>
          </a:prstGeom>
          <a:solidFill>
            <a:schemeClr val="bg2">
              <a:lumMod val="25000"/>
            </a:schemeClr>
          </a:solidFill>
        </p:spPr>
        <p:style>
          <a:lnRef idx="2">
            <a:schemeClr val="dk1"/>
          </a:lnRef>
          <a:fillRef idx="1">
            <a:schemeClr val="lt1"/>
          </a:fillRef>
          <a:effectRef idx="0">
            <a:schemeClr val="dk1"/>
          </a:effectRef>
          <a:fontRef idx="minor">
            <a:schemeClr val="dk1"/>
          </a:fontRef>
        </p:style>
        <p:txBody>
          <a:bodyPr rtlCol="0" anchor="t" anchorCtr="0"/>
          <a:lstStyle/>
          <a:p>
            <a:r>
              <a:rPr lang="en-US" altLang="ja-JP"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a:t>
            </a:r>
            <a:r>
              <a:rPr lang="en-US" altLang="ja-JP" sz="1600" dirty="0" err="1">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ui</a:t>
            </a:r>
            <a:r>
              <a:rPr lang="en-US" altLang="ja-JP"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a:t>
            </a:r>
            <a:r>
              <a:rPr lang="en-US" altLang="ja-JP" sz="1600" dirty="0" err="1">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ux</a:t>
            </a:r>
            <a:r>
              <a:rPr lang="en-US" altLang="ja-JP"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-max-pro </a:t>
            </a:r>
            <a:r>
              <a:rPr lang="ja-JP" altLang="en-US"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 </a:t>
            </a:r>
            <a:r>
              <a:rPr lang="en-US" altLang="ja-JP"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docs/</a:t>
            </a:r>
            <a:r>
              <a:rPr lang="ja-JP" altLang="en-US"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画面要件</a:t>
            </a:r>
            <a:r>
              <a:rPr lang="en-US" altLang="ja-JP"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-MAC</a:t>
            </a:r>
            <a:r>
              <a:rPr lang="ja-JP" altLang="en-US"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一覧</a:t>
            </a:r>
            <a:r>
              <a:rPr lang="en-US" altLang="ja-JP"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.md</a:t>
            </a:r>
            <a:endParaRPr kumimoji="1" lang="en-US" altLang="ja-JP"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endParaRPr>
          </a:p>
        </p:txBody>
      </p:sp>
    </p:spTree>
    <p:extLst>
      <p:ext uri="{BB962C8B-B14F-4D97-AF65-F5344CB8AC3E}">
        <p14:creationId xmlns:p14="http://schemas.microsoft.com/office/powerpoint/2010/main" val="41028017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AEDB2-1C9B-968A-F564-0E67BB2FC6A9}"/>
            </a:ext>
          </a:extLst>
        </p:cNvPr>
        <p:cNvGrpSpPr/>
        <p:nvPr/>
      </p:nvGrpSpPr>
      <p:grpSpPr>
        <a:xfrm>
          <a:off x="0" y="0"/>
          <a:ext cx="0" cy="0"/>
          <a:chOff x="0" y="0"/>
          <a:chExt cx="0" cy="0"/>
        </a:xfrm>
      </p:grpSpPr>
      <p:pic>
        <p:nvPicPr>
          <p:cNvPr id="7" name="グラフィックス 6">
            <a:extLst>
              <a:ext uri="{FF2B5EF4-FFF2-40B4-BE49-F238E27FC236}">
                <a16:creationId xmlns:a16="http://schemas.microsoft.com/office/drawing/2014/main" id="{7A62DA81-285F-EBCF-2025-77462EA0F26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18113" y="1547078"/>
            <a:ext cx="11340502" cy="4632036"/>
          </a:xfrm>
          <a:prstGeom prst="rect">
            <a:avLst/>
          </a:prstGeom>
        </p:spPr>
      </p:pic>
      <p:sp>
        <p:nvSpPr>
          <p:cNvPr id="2" name="テキスト ボックス 1">
            <a:extLst>
              <a:ext uri="{FF2B5EF4-FFF2-40B4-BE49-F238E27FC236}">
                <a16:creationId xmlns:a16="http://schemas.microsoft.com/office/drawing/2014/main" id="{1325683D-D535-D263-D819-996C681FB697}"/>
              </a:ext>
            </a:extLst>
          </p:cNvPr>
          <p:cNvSpPr txBox="1"/>
          <p:nvPr/>
        </p:nvSpPr>
        <p:spPr>
          <a:xfrm>
            <a:off x="685800" y="381000"/>
            <a:ext cx="10795000" cy="615553"/>
          </a:xfrm>
          <a:prstGeom prst="rect">
            <a:avLst/>
          </a:prstGeom>
          <a:noFill/>
        </p:spPr>
        <p:txBody>
          <a:bodyPr vert="horz"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3400" b="1" i="0" u="none" strike="noStrike" kern="1200" cap="none" spc="0" normalizeH="0" baseline="0" noProof="0" dirty="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開発プロセスのフロー</a:t>
            </a:r>
          </a:p>
        </p:txBody>
      </p:sp>
      <p:sp>
        <p:nvSpPr>
          <p:cNvPr id="3" name="テキスト ボックス 2">
            <a:extLst>
              <a:ext uri="{FF2B5EF4-FFF2-40B4-BE49-F238E27FC236}">
                <a16:creationId xmlns:a16="http://schemas.microsoft.com/office/drawing/2014/main" id="{9D7FA361-5557-B15E-D634-653EEEFA398B}"/>
              </a:ext>
            </a:extLst>
          </p:cNvPr>
          <p:cNvSpPr txBox="1"/>
          <p:nvPr/>
        </p:nvSpPr>
        <p:spPr>
          <a:xfrm>
            <a:off x="736600" y="990600"/>
            <a:ext cx="10668000" cy="369332"/>
          </a:xfrm>
          <a:prstGeom prst="rect">
            <a:avLst/>
          </a:prstGeom>
          <a:noFill/>
        </p:spPr>
        <p:txBody>
          <a:bodyPr vert="horz"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srgbClr val="555555"/>
                </a:solidFill>
                <a:effectLst/>
                <a:uLnTx/>
                <a:uFillTx/>
                <a:latin typeface="BIZ UDPゴシック" panose="020B0400000000000000" pitchFamily="50" charset="-128"/>
                <a:ea typeface="BIZ UDPゴシック" panose="020B0400000000000000" pitchFamily="50" charset="-128"/>
                <a:cs typeface="+mn-cs"/>
              </a:rPr>
              <a:t>画面を先につくり、処理は</a:t>
            </a:r>
            <a:r>
              <a:rPr kumimoji="1" lang="en-US" altLang="ja-JP" sz="1800" b="0" i="0" u="none" strike="noStrike" kern="1200" cap="none" spc="0" normalizeH="0" baseline="0" noProof="0" dirty="0">
                <a:ln>
                  <a:noFill/>
                </a:ln>
                <a:solidFill>
                  <a:srgbClr val="555555"/>
                </a:solidFill>
                <a:effectLst/>
                <a:uLnTx/>
                <a:uFillTx/>
                <a:latin typeface="BIZ UDPゴシック" panose="020B0400000000000000" pitchFamily="50" charset="-128"/>
                <a:ea typeface="BIZ UDPゴシック" panose="020B0400000000000000" pitchFamily="50" charset="-128"/>
                <a:cs typeface="+mn-cs"/>
              </a:rPr>
              <a:t>1</a:t>
            </a:r>
            <a:r>
              <a:rPr kumimoji="1" lang="ja-JP" altLang="en-US" sz="1800" b="0" i="0" u="none" strike="noStrike" kern="1200" cap="none" spc="0" normalizeH="0" baseline="0" noProof="0" dirty="0">
                <a:ln>
                  <a:noFill/>
                </a:ln>
                <a:solidFill>
                  <a:srgbClr val="555555"/>
                </a:solidFill>
                <a:effectLst/>
                <a:uLnTx/>
                <a:uFillTx/>
                <a:latin typeface="BIZ UDPゴシック" panose="020B0400000000000000" pitchFamily="50" charset="-128"/>
                <a:ea typeface="BIZ UDPゴシック" panose="020B0400000000000000" pitchFamily="50" charset="-128"/>
                <a:cs typeface="+mn-cs"/>
              </a:rPr>
              <a:t>つずつ、を繰り返す</a:t>
            </a:r>
          </a:p>
        </p:txBody>
      </p:sp>
      <p:sp>
        <p:nvSpPr>
          <p:cNvPr id="6" name="テキスト ボックス 5">
            <a:extLst>
              <a:ext uri="{FF2B5EF4-FFF2-40B4-BE49-F238E27FC236}">
                <a16:creationId xmlns:a16="http://schemas.microsoft.com/office/drawing/2014/main" id="{B558F5F1-2C29-42EC-8582-8BCC97986299}"/>
              </a:ext>
            </a:extLst>
          </p:cNvPr>
          <p:cNvSpPr txBox="1"/>
          <p:nvPr/>
        </p:nvSpPr>
        <p:spPr>
          <a:xfrm>
            <a:off x="4324928" y="5944420"/>
            <a:ext cx="7533687" cy="307777"/>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srgbClr val="555555"/>
                </a:solidFill>
                <a:effectLst/>
                <a:uLnTx/>
                <a:uFillTx/>
                <a:latin typeface="BIZ UDPゴシック" panose="020B0400000000000000" pitchFamily="50" charset="-128"/>
                <a:ea typeface="BIZ UDPゴシック" panose="020B0400000000000000" pitchFamily="50" charset="-128"/>
                <a:cs typeface="+mn-cs"/>
              </a:rPr>
              <a:t>「処理」＝ 〇〇画面の△△ボタンを押したとき、のような利用者が確認できる振る舞いの単位</a:t>
            </a:r>
          </a:p>
        </p:txBody>
      </p:sp>
      <p:sp>
        <p:nvSpPr>
          <p:cNvPr id="4" name="フリーフォーム: 図形 3">
            <a:extLst>
              <a:ext uri="{FF2B5EF4-FFF2-40B4-BE49-F238E27FC236}">
                <a16:creationId xmlns:a16="http://schemas.microsoft.com/office/drawing/2014/main" id="{B8315708-164F-5614-2747-E6B5F31E171B}"/>
              </a:ext>
            </a:extLst>
          </p:cNvPr>
          <p:cNvSpPr/>
          <p:nvPr/>
        </p:nvSpPr>
        <p:spPr>
          <a:xfrm>
            <a:off x="-1" y="-1"/>
            <a:ext cx="12192000" cy="6858000"/>
          </a:xfrm>
          <a:custGeom>
            <a:avLst/>
            <a:gdLst>
              <a:gd name="csX0" fmla="*/ 2546355 w 12192000"/>
              <a:gd name="csY0" fmla="*/ 4236462 h 6858000"/>
              <a:gd name="csX1" fmla="*/ 2546355 w 12192000"/>
              <a:gd name="csY1" fmla="*/ 5305425 h 6858000"/>
              <a:gd name="csX2" fmla="*/ 4533900 w 12192000"/>
              <a:gd name="csY2" fmla="*/ 5305425 h 6858000"/>
              <a:gd name="csX3" fmla="*/ 4533900 w 12192000"/>
              <a:gd name="csY3" fmla="*/ 4236462 h 6858000"/>
              <a:gd name="csX4" fmla="*/ 0 w 12192000"/>
              <a:gd name="csY4" fmla="*/ 0 h 6858000"/>
              <a:gd name="csX5" fmla="*/ 12192000 w 12192000"/>
              <a:gd name="csY5" fmla="*/ 0 h 6858000"/>
              <a:gd name="csX6" fmla="*/ 12192000 w 12192000"/>
              <a:gd name="csY6" fmla="*/ 6858000 h 6858000"/>
              <a:gd name="csX7" fmla="*/ 0 w 12192000"/>
              <a:gd name="csY7"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6858000">
                <a:moveTo>
                  <a:pt x="2546355" y="4236462"/>
                </a:moveTo>
                <a:lnTo>
                  <a:pt x="2546355" y="5305425"/>
                </a:lnTo>
                <a:lnTo>
                  <a:pt x="4533900" y="5305425"/>
                </a:lnTo>
                <a:lnTo>
                  <a:pt x="4533900" y="4236462"/>
                </a:lnTo>
                <a:close/>
                <a:moveTo>
                  <a:pt x="0" y="0"/>
                </a:moveTo>
                <a:lnTo>
                  <a:pt x="12192000" y="0"/>
                </a:lnTo>
                <a:lnTo>
                  <a:pt x="12192000" y="6858000"/>
                </a:lnTo>
                <a:lnTo>
                  <a:pt x="0" y="6858000"/>
                </a:lnTo>
                <a:close/>
              </a:path>
            </a:pathLst>
          </a:custGeom>
          <a:solidFill>
            <a:srgbClr val="BFBFBF">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ja-JP" altLang="en-US"/>
          </a:p>
        </p:txBody>
      </p:sp>
    </p:spTree>
    <p:extLst>
      <p:ext uri="{BB962C8B-B14F-4D97-AF65-F5344CB8AC3E}">
        <p14:creationId xmlns:p14="http://schemas.microsoft.com/office/powerpoint/2010/main" val="2033660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CF6632-68A0-F2C3-BA85-034CE076A8A6}"/>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0A7EA521-5090-515B-3E7D-4CB01F8B61D7}"/>
              </a:ext>
            </a:extLst>
          </p:cNvPr>
          <p:cNvSpPr txBox="1"/>
          <p:nvPr/>
        </p:nvSpPr>
        <p:spPr>
          <a:xfrm>
            <a:off x="685800" y="381000"/>
            <a:ext cx="10795000" cy="615553"/>
          </a:xfrm>
          <a:prstGeom prst="rect">
            <a:avLst/>
          </a:prstGeom>
          <a:noFill/>
        </p:spPr>
        <p:txBody>
          <a:bodyPr vert="horz" rtlCol="0">
            <a:spAutoFit/>
          </a:bodyPr>
          <a:lstStyle/>
          <a:p>
            <a:r>
              <a:rPr lang="ja-JP" altLang="en-US" sz="3400" b="1" dirty="0">
                <a:latin typeface="BIZ UDPゴシック" panose="020B0400000000000000" pitchFamily="50" charset="-128"/>
                <a:ea typeface="BIZ UDPゴシック" panose="020B0400000000000000" pitchFamily="50" charset="-128"/>
              </a:rPr>
              <a:t>プロンプト例</a:t>
            </a:r>
            <a:endParaRPr kumimoji="1" lang="ja-JP" altLang="en-US" sz="3400" b="1" dirty="0">
              <a:latin typeface="BIZ UDPゴシック" panose="020B0400000000000000" pitchFamily="50" charset="-128"/>
              <a:ea typeface="BIZ UDPゴシック" panose="020B0400000000000000" pitchFamily="50" charset="-128"/>
            </a:endParaRPr>
          </a:p>
        </p:txBody>
      </p:sp>
      <p:sp>
        <p:nvSpPr>
          <p:cNvPr id="3" name="テキスト ボックス 2">
            <a:extLst>
              <a:ext uri="{FF2B5EF4-FFF2-40B4-BE49-F238E27FC236}">
                <a16:creationId xmlns:a16="http://schemas.microsoft.com/office/drawing/2014/main" id="{334ADE79-964D-7B9E-89A0-B7FC238224D7}"/>
              </a:ext>
            </a:extLst>
          </p:cNvPr>
          <p:cNvSpPr txBox="1"/>
          <p:nvPr/>
        </p:nvSpPr>
        <p:spPr>
          <a:xfrm>
            <a:off x="736600" y="990600"/>
            <a:ext cx="10668000" cy="369332"/>
          </a:xfrm>
          <a:prstGeom prst="rect">
            <a:avLst/>
          </a:prstGeom>
          <a:noFill/>
        </p:spPr>
        <p:txBody>
          <a:bodyPr vert="horz" rtlCol="0">
            <a:spAutoFit/>
          </a:bodyPr>
          <a:lstStyle/>
          <a:p>
            <a:r>
              <a:rPr kumimoji="1" lang="ja-JP" altLang="en-US" dirty="0">
                <a:solidFill>
                  <a:srgbClr val="555555"/>
                </a:solidFill>
                <a:latin typeface="BIZ UDPゴシック" panose="020B0400000000000000" pitchFamily="50" charset="-128"/>
                <a:ea typeface="BIZ UDPゴシック" panose="020B0400000000000000" pitchFamily="50" charset="-128"/>
              </a:rPr>
              <a:t>思いつく範囲の要件を教えつつスキルを実行</a:t>
            </a:r>
          </a:p>
        </p:txBody>
      </p:sp>
      <p:sp>
        <p:nvSpPr>
          <p:cNvPr id="5" name="四角形: 角を丸くする 4">
            <a:extLst>
              <a:ext uri="{FF2B5EF4-FFF2-40B4-BE49-F238E27FC236}">
                <a16:creationId xmlns:a16="http://schemas.microsoft.com/office/drawing/2014/main" id="{67978D60-BF82-F7BE-7DBA-F01789C11AC1}"/>
              </a:ext>
            </a:extLst>
          </p:cNvPr>
          <p:cNvSpPr/>
          <p:nvPr/>
        </p:nvSpPr>
        <p:spPr>
          <a:xfrm>
            <a:off x="857249" y="1733550"/>
            <a:ext cx="2857501" cy="551020"/>
          </a:xfrm>
          <a:prstGeom prst="roundRect">
            <a:avLst>
              <a:gd name="adj" fmla="val 14600"/>
            </a:avLst>
          </a:prstGeom>
        </p:spPr>
        <p:style>
          <a:lnRef idx="2">
            <a:schemeClr val="dk1"/>
          </a:lnRef>
          <a:fillRef idx="1">
            <a:schemeClr val="lt1"/>
          </a:fillRef>
          <a:effectRef idx="0">
            <a:schemeClr val="dk1"/>
          </a:effectRef>
          <a:fontRef idx="minor">
            <a:schemeClr val="dk1"/>
          </a:fontRef>
        </p:style>
        <p:txBody>
          <a:bodyPr rtlCol="0" anchor="t" anchorCtr="0"/>
          <a:lstStyle/>
          <a:p>
            <a:pPr algn="ctr"/>
            <a:r>
              <a:rPr kumimoji="1" lang="ja-JP" altLang="en-US" dirty="0">
                <a:latin typeface="BIZ UDPゴシック" panose="020B0400000000000000" pitchFamily="50" charset="-128"/>
                <a:ea typeface="BIZ UDPゴシック" panose="020B0400000000000000" pitchFamily="50" charset="-128"/>
              </a:rPr>
              <a:t>コーディングエージェント</a:t>
            </a:r>
          </a:p>
        </p:txBody>
      </p:sp>
      <p:sp>
        <p:nvSpPr>
          <p:cNvPr id="8" name="四角形: 角を丸くする 7">
            <a:extLst>
              <a:ext uri="{FF2B5EF4-FFF2-40B4-BE49-F238E27FC236}">
                <a16:creationId xmlns:a16="http://schemas.microsoft.com/office/drawing/2014/main" id="{3D886A06-03BD-737D-49E4-34CF87ABE7EB}"/>
              </a:ext>
            </a:extLst>
          </p:cNvPr>
          <p:cNvSpPr/>
          <p:nvPr/>
        </p:nvSpPr>
        <p:spPr>
          <a:xfrm>
            <a:off x="857249" y="2177652"/>
            <a:ext cx="10668000" cy="2651523"/>
          </a:xfrm>
          <a:prstGeom prst="roundRect">
            <a:avLst>
              <a:gd name="adj" fmla="val 1987"/>
            </a:avLst>
          </a:prstGeom>
          <a:solidFill>
            <a:schemeClr val="bg2">
              <a:lumMod val="25000"/>
            </a:schemeClr>
          </a:solidFill>
        </p:spPr>
        <p:style>
          <a:lnRef idx="2">
            <a:schemeClr val="dk1"/>
          </a:lnRef>
          <a:fillRef idx="1">
            <a:schemeClr val="lt1"/>
          </a:fillRef>
          <a:effectRef idx="0">
            <a:schemeClr val="dk1"/>
          </a:effectRef>
          <a:fontRef idx="minor">
            <a:schemeClr val="dk1"/>
          </a:fontRef>
        </p:style>
        <p:txBody>
          <a:bodyPr rtlCol="0" anchor="t" anchorCtr="0"/>
          <a:lstStyle/>
          <a:p>
            <a:r>
              <a:rPr lang="en-US" altLang="ja-JP"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/grill-with-docs</a:t>
            </a:r>
          </a:p>
          <a:p>
            <a:r>
              <a:rPr lang="en-US" altLang="ja-JP"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`MAC</a:t>
            </a:r>
            <a:r>
              <a:rPr lang="ja-JP" altLang="en-US"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一覧</a:t>
            </a:r>
            <a:r>
              <a:rPr lang="en-US" altLang="ja-JP"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a:t>
            </a:r>
            <a:r>
              <a:rPr lang="ja-JP" altLang="en-US"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の</a:t>
            </a:r>
            <a:r>
              <a:rPr lang="en-US" altLang="ja-JP"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a:t>
            </a:r>
            <a:r>
              <a:rPr lang="ja-JP" altLang="en-US"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同期</a:t>
            </a:r>
            <a:r>
              <a:rPr lang="en-US" altLang="ja-JP"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a:t>
            </a:r>
            <a:r>
              <a:rPr lang="ja-JP" altLang="en-US"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ボタンの実装を行います。このボタンをクリックすると、まず</a:t>
            </a:r>
            <a:r>
              <a:rPr lang="en-US" altLang="ja-JP"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WIFI</a:t>
            </a:r>
            <a:r>
              <a:rPr lang="ja-JP" altLang="en-US"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ルータに対して登録済の</a:t>
            </a:r>
            <a:r>
              <a:rPr lang="en-US" altLang="ja-JP"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MAC</a:t>
            </a:r>
            <a:r>
              <a:rPr lang="ja-JP" altLang="en-US"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アドレスの取得を要求します。</a:t>
            </a:r>
            <a:r>
              <a:rPr lang="en-US" altLang="ja-JP"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MAC</a:t>
            </a:r>
            <a:r>
              <a:rPr lang="ja-JP" altLang="en-US"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一覧に表示するのは、</a:t>
            </a:r>
            <a:r>
              <a:rPr lang="en-US" altLang="ja-JP"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DB</a:t>
            </a:r>
            <a:r>
              <a:rPr lang="ja-JP" altLang="en-US"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に登録済または</a:t>
            </a:r>
            <a:r>
              <a:rPr lang="en-US" altLang="ja-JP"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WIFI</a:t>
            </a:r>
            <a:r>
              <a:rPr lang="ja-JP" altLang="en-US"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ルータから取得された</a:t>
            </a:r>
            <a:r>
              <a:rPr lang="en-US" altLang="ja-JP"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MAC</a:t>
            </a:r>
            <a:r>
              <a:rPr lang="ja-JP" altLang="en-US"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アドレスです。なぜなら、</a:t>
            </a:r>
            <a:r>
              <a:rPr lang="en-US" altLang="ja-JP"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WIFI</a:t>
            </a:r>
            <a:r>
              <a:rPr lang="ja-JP" altLang="en-US"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ルータから取得される</a:t>
            </a:r>
            <a:r>
              <a:rPr lang="en-US" altLang="ja-JP"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MAC</a:t>
            </a:r>
            <a:r>
              <a:rPr lang="ja-JP" altLang="en-US"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アドレスは許可されたもののみのため、不許可状態の</a:t>
            </a:r>
            <a:r>
              <a:rPr lang="en-US" altLang="ja-JP"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MAC</a:t>
            </a:r>
            <a:r>
              <a:rPr lang="ja-JP" altLang="en-US"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アドレスは</a:t>
            </a:r>
            <a:r>
              <a:rPr lang="en-US" altLang="ja-JP"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DB</a:t>
            </a:r>
            <a:r>
              <a:rPr lang="ja-JP" altLang="en-US"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からのみ取得可能だからです。一覧を表示する際は、スイッチの</a:t>
            </a:r>
            <a:r>
              <a:rPr lang="en-US" altLang="ja-JP"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ON/OFF</a:t>
            </a:r>
            <a:r>
              <a:rPr lang="ja-JP" altLang="en-US"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の状態も適切に設定します。</a:t>
            </a:r>
            <a:r>
              <a:rPr lang="en-US" altLang="ja-JP"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WIFI</a:t>
            </a:r>
            <a:r>
              <a:rPr lang="ja-JP" altLang="en-US"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ルータから取得される</a:t>
            </a:r>
            <a:r>
              <a:rPr lang="en-US" altLang="ja-JP"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MAC</a:t>
            </a:r>
            <a:r>
              <a:rPr lang="ja-JP" altLang="en-US"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アドレスは許可されたものです。</a:t>
            </a:r>
            <a:r>
              <a:rPr lang="en-US" altLang="ja-JP"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DB</a:t>
            </a:r>
            <a:r>
              <a:rPr lang="ja-JP" altLang="en-US"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から追加的に取得された</a:t>
            </a:r>
            <a:r>
              <a:rPr lang="en-US" altLang="ja-JP"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MAC</a:t>
            </a:r>
            <a:r>
              <a:rPr lang="ja-JP" altLang="en-US"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アドレスは不許可状態です。また、</a:t>
            </a:r>
            <a:r>
              <a:rPr lang="en-US" altLang="ja-JP"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a:t>
            </a:r>
            <a:r>
              <a:rPr lang="ja-JP" altLang="en-US"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同期</a:t>
            </a:r>
            <a:r>
              <a:rPr lang="en-US" altLang="ja-JP"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a:t>
            </a:r>
            <a:r>
              <a:rPr lang="ja-JP" altLang="en-US"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ボタンをクリックした際には、</a:t>
            </a:r>
            <a:r>
              <a:rPr lang="en-US" altLang="ja-JP"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WIFI</a:t>
            </a:r>
            <a:r>
              <a:rPr lang="ja-JP" altLang="en-US"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ルータに登録済の</a:t>
            </a:r>
            <a:r>
              <a:rPr lang="en-US" altLang="ja-JP"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MAC</a:t>
            </a:r>
            <a:r>
              <a:rPr lang="ja-JP" altLang="en-US"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アドレスと</a:t>
            </a:r>
            <a:r>
              <a:rPr lang="en-US" altLang="ja-JP"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DB</a:t>
            </a:r>
            <a:r>
              <a:rPr lang="ja-JP" altLang="en-US"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にでの登録状態を同期します。これは、</a:t>
            </a:r>
            <a:r>
              <a:rPr lang="en-US" altLang="ja-JP"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WIFI</a:t>
            </a:r>
            <a:r>
              <a:rPr lang="ja-JP" altLang="en-US"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ルータから取得される情報を正とします。</a:t>
            </a:r>
            <a:r>
              <a:rPr lang="en-US" altLang="ja-JP"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DB</a:t>
            </a:r>
            <a:r>
              <a:rPr lang="ja-JP" altLang="en-US"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に登録されていない</a:t>
            </a:r>
            <a:r>
              <a:rPr lang="en-US" altLang="ja-JP"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MAC</a:t>
            </a:r>
            <a:r>
              <a:rPr lang="ja-JP" altLang="en-US"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アドレスは、</a:t>
            </a:r>
            <a:r>
              <a:rPr lang="en-US" altLang="ja-JP"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DB</a:t>
            </a:r>
            <a:r>
              <a:rPr lang="ja-JP" altLang="en-US"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にレコードを追加します。</a:t>
            </a:r>
            <a:r>
              <a:rPr lang="en-US" altLang="ja-JP"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WIFI</a:t>
            </a:r>
            <a:r>
              <a:rPr lang="ja-JP" altLang="en-US"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ルータ上と</a:t>
            </a:r>
            <a:r>
              <a:rPr lang="en-US" altLang="ja-JP"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DB</a:t>
            </a:r>
            <a:r>
              <a:rPr lang="ja-JP" altLang="en-US"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とでデバイス名が異なる場合は、</a:t>
            </a:r>
            <a:r>
              <a:rPr lang="en-US" altLang="ja-JP"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WIFI</a:t>
            </a:r>
            <a:r>
              <a:rPr lang="ja-JP" altLang="en-US"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ルータから取得されたデバイス名で</a:t>
            </a:r>
            <a:r>
              <a:rPr lang="en-US" altLang="ja-JP"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DB</a:t>
            </a:r>
            <a:r>
              <a:rPr lang="ja-JP" altLang="en-US"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を更新します。</a:t>
            </a:r>
            <a:endParaRPr kumimoji="1" lang="en-US" altLang="ja-JP"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endParaRPr>
          </a:p>
        </p:txBody>
      </p:sp>
    </p:spTree>
    <p:extLst>
      <p:ext uri="{BB962C8B-B14F-4D97-AF65-F5344CB8AC3E}">
        <p14:creationId xmlns:p14="http://schemas.microsoft.com/office/powerpoint/2010/main" val="37509850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F76DF-307F-6490-B60A-31BA33543624}"/>
            </a:ext>
          </a:extLst>
        </p:cNvPr>
        <p:cNvGrpSpPr/>
        <p:nvPr/>
      </p:nvGrpSpPr>
      <p:grpSpPr>
        <a:xfrm>
          <a:off x="0" y="0"/>
          <a:ext cx="0" cy="0"/>
          <a:chOff x="0" y="0"/>
          <a:chExt cx="0" cy="0"/>
        </a:xfrm>
      </p:grpSpPr>
      <p:pic>
        <p:nvPicPr>
          <p:cNvPr id="7" name="グラフィックス 6">
            <a:extLst>
              <a:ext uri="{FF2B5EF4-FFF2-40B4-BE49-F238E27FC236}">
                <a16:creationId xmlns:a16="http://schemas.microsoft.com/office/drawing/2014/main" id="{677A6413-E74E-2EBE-3B91-24ECF7B2759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18113" y="1547078"/>
            <a:ext cx="11340502" cy="4632036"/>
          </a:xfrm>
          <a:prstGeom prst="rect">
            <a:avLst/>
          </a:prstGeom>
        </p:spPr>
      </p:pic>
      <p:sp>
        <p:nvSpPr>
          <p:cNvPr id="2" name="テキスト ボックス 1">
            <a:extLst>
              <a:ext uri="{FF2B5EF4-FFF2-40B4-BE49-F238E27FC236}">
                <a16:creationId xmlns:a16="http://schemas.microsoft.com/office/drawing/2014/main" id="{41D25772-5AEC-CDB7-9C5F-A898D79ED568}"/>
              </a:ext>
            </a:extLst>
          </p:cNvPr>
          <p:cNvSpPr txBox="1"/>
          <p:nvPr/>
        </p:nvSpPr>
        <p:spPr>
          <a:xfrm>
            <a:off x="685800" y="381000"/>
            <a:ext cx="10795000" cy="615553"/>
          </a:xfrm>
          <a:prstGeom prst="rect">
            <a:avLst/>
          </a:prstGeom>
          <a:noFill/>
        </p:spPr>
        <p:txBody>
          <a:bodyPr vert="horz"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3400" b="1" i="0" u="none" strike="noStrike" kern="1200" cap="none" spc="0" normalizeH="0" baseline="0" noProof="0" dirty="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開発プロセスのフロー</a:t>
            </a:r>
          </a:p>
        </p:txBody>
      </p:sp>
      <p:sp>
        <p:nvSpPr>
          <p:cNvPr id="3" name="テキスト ボックス 2">
            <a:extLst>
              <a:ext uri="{FF2B5EF4-FFF2-40B4-BE49-F238E27FC236}">
                <a16:creationId xmlns:a16="http://schemas.microsoft.com/office/drawing/2014/main" id="{015DD158-F58E-B87E-1D49-F4F8F6654B65}"/>
              </a:ext>
            </a:extLst>
          </p:cNvPr>
          <p:cNvSpPr txBox="1"/>
          <p:nvPr/>
        </p:nvSpPr>
        <p:spPr>
          <a:xfrm>
            <a:off x="736600" y="990600"/>
            <a:ext cx="10668000" cy="369332"/>
          </a:xfrm>
          <a:prstGeom prst="rect">
            <a:avLst/>
          </a:prstGeom>
          <a:noFill/>
        </p:spPr>
        <p:txBody>
          <a:bodyPr vert="horz"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srgbClr val="555555"/>
                </a:solidFill>
                <a:effectLst/>
                <a:uLnTx/>
                <a:uFillTx/>
                <a:latin typeface="BIZ UDPゴシック" panose="020B0400000000000000" pitchFamily="50" charset="-128"/>
                <a:ea typeface="BIZ UDPゴシック" panose="020B0400000000000000" pitchFamily="50" charset="-128"/>
                <a:cs typeface="+mn-cs"/>
              </a:rPr>
              <a:t>画面を先につくり、処理は</a:t>
            </a:r>
            <a:r>
              <a:rPr kumimoji="1" lang="en-US" altLang="ja-JP" sz="1800" b="0" i="0" u="none" strike="noStrike" kern="1200" cap="none" spc="0" normalizeH="0" baseline="0" noProof="0" dirty="0">
                <a:ln>
                  <a:noFill/>
                </a:ln>
                <a:solidFill>
                  <a:srgbClr val="555555"/>
                </a:solidFill>
                <a:effectLst/>
                <a:uLnTx/>
                <a:uFillTx/>
                <a:latin typeface="BIZ UDPゴシック" panose="020B0400000000000000" pitchFamily="50" charset="-128"/>
                <a:ea typeface="BIZ UDPゴシック" panose="020B0400000000000000" pitchFamily="50" charset="-128"/>
                <a:cs typeface="+mn-cs"/>
              </a:rPr>
              <a:t>1</a:t>
            </a:r>
            <a:r>
              <a:rPr kumimoji="1" lang="ja-JP" altLang="en-US" sz="1800" b="0" i="0" u="none" strike="noStrike" kern="1200" cap="none" spc="0" normalizeH="0" baseline="0" noProof="0" dirty="0">
                <a:ln>
                  <a:noFill/>
                </a:ln>
                <a:solidFill>
                  <a:srgbClr val="555555"/>
                </a:solidFill>
                <a:effectLst/>
                <a:uLnTx/>
                <a:uFillTx/>
                <a:latin typeface="BIZ UDPゴシック" panose="020B0400000000000000" pitchFamily="50" charset="-128"/>
                <a:ea typeface="BIZ UDPゴシック" panose="020B0400000000000000" pitchFamily="50" charset="-128"/>
                <a:cs typeface="+mn-cs"/>
              </a:rPr>
              <a:t>つずつ、を繰り返す</a:t>
            </a:r>
          </a:p>
        </p:txBody>
      </p:sp>
      <p:sp>
        <p:nvSpPr>
          <p:cNvPr id="6" name="テキスト ボックス 5">
            <a:extLst>
              <a:ext uri="{FF2B5EF4-FFF2-40B4-BE49-F238E27FC236}">
                <a16:creationId xmlns:a16="http://schemas.microsoft.com/office/drawing/2014/main" id="{C1A581B9-C51F-ED07-037C-E7B4B4D057B4}"/>
              </a:ext>
            </a:extLst>
          </p:cNvPr>
          <p:cNvSpPr txBox="1"/>
          <p:nvPr/>
        </p:nvSpPr>
        <p:spPr>
          <a:xfrm>
            <a:off x="4324928" y="5944420"/>
            <a:ext cx="7533687" cy="307777"/>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srgbClr val="555555"/>
                </a:solidFill>
                <a:effectLst/>
                <a:uLnTx/>
                <a:uFillTx/>
                <a:latin typeface="BIZ UDPゴシック" panose="020B0400000000000000" pitchFamily="50" charset="-128"/>
                <a:ea typeface="BIZ UDPゴシック" panose="020B0400000000000000" pitchFamily="50" charset="-128"/>
                <a:cs typeface="+mn-cs"/>
              </a:rPr>
              <a:t>「処理」＝ 〇〇画面の△△ボタンを押したとき、のような利用者が確認できる振る舞いの単位</a:t>
            </a:r>
          </a:p>
        </p:txBody>
      </p:sp>
      <p:sp>
        <p:nvSpPr>
          <p:cNvPr id="4" name="フリーフォーム: 図形 3">
            <a:extLst>
              <a:ext uri="{FF2B5EF4-FFF2-40B4-BE49-F238E27FC236}">
                <a16:creationId xmlns:a16="http://schemas.microsoft.com/office/drawing/2014/main" id="{49354DD7-E00B-8950-30F4-774BB5A79FC1}"/>
              </a:ext>
            </a:extLst>
          </p:cNvPr>
          <p:cNvSpPr/>
          <p:nvPr/>
        </p:nvSpPr>
        <p:spPr>
          <a:xfrm>
            <a:off x="0" y="-1"/>
            <a:ext cx="12192000" cy="6858000"/>
          </a:xfrm>
          <a:custGeom>
            <a:avLst/>
            <a:gdLst>
              <a:gd name="csX0" fmla="*/ 4546606 w 12192000"/>
              <a:gd name="csY0" fmla="*/ 4236462 h 6858000"/>
              <a:gd name="csX1" fmla="*/ 4546606 w 12192000"/>
              <a:gd name="csY1" fmla="*/ 5305425 h 6858000"/>
              <a:gd name="csX2" fmla="*/ 6181726 w 12192000"/>
              <a:gd name="csY2" fmla="*/ 5305425 h 6858000"/>
              <a:gd name="csX3" fmla="*/ 6181726 w 12192000"/>
              <a:gd name="csY3" fmla="*/ 4236462 h 6858000"/>
              <a:gd name="csX4" fmla="*/ 0 w 12192000"/>
              <a:gd name="csY4" fmla="*/ 0 h 6858000"/>
              <a:gd name="csX5" fmla="*/ 12192000 w 12192000"/>
              <a:gd name="csY5" fmla="*/ 0 h 6858000"/>
              <a:gd name="csX6" fmla="*/ 12192000 w 12192000"/>
              <a:gd name="csY6" fmla="*/ 6858000 h 6858000"/>
              <a:gd name="csX7" fmla="*/ 0 w 12192000"/>
              <a:gd name="csY7"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6858000">
                <a:moveTo>
                  <a:pt x="4546606" y="4236462"/>
                </a:moveTo>
                <a:lnTo>
                  <a:pt x="4546606" y="5305425"/>
                </a:lnTo>
                <a:lnTo>
                  <a:pt x="6181726" y="5305425"/>
                </a:lnTo>
                <a:lnTo>
                  <a:pt x="6181726" y="4236462"/>
                </a:lnTo>
                <a:close/>
                <a:moveTo>
                  <a:pt x="0" y="0"/>
                </a:moveTo>
                <a:lnTo>
                  <a:pt x="12192000" y="0"/>
                </a:lnTo>
                <a:lnTo>
                  <a:pt x="12192000" y="6858000"/>
                </a:lnTo>
                <a:lnTo>
                  <a:pt x="0" y="6858000"/>
                </a:lnTo>
                <a:close/>
              </a:path>
            </a:pathLst>
          </a:custGeom>
          <a:solidFill>
            <a:srgbClr val="BFBFBF">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ja-JP" altLang="en-US"/>
          </a:p>
        </p:txBody>
      </p:sp>
    </p:spTree>
    <p:extLst>
      <p:ext uri="{BB962C8B-B14F-4D97-AF65-F5344CB8AC3E}">
        <p14:creationId xmlns:p14="http://schemas.microsoft.com/office/powerpoint/2010/main" val="3556451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EBBAB0-636F-CA0E-FD1F-0E934D5BC81B}"/>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B0B8D679-6857-FDC2-6C91-9A61140B7549}"/>
              </a:ext>
            </a:extLst>
          </p:cNvPr>
          <p:cNvSpPr txBox="1"/>
          <p:nvPr/>
        </p:nvSpPr>
        <p:spPr>
          <a:xfrm>
            <a:off x="685800" y="381000"/>
            <a:ext cx="10795000" cy="615553"/>
          </a:xfrm>
          <a:prstGeom prst="rect">
            <a:avLst/>
          </a:prstGeom>
          <a:noFill/>
        </p:spPr>
        <p:txBody>
          <a:bodyPr vert="horz" rtlCol="0">
            <a:spAutoFit/>
          </a:bodyPr>
          <a:lstStyle/>
          <a:p>
            <a:r>
              <a:rPr lang="ja-JP" altLang="en-US" sz="3400" b="1" dirty="0">
                <a:latin typeface="BIZ UDPゴシック" panose="020B0400000000000000" pitchFamily="50" charset="-128"/>
                <a:ea typeface="BIZ UDPゴシック" panose="020B0400000000000000" pitchFamily="50" charset="-128"/>
              </a:rPr>
              <a:t>プロンプト例</a:t>
            </a:r>
            <a:endParaRPr kumimoji="1" lang="ja-JP" altLang="en-US" sz="3400" b="1" dirty="0">
              <a:latin typeface="BIZ UDPゴシック" panose="020B0400000000000000" pitchFamily="50" charset="-128"/>
              <a:ea typeface="BIZ UDPゴシック" panose="020B0400000000000000" pitchFamily="50" charset="-128"/>
            </a:endParaRPr>
          </a:p>
        </p:txBody>
      </p:sp>
      <p:sp>
        <p:nvSpPr>
          <p:cNvPr id="3" name="テキスト ボックス 2">
            <a:extLst>
              <a:ext uri="{FF2B5EF4-FFF2-40B4-BE49-F238E27FC236}">
                <a16:creationId xmlns:a16="http://schemas.microsoft.com/office/drawing/2014/main" id="{C86C4B82-B993-1BAD-D2F0-16B5105A1C4C}"/>
              </a:ext>
            </a:extLst>
          </p:cNvPr>
          <p:cNvSpPr txBox="1"/>
          <p:nvPr/>
        </p:nvSpPr>
        <p:spPr>
          <a:xfrm>
            <a:off x="736600" y="990600"/>
            <a:ext cx="10668000" cy="369332"/>
          </a:xfrm>
          <a:prstGeom prst="rect">
            <a:avLst/>
          </a:prstGeom>
          <a:noFill/>
        </p:spPr>
        <p:txBody>
          <a:bodyPr vert="horz" rtlCol="0">
            <a:spAutoFit/>
          </a:bodyPr>
          <a:lstStyle/>
          <a:p>
            <a:r>
              <a:rPr lang="ja-JP" altLang="en-US" dirty="0">
                <a:solidFill>
                  <a:srgbClr val="555555"/>
                </a:solidFill>
                <a:latin typeface="BIZ UDPゴシック" panose="020B0400000000000000" pitchFamily="50" charset="-128"/>
                <a:ea typeface="BIZ UDPゴシック" panose="020B0400000000000000" pitchFamily="50" charset="-128"/>
              </a:rPr>
              <a:t>前作業で作成された</a:t>
            </a:r>
            <a:r>
              <a:rPr lang="en-US" altLang="ja-JP" dirty="0">
                <a:solidFill>
                  <a:srgbClr val="555555"/>
                </a:solidFill>
                <a:latin typeface="BIZ UDPゴシック" panose="020B0400000000000000" pitchFamily="50" charset="-128"/>
                <a:ea typeface="BIZ UDPゴシック" panose="020B0400000000000000" pitchFamily="50" charset="-128"/>
              </a:rPr>
              <a:t>ADR</a:t>
            </a:r>
            <a:r>
              <a:rPr lang="ja-JP" altLang="en-US" dirty="0">
                <a:solidFill>
                  <a:srgbClr val="555555"/>
                </a:solidFill>
                <a:latin typeface="BIZ UDPゴシック" panose="020B0400000000000000" pitchFamily="50" charset="-128"/>
                <a:ea typeface="BIZ UDPゴシック" panose="020B0400000000000000" pitchFamily="50" charset="-128"/>
              </a:rPr>
              <a:t>ををスキルに渡すだけでタスク分解（チケット化）が行われる</a:t>
            </a:r>
          </a:p>
        </p:txBody>
      </p:sp>
      <p:sp>
        <p:nvSpPr>
          <p:cNvPr id="5" name="四角形: 角を丸くする 4">
            <a:extLst>
              <a:ext uri="{FF2B5EF4-FFF2-40B4-BE49-F238E27FC236}">
                <a16:creationId xmlns:a16="http://schemas.microsoft.com/office/drawing/2014/main" id="{81597724-C0CC-9584-AC8F-62F947B99B60}"/>
              </a:ext>
            </a:extLst>
          </p:cNvPr>
          <p:cNvSpPr/>
          <p:nvPr/>
        </p:nvSpPr>
        <p:spPr>
          <a:xfrm>
            <a:off x="857249" y="1733550"/>
            <a:ext cx="2857501" cy="551020"/>
          </a:xfrm>
          <a:prstGeom prst="roundRect">
            <a:avLst>
              <a:gd name="adj" fmla="val 14600"/>
            </a:avLst>
          </a:prstGeom>
        </p:spPr>
        <p:style>
          <a:lnRef idx="2">
            <a:schemeClr val="dk1"/>
          </a:lnRef>
          <a:fillRef idx="1">
            <a:schemeClr val="lt1"/>
          </a:fillRef>
          <a:effectRef idx="0">
            <a:schemeClr val="dk1"/>
          </a:effectRef>
          <a:fontRef idx="minor">
            <a:schemeClr val="dk1"/>
          </a:fontRef>
        </p:style>
        <p:txBody>
          <a:bodyPr rtlCol="0" anchor="t" anchorCtr="0"/>
          <a:lstStyle/>
          <a:p>
            <a:pPr algn="ctr"/>
            <a:r>
              <a:rPr kumimoji="1" lang="ja-JP" altLang="en-US" dirty="0">
                <a:latin typeface="BIZ UDPゴシック" panose="020B0400000000000000" pitchFamily="50" charset="-128"/>
                <a:ea typeface="BIZ UDPゴシック" panose="020B0400000000000000" pitchFamily="50" charset="-128"/>
              </a:rPr>
              <a:t>コーディングエージェント</a:t>
            </a:r>
          </a:p>
        </p:txBody>
      </p:sp>
      <p:sp>
        <p:nvSpPr>
          <p:cNvPr id="8" name="四角形: 角を丸くする 7">
            <a:extLst>
              <a:ext uri="{FF2B5EF4-FFF2-40B4-BE49-F238E27FC236}">
                <a16:creationId xmlns:a16="http://schemas.microsoft.com/office/drawing/2014/main" id="{53E105AA-3E7E-4643-D798-9B8F79368616}"/>
              </a:ext>
            </a:extLst>
          </p:cNvPr>
          <p:cNvSpPr/>
          <p:nvPr/>
        </p:nvSpPr>
        <p:spPr>
          <a:xfrm>
            <a:off x="857249" y="2177652"/>
            <a:ext cx="10668000" cy="736997"/>
          </a:xfrm>
          <a:prstGeom prst="roundRect">
            <a:avLst>
              <a:gd name="adj" fmla="val 1987"/>
            </a:avLst>
          </a:prstGeom>
          <a:solidFill>
            <a:schemeClr val="bg2">
              <a:lumMod val="25000"/>
            </a:schemeClr>
          </a:solidFill>
        </p:spPr>
        <p:style>
          <a:lnRef idx="2">
            <a:schemeClr val="dk1"/>
          </a:lnRef>
          <a:fillRef idx="1">
            <a:schemeClr val="lt1"/>
          </a:fillRef>
          <a:effectRef idx="0">
            <a:schemeClr val="dk1"/>
          </a:effectRef>
          <a:fontRef idx="minor">
            <a:schemeClr val="dk1"/>
          </a:fontRef>
        </p:style>
        <p:txBody>
          <a:bodyPr rtlCol="0" anchor="t" anchorCtr="0"/>
          <a:lstStyle/>
          <a:p>
            <a:r>
              <a:rPr lang="en-US" altLang="ja-JP"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/to-tickets </a:t>
            </a:r>
            <a:r>
              <a:rPr lang="ja-JP" altLang="en-US"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 </a:t>
            </a:r>
            <a:r>
              <a:rPr lang="en-US" altLang="ja-JP"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docs/adr/0004-sync-mac-devices-from-router.md</a:t>
            </a:r>
            <a:endParaRPr kumimoji="1" lang="en-US" altLang="ja-JP"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endParaRPr>
          </a:p>
        </p:txBody>
      </p:sp>
    </p:spTree>
    <p:extLst>
      <p:ext uri="{BB962C8B-B14F-4D97-AF65-F5344CB8AC3E}">
        <p14:creationId xmlns:p14="http://schemas.microsoft.com/office/powerpoint/2010/main" val="32750544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97E226-4A8D-A496-303B-7F124866E9AF}"/>
            </a:ext>
          </a:extLst>
        </p:cNvPr>
        <p:cNvGrpSpPr/>
        <p:nvPr/>
      </p:nvGrpSpPr>
      <p:grpSpPr>
        <a:xfrm>
          <a:off x="0" y="0"/>
          <a:ext cx="0" cy="0"/>
          <a:chOff x="0" y="0"/>
          <a:chExt cx="0" cy="0"/>
        </a:xfrm>
      </p:grpSpPr>
      <p:pic>
        <p:nvPicPr>
          <p:cNvPr id="7" name="グラフィックス 6">
            <a:extLst>
              <a:ext uri="{FF2B5EF4-FFF2-40B4-BE49-F238E27FC236}">
                <a16:creationId xmlns:a16="http://schemas.microsoft.com/office/drawing/2014/main" id="{20D9BAD0-0ECF-17AB-21C0-13264CB1E30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18113" y="1547078"/>
            <a:ext cx="11340502" cy="4632036"/>
          </a:xfrm>
          <a:prstGeom prst="rect">
            <a:avLst/>
          </a:prstGeom>
        </p:spPr>
      </p:pic>
      <p:sp>
        <p:nvSpPr>
          <p:cNvPr id="2" name="テキスト ボックス 1">
            <a:extLst>
              <a:ext uri="{FF2B5EF4-FFF2-40B4-BE49-F238E27FC236}">
                <a16:creationId xmlns:a16="http://schemas.microsoft.com/office/drawing/2014/main" id="{F2801311-84A6-6404-4174-9F6EA29D7588}"/>
              </a:ext>
            </a:extLst>
          </p:cNvPr>
          <p:cNvSpPr txBox="1"/>
          <p:nvPr/>
        </p:nvSpPr>
        <p:spPr>
          <a:xfrm>
            <a:off x="685800" y="381000"/>
            <a:ext cx="10795000" cy="615553"/>
          </a:xfrm>
          <a:prstGeom prst="rect">
            <a:avLst/>
          </a:prstGeom>
          <a:noFill/>
        </p:spPr>
        <p:txBody>
          <a:bodyPr vert="horz"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3400" b="1" i="0" u="none" strike="noStrike" kern="1200" cap="none" spc="0" normalizeH="0" baseline="0" noProof="0" dirty="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開発プロセスのフロー</a:t>
            </a:r>
          </a:p>
        </p:txBody>
      </p:sp>
      <p:sp>
        <p:nvSpPr>
          <p:cNvPr id="3" name="テキスト ボックス 2">
            <a:extLst>
              <a:ext uri="{FF2B5EF4-FFF2-40B4-BE49-F238E27FC236}">
                <a16:creationId xmlns:a16="http://schemas.microsoft.com/office/drawing/2014/main" id="{9B186B59-9A69-AB9B-5755-3E1A66B8DF42}"/>
              </a:ext>
            </a:extLst>
          </p:cNvPr>
          <p:cNvSpPr txBox="1"/>
          <p:nvPr/>
        </p:nvSpPr>
        <p:spPr>
          <a:xfrm>
            <a:off x="736600" y="990600"/>
            <a:ext cx="10668000" cy="369332"/>
          </a:xfrm>
          <a:prstGeom prst="rect">
            <a:avLst/>
          </a:prstGeom>
          <a:noFill/>
        </p:spPr>
        <p:txBody>
          <a:bodyPr vert="horz"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srgbClr val="555555"/>
                </a:solidFill>
                <a:effectLst/>
                <a:uLnTx/>
                <a:uFillTx/>
                <a:latin typeface="BIZ UDPゴシック" panose="020B0400000000000000" pitchFamily="50" charset="-128"/>
                <a:ea typeface="BIZ UDPゴシック" panose="020B0400000000000000" pitchFamily="50" charset="-128"/>
                <a:cs typeface="+mn-cs"/>
              </a:rPr>
              <a:t>画面を先につくり、処理は</a:t>
            </a:r>
            <a:r>
              <a:rPr kumimoji="1" lang="en-US" altLang="ja-JP" sz="1800" b="0" i="0" u="none" strike="noStrike" kern="1200" cap="none" spc="0" normalizeH="0" baseline="0" noProof="0" dirty="0">
                <a:ln>
                  <a:noFill/>
                </a:ln>
                <a:solidFill>
                  <a:srgbClr val="555555"/>
                </a:solidFill>
                <a:effectLst/>
                <a:uLnTx/>
                <a:uFillTx/>
                <a:latin typeface="BIZ UDPゴシック" panose="020B0400000000000000" pitchFamily="50" charset="-128"/>
                <a:ea typeface="BIZ UDPゴシック" panose="020B0400000000000000" pitchFamily="50" charset="-128"/>
                <a:cs typeface="+mn-cs"/>
              </a:rPr>
              <a:t>1</a:t>
            </a:r>
            <a:r>
              <a:rPr kumimoji="1" lang="ja-JP" altLang="en-US" sz="1800" b="0" i="0" u="none" strike="noStrike" kern="1200" cap="none" spc="0" normalizeH="0" baseline="0" noProof="0" dirty="0">
                <a:ln>
                  <a:noFill/>
                </a:ln>
                <a:solidFill>
                  <a:srgbClr val="555555"/>
                </a:solidFill>
                <a:effectLst/>
                <a:uLnTx/>
                <a:uFillTx/>
                <a:latin typeface="BIZ UDPゴシック" panose="020B0400000000000000" pitchFamily="50" charset="-128"/>
                <a:ea typeface="BIZ UDPゴシック" panose="020B0400000000000000" pitchFamily="50" charset="-128"/>
                <a:cs typeface="+mn-cs"/>
              </a:rPr>
              <a:t>つずつ、を繰り返す</a:t>
            </a:r>
          </a:p>
        </p:txBody>
      </p:sp>
      <p:sp>
        <p:nvSpPr>
          <p:cNvPr id="6" name="テキスト ボックス 5">
            <a:extLst>
              <a:ext uri="{FF2B5EF4-FFF2-40B4-BE49-F238E27FC236}">
                <a16:creationId xmlns:a16="http://schemas.microsoft.com/office/drawing/2014/main" id="{E82238BF-51E9-CAA7-768F-9425051A880E}"/>
              </a:ext>
            </a:extLst>
          </p:cNvPr>
          <p:cNvSpPr txBox="1"/>
          <p:nvPr/>
        </p:nvSpPr>
        <p:spPr>
          <a:xfrm>
            <a:off x="4324928" y="5944420"/>
            <a:ext cx="7533687" cy="307777"/>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srgbClr val="555555"/>
                </a:solidFill>
                <a:effectLst/>
                <a:uLnTx/>
                <a:uFillTx/>
                <a:latin typeface="BIZ UDPゴシック" panose="020B0400000000000000" pitchFamily="50" charset="-128"/>
                <a:ea typeface="BIZ UDPゴシック" panose="020B0400000000000000" pitchFamily="50" charset="-128"/>
                <a:cs typeface="+mn-cs"/>
              </a:rPr>
              <a:t>「処理」＝ 〇〇画面の△△ボタンを押したとき、のような利用者が確認できる振る舞いの単位</a:t>
            </a:r>
          </a:p>
        </p:txBody>
      </p:sp>
      <p:sp>
        <p:nvSpPr>
          <p:cNvPr id="4" name="フリーフォーム: 図形 3">
            <a:extLst>
              <a:ext uri="{FF2B5EF4-FFF2-40B4-BE49-F238E27FC236}">
                <a16:creationId xmlns:a16="http://schemas.microsoft.com/office/drawing/2014/main" id="{DAFE403D-3189-58CC-7F8E-B1A63AB98A8E}"/>
              </a:ext>
            </a:extLst>
          </p:cNvPr>
          <p:cNvSpPr/>
          <p:nvPr/>
        </p:nvSpPr>
        <p:spPr>
          <a:xfrm>
            <a:off x="0" y="-1"/>
            <a:ext cx="12192000" cy="6858000"/>
          </a:xfrm>
          <a:custGeom>
            <a:avLst/>
            <a:gdLst>
              <a:gd name="csX0" fmla="*/ 6188365 w 12192000"/>
              <a:gd name="csY0" fmla="*/ 4236462 h 6858000"/>
              <a:gd name="csX1" fmla="*/ 6188365 w 12192000"/>
              <a:gd name="csY1" fmla="*/ 5305425 h 6858000"/>
              <a:gd name="csX2" fmla="*/ 7829551 w 12192000"/>
              <a:gd name="csY2" fmla="*/ 5305425 h 6858000"/>
              <a:gd name="csX3" fmla="*/ 7829551 w 12192000"/>
              <a:gd name="csY3" fmla="*/ 4236462 h 6858000"/>
              <a:gd name="csX4" fmla="*/ 0 w 12192000"/>
              <a:gd name="csY4" fmla="*/ 0 h 6858000"/>
              <a:gd name="csX5" fmla="*/ 12192000 w 12192000"/>
              <a:gd name="csY5" fmla="*/ 0 h 6858000"/>
              <a:gd name="csX6" fmla="*/ 12192000 w 12192000"/>
              <a:gd name="csY6" fmla="*/ 6858000 h 6858000"/>
              <a:gd name="csX7" fmla="*/ 0 w 12192000"/>
              <a:gd name="csY7"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6858000">
                <a:moveTo>
                  <a:pt x="6188365" y="4236462"/>
                </a:moveTo>
                <a:lnTo>
                  <a:pt x="6188365" y="5305425"/>
                </a:lnTo>
                <a:lnTo>
                  <a:pt x="7829551" y="5305425"/>
                </a:lnTo>
                <a:lnTo>
                  <a:pt x="7829551" y="4236462"/>
                </a:lnTo>
                <a:close/>
                <a:moveTo>
                  <a:pt x="0" y="0"/>
                </a:moveTo>
                <a:lnTo>
                  <a:pt x="12192000" y="0"/>
                </a:lnTo>
                <a:lnTo>
                  <a:pt x="12192000" y="6858000"/>
                </a:lnTo>
                <a:lnTo>
                  <a:pt x="0" y="6858000"/>
                </a:lnTo>
                <a:close/>
              </a:path>
            </a:pathLst>
          </a:custGeom>
          <a:solidFill>
            <a:srgbClr val="BFBFBF">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ja-JP" altLang="en-US"/>
          </a:p>
        </p:txBody>
      </p:sp>
    </p:spTree>
    <p:extLst>
      <p:ext uri="{BB962C8B-B14F-4D97-AF65-F5344CB8AC3E}">
        <p14:creationId xmlns:p14="http://schemas.microsoft.com/office/powerpoint/2010/main" val="32010984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EBBAB0-636F-CA0E-FD1F-0E934D5BC81B}"/>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B0B8D679-6857-FDC2-6C91-9A61140B7549}"/>
              </a:ext>
            </a:extLst>
          </p:cNvPr>
          <p:cNvSpPr txBox="1"/>
          <p:nvPr/>
        </p:nvSpPr>
        <p:spPr>
          <a:xfrm>
            <a:off x="685800" y="381000"/>
            <a:ext cx="10795000" cy="615553"/>
          </a:xfrm>
          <a:prstGeom prst="rect">
            <a:avLst/>
          </a:prstGeom>
          <a:noFill/>
        </p:spPr>
        <p:txBody>
          <a:bodyPr vert="horz" rtlCol="0">
            <a:spAutoFit/>
          </a:bodyPr>
          <a:lstStyle/>
          <a:p>
            <a:r>
              <a:rPr lang="ja-JP" altLang="en-US" sz="3400" b="1" dirty="0">
                <a:latin typeface="BIZ UDPゴシック" panose="020B0400000000000000" pitchFamily="50" charset="-128"/>
                <a:ea typeface="BIZ UDPゴシック" panose="020B0400000000000000" pitchFamily="50" charset="-128"/>
              </a:rPr>
              <a:t>プロンプト例</a:t>
            </a:r>
            <a:endParaRPr kumimoji="1" lang="ja-JP" altLang="en-US" sz="3400" b="1" dirty="0">
              <a:latin typeface="BIZ UDPゴシック" panose="020B0400000000000000" pitchFamily="50" charset="-128"/>
              <a:ea typeface="BIZ UDPゴシック" panose="020B0400000000000000" pitchFamily="50" charset="-128"/>
            </a:endParaRPr>
          </a:p>
        </p:txBody>
      </p:sp>
      <p:sp>
        <p:nvSpPr>
          <p:cNvPr id="3" name="テキスト ボックス 2">
            <a:extLst>
              <a:ext uri="{FF2B5EF4-FFF2-40B4-BE49-F238E27FC236}">
                <a16:creationId xmlns:a16="http://schemas.microsoft.com/office/drawing/2014/main" id="{C86C4B82-B993-1BAD-D2F0-16B5105A1C4C}"/>
              </a:ext>
            </a:extLst>
          </p:cNvPr>
          <p:cNvSpPr txBox="1"/>
          <p:nvPr/>
        </p:nvSpPr>
        <p:spPr>
          <a:xfrm>
            <a:off x="736600" y="990600"/>
            <a:ext cx="10668000" cy="369332"/>
          </a:xfrm>
          <a:prstGeom prst="rect">
            <a:avLst/>
          </a:prstGeom>
          <a:noFill/>
        </p:spPr>
        <p:txBody>
          <a:bodyPr vert="horz" rtlCol="0">
            <a:spAutoFit/>
          </a:bodyPr>
          <a:lstStyle/>
          <a:p>
            <a:r>
              <a:rPr lang="en-US" altLang="ja-JP" dirty="0" err="1">
                <a:solidFill>
                  <a:srgbClr val="555555"/>
                </a:solidFill>
                <a:latin typeface="BIZ UDPゴシック" panose="020B0400000000000000" pitchFamily="50" charset="-128"/>
                <a:ea typeface="BIZ UDPゴシック" panose="020B0400000000000000" pitchFamily="50" charset="-128"/>
              </a:rPr>
              <a:t>tdd</a:t>
            </a:r>
            <a:r>
              <a:rPr lang="ja-JP" altLang="en-US" dirty="0">
                <a:solidFill>
                  <a:srgbClr val="555555"/>
                </a:solidFill>
                <a:latin typeface="BIZ UDPゴシック" panose="020B0400000000000000" pitchFamily="50" charset="-128"/>
                <a:ea typeface="BIZ UDPゴシック" panose="020B0400000000000000" pitchFamily="50" charset="-128"/>
              </a:rPr>
              <a:t>スキルは未完了チケットを自動的に検知して、テスト駆動開発を実行</a:t>
            </a:r>
          </a:p>
        </p:txBody>
      </p:sp>
      <p:sp>
        <p:nvSpPr>
          <p:cNvPr id="5" name="四角形: 角を丸くする 4">
            <a:extLst>
              <a:ext uri="{FF2B5EF4-FFF2-40B4-BE49-F238E27FC236}">
                <a16:creationId xmlns:a16="http://schemas.microsoft.com/office/drawing/2014/main" id="{81597724-C0CC-9584-AC8F-62F947B99B60}"/>
              </a:ext>
            </a:extLst>
          </p:cNvPr>
          <p:cNvSpPr/>
          <p:nvPr/>
        </p:nvSpPr>
        <p:spPr>
          <a:xfrm>
            <a:off x="857249" y="1733550"/>
            <a:ext cx="2857501" cy="551020"/>
          </a:xfrm>
          <a:prstGeom prst="roundRect">
            <a:avLst>
              <a:gd name="adj" fmla="val 14600"/>
            </a:avLst>
          </a:prstGeom>
        </p:spPr>
        <p:style>
          <a:lnRef idx="2">
            <a:schemeClr val="dk1"/>
          </a:lnRef>
          <a:fillRef idx="1">
            <a:schemeClr val="lt1"/>
          </a:fillRef>
          <a:effectRef idx="0">
            <a:schemeClr val="dk1"/>
          </a:effectRef>
          <a:fontRef idx="minor">
            <a:schemeClr val="dk1"/>
          </a:fontRef>
        </p:style>
        <p:txBody>
          <a:bodyPr rtlCol="0" anchor="t" anchorCtr="0"/>
          <a:lstStyle/>
          <a:p>
            <a:pPr algn="ctr"/>
            <a:r>
              <a:rPr kumimoji="1" lang="ja-JP" altLang="en-US" dirty="0">
                <a:latin typeface="BIZ UDPゴシック" panose="020B0400000000000000" pitchFamily="50" charset="-128"/>
                <a:ea typeface="BIZ UDPゴシック" panose="020B0400000000000000" pitchFamily="50" charset="-128"/>
              </a:rPr>
              <a:t>コーディングエージェント</a:t>
            </a:r>
          </a:p>
        </p:txBody>
      </p:sp>
      <p:sp>
        <p:nvSpPr>
          <p:cNvPr id="8" name="四角形: 角を丸くする 7">
            <a:extLst>
              <a:ext uri="{FF2B5EF4-FFF2-40B4-BE49-F238E27FC236}">
                <a16:creationId xmlns:a16="http://schemas.microsoft.com/office/drawing/2014/main" id="{53E105AA-3E7E-4643-D798-9B8F79368616}"/>
              </a:ext>
            </a:extLst>
          </p:cNvPr>
          <p:cNvSpPr/>
          <p:nvPr/>
        </p:nvSpPr>
        <p:spPr>
          <a:xfrm>
            <a:off x="857249" y="2177652"/>
            <a:ext cx="10668000" cy="736997"/>
          </a:xfrm>
          <a:prstGeom prst="roundRect">
            <a:avLst>
              <a:gd name="adj" fmla="val 1987"/>
            </a:avLst>
          </a:prstGeom>
          <a:solidFill>
            <a:schemeClr val="bg2">
              <a:lumMod val="25000"/>
            </a:schemeClr>
          </a:solidFill>
        </p:spPr>
        <p:style>
          <a:lnRef idx="2">
            <a:schemeClr val="dk1"/>
          </a:lnRef>
          <a:fillRef idx="1">
            <a:schemeClr val="lt1"/>
          </a:fillRef>
          <a:effectRef idx="0">
            <a:schemeClr val="dk1"/>
          </a:effectRef>
          <a:fontRef idx="minor">
            <a:schemeClr val="dk1"/>
          </a:fontRef>
        </p:style>
        <p:txBody>
          <a:bodyPr rtlCol="0" anchor="t" anchorCtr="0"/>
          <a:lstStyle/>
          <a:p>
            <a:r>
              <a:rPr lang="en-US" altLang="ja-JP"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a:t>
            </a:r>
            <a:r>
              <a:rPr lang="en-US" altLang="ja-JP" sz="1600" dirty="0" err="1">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tdd</a:t>
            </a:r>
            <a:endParaRPr kumimoji="1" lang="en-US" altLang="ja-JP"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endParaRPr>
          </a:p>
        </p:txBody>
      </p:sp>
    </p:spTree>
    <p:extLst>
      <p:ext uri="{BB962C8B-B14F-4D97-AF65-F5344CB8AC3E}">
        <p14:creationId xmlns:p14="http://schemas.microsoft.com/office/powerpoint/2010/main" val="28815429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CF6632-68A0-F2C3-BA85-034CE076A8A6}"/>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0A7EA521-5090-515B-3E7D-4CB01F8B61D7}"/>
              </a:ext>
            </a:extLst>
          </p:cNvPr>
          <p:cNvSpPr txBox="1"/>
          <p:nvPr/>
        </p:nvSpPr>
        <p:spPr>
          <a:xfrm>
            <a:off x="685800" y="381000"/>
            <a:ext cx="10795000" cy="615553"/>
          </a:xfrm>
          <a:prstGeom prst="rect">
            <a:avLst/>
          </a:prstGeom>
          <a:noFill/>
        </p:spPr>
        <p:txBody>
          <a:bodyPr vert="horz" rtlCol="0">
            <a:spAutoFit/>
          </a:bodyPr>
          <a:lstStyle/>
          <a:p>
            <a:r>
              <a:rPr lang="ja-JP" altLang="en-US" sz="3400" b="1" dirty="0">
                <a:latin typeface="BIZ UDPゴシック" panose="020B0400000000000000" pitchFamily="50" charset="-128"/>
                <a:ea typeface="BIZ UDPゴシック" panose="020B0400000000000000" pitchFamily="50" charset="-128"/>
              </a:rPr>
              <a:t>プロンプト例</a:t>
            </a:r>
            <a:endParaRPr kumimoji="1" lang="ja-JP" altLang="en-US" sz="3400" b="1" dirty="0">
              <a:latin typeface="BIZ UDPゴシック" panose="020B0400000000000000" pitchFamily="50" charset="-128"/>
              <a:ea typeface="BIZ UDPゴシック" panose="020B0400000000000000" pitchFamily="50" charset="-128"/>
            </a:endParaRPr>
          </a:p>
        </p:txBody>
      </p:sp>
      <p:sp>
        <p:nvSpPr>
          <p:cNvPr id="3" name="テキスト ボックス 2">
            <a:extLst>
              <a:ext uri="{FF2B5EF4-FFF2-40B4-BE49-F238E27FC236}">
                <a16:creationId xmlns:a16="http://schemas.microsoft.com/office/drawing/2014/main" id="{334ADE79-964D-7B9E-89A0-B7FC238224D7}"/>
              </a:ext>
            </a:extLst>
          </p:cNvPr>
          <p:cNvSpPr txBox="1"/>
          <p:nvPr/>
        </p:nvSpPr>
        <p:spPr>
          <a:xfrm>
            <a:off x="736600" y="990600"/>
            <a:ext cx="10668000" cy="646331"/>
          </a:xfrm>
          <a:prstGeom prst="rect">
            <a:avLst/>
          </a:prstGeom>
          <a:noFill/>
        </p:spPr>
        <p:txBody>
          <a:bodyPr vert="horz" rtlCol="0">
            <a:spAutoFit/>
          </a:bodyPr>
          <a:lstStyle/>
          <a:p>
            <a:r>
              <a:rPr kumimoji="1" lang="ja-JP" altLang="en-US" dirty="0">
                <a:solidFill>
                  <a:srgbClr val="555555"/>
                </a:solidFill>
                <a:latin typeface="BIZ UDPゴシック" panose="020B0400000000000000" pitchFamily="50" charset="-128"/>
                <a:ea typeface="BIZ UDPゴシック" panose="020B0400000000000000" pitchFamily="50" charset="-128"/>
              </a:rPr>
              <a:t>それでも期待通り動かない場合： 不具合修正の要件詳細化から実装までを実施</a:t>
            </a:r>
            <a:endParaRPr kumimoji="1" lang="en-US" altLang="ja-JP" dirty="0">
              <a:solidFill>
                <a:srgbClr val="555555"/>
              </a:solidFill>
              <a:latin typeface="BIZ UDPゴシック" panose="020B0400000000000000" pitchFamily="50" charset="-128"/>
              <a:ea typeface="BIZ UDPゴシック" panose="020B0400000000000000" pitchFamily="50" charset="-128"/>
            </a:endParaRPr>
          </a:p>
          <a:p>
            <a:r>
              <a:rPr lang="en-US" altLang="ja-JP" dirty="0">
                <a:solidFill>
                  <a:srgbClr val="555555"/>
                </a:solidFill>
                <a:latin typeface="BIZ UDPゴシック" panose="020B0400000000000000" pitchFamily="50" charset="-128"/>
                <a:ea typeface="BIZ UDPゴシック" panose="020B0400000000000000" pitchFamily="50" charset="-128"/>
              </a:rPr>
              <a:t> /grill-with-docs  </a:t>
            </a:r>
            <a:r>
              <a:rPr lang="ja-JP" altLang="en-US" dirty="0">
                <a:solidFill>
                  <a:srgbClr val="555555"/>
                </a:solidFill>
                <a:latin typeface="BIZ UDPゴシック" panose="020B0400000000000000" pitchFamily="50" charset="-128"/>
                <a:ea typeface="BIZ UDPゴシック" panose="020B0400000000000000" pitchFamily="50" charset="-128"/>
              </a:rPr>
              <a:t>→  </a:t>
            </a:r>
            <a:r>
              <a:rPr lang="en-US" altLang="ja-JP" dirty="0">
                <a:solidFill>
                  <a:srgbClr val="555555"/>
                </a:solidFill>
                <a:latin typeface="BIZ UDPゴシック" panose="020B0400000000000000" pitchFamily="50" charset="-128"/>
                <a:ea typeface="BIZ UDPゴシック" panose="020B0400000000000000" pitchFamily="50" charset="-128"/>
              </a:rPr>
              <a:t>/to-tickets  </a:t>
            </a:r>
            <a:r>
              <a:rPr lang="ja-JP" altLang="en-US" dirty="0">
                <a:solidFill>
                  <a:srgbClr val="555555"/>
                </a:solidFill>
                <a:latin typeface="BIZ UDPゴシック" panose="020B0400000000000000" pitchFamily="50" charset="-128"/>
                <a:ea typeface="BIZ UDPゴシック" panose="020B0400000000000000" pitchFamily="50" charset="-128"/>
              </a:rPr>
              <a:t>→  </a:t>
            </a:r>
            <a:r>
              <a:rPr lang="en-US" altLang="ja-JP" dirty="0">
                <a:solidFill>
                  <a:srgbClr val="555555"/>
                </a:solidFill>
                <a:latin typeface="BIZ UDPゴシック" panose="020B0400000000000000" pitchFamily="50" charset="-128"/>
                <a:ea typeface="BIZ UDPゴシック" panose="020B0400000000000000" pitchFamily="50" charset="-128"/>
              </a:rPr>
              <a:t>/</a:t>
            </a:r>
            <a:r>
              <a:rPr lang="en-US" altLang="ja-JP" dirty="0" err="1">
                <a:solidFill>
                  <a:srgbClr val="555555"/>
                </a:solidFill>
                <a:latin typeface="BIZ UDPゴシック" panose="020B0400000000000000" pitchFamily="50" charset="-128"/>
                <a:ea typeface="BIZ UDPゴシック" panose="020B0400000000000000" pitchFamily="50" charset="-128"/>
              </a:rPr>
              <a:t>tdd</a:t>
            </a:r>
            <a:endParaRPr kumimoji="1" lang="ja-JP" altLang="en-US" dirty="0">
              <a:solidFill>
                <a:srgbClr val="555555"/>
              </a:solidFill>
              <a:latin typeface="BIZ UDPゴシック" panose="020B0400000000000000" pitchFamily="50" charset="-128"/>
              <a:ea typeface="BIZ UDPゴシック" panose="020B0400000000000000" pitchFamily="50" charset="-128"/>
            </a:endParaRPr>
          </a:p>
        </p:txBody>
      </p:sp>
      <p:sp>
        <p:nvSpPr>
          <p:cNvPr id="5" name="四角形: 角を丸くする 4">
            <a:extLst>
              <a:ext uri="{FF2B5EF4-FFF2-40B4-BE49-F238E27FC236}">
                <a16:creationId xmlns:a16="http://schemas.microsoft.com/office/drawing/2014/main" id="{67978D60-BF82-F7BE-7DBA-F01789C11AC1}"/>
              </a:ext>
            </a:extLst>
          </p:cNvPr>
          <p:cNvSpPr/>
          <p:nvPr/>
        </p:nvSpPr>
        <p:spPr>
          <a:xfrm>
            <a:off x="857249" y="1733550"/>
            <a:ext cx="2857501" cy="551020"/>
          </a:xfrm>
          <a:prstGeom prst="roundRect">
            <a:avLst>
              <a:gd name="adj" fmla="val 14600"/>
            </a:avLst>
          </a:prstGeom>
        </p:spPr>
        <p:style>
          <a:lnRef idx="2">
            <a:schemeClr val="dk1"/>
          </a:lnRef>
          <a:fillRef idx="1">
            <a:schemeClr val="lt1"/>
          </a:fillRef>
          <a:effectRef idx="0">
            <a:schemeClr val="dk1"/>
          </a:effectRef>
          <a:fontRef idx="minor">
            <a:schemeClr val="dk1"/>
          </a:fontRef>
        </p:style>
        <p:txBody>
          <a:bodyPr rtlCol="0" anchor="t" anchorCtr="0"/>
          <a:lstStyle/>
          <a:p>
            <a:pPr algn="ctr"/>
            <a:r>
              <a:rPr kumimoji="1" lang="ja-JP" altLang="en-US" dirty="0">
                <a:latin typeface="BIZ UDPゴシック" panose="020B0400000000000000" pitchFamily="50" charset="-128"/>
                <a:ea typeface="BIZ UDPゴシック" panose="020B0400000000000000" pitchFamily="50" charset="-128"/>
              </a:rPr>
              <a:t>コーディングエージェント</a:t>
            </a:r>
          </a:p>
        </p:txBody>
      </p:sp>
      <p:sp>
        <p:nvSpPr>
          <p:cNvPr id="8" name="四角形: 角を丸くする 7">
            <a:extLst>
              <a:ext uri="{FF2B5EF4-FFF2-40B4-BE49-F238E27FC236}">
                <a16:creationId xmlns:a16="http://schemas.microsoft.com/office/drawing/2014/main" id="{3D886A06-03BD-737D-49E4-34CF87ABE7EB}"/>
              </a:ext>
            </a:extLst>
          </p:cNvPr>
          <p:cNvSpPr/>
          <p:nvPr/>
        </p:nvSpPr>
        <p:spPr>
          <a:xfrm>
            <a:off x="857249" y="2177653"/>
            <a:ext cx="10668000" cy="1251348"/>
          </a:xfrm>
          <a:prstGeom prst="roundRect">
            <a:avLst>
              <a:gd name="adj" fmla="val 1987"/>
            </a:avLst>
          </a:prstGeom>
          <a:solidFill>
            <a:schemeClr val="bg2">
              <a:lumMod val="25000"/>
            </a:schemeClr>
          </a:solidFill>
        </p:spPr>
        <p:style>
          <a:lnRef idx="2">
            <a:schemeClr val="dk1"/>
          </a:lnRef>
          <a:fillRef idx="1">
            <a:schemeClr val="lt1"/>
          </a:fillRef>
          <a:effectRef idx="0">
            <a:schemeClr val="dk1"/>
          </a:effectRef>
          <a:fontRef idx="minor">
            <a:schemeClr val="dk1"/>
          </a:fontRef>
        </p:style>
        <p:txBody>
          <a:bodyPr rtlCol="0" anchor="t" anchorCtr="0"/>
          <a:lstStyle/>
          <a:p>
            <a:r>
              <a:rPr lang="en-US" altLang="ja-JP"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/grill-with-docs</a:t>
            </a:r>
            <a:br>
              <a:rPr lang="en-US" altLang="ja-JP"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br>
            <a:r>
              <a:rPr lang="en-US" altLang="ja-JP"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`MAC</a:t>
            </a:r>
            <a:r>
              <a:rPr lang="ja-JP" altLang="en-US"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一覧</a:t>
            </a:r>
            <a:r>
              <a:rPr lang="en-US" altLang="ja-JP"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a:t>
            </a:r>
            <a:r>
              <a:rPr lang="ja-JP" altLang="en-US"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の</a:t>
            </a:r>
            <a:r>
              <a:rPr lang="en-US" altLang="ja-JP"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a:t>
            </a:r>
            <a:r>
              <a:rPr lang="ja-JP" altLang="en-US"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同期</a:t>
            </a:r>
            <a:r>
              <a:rPr lang="en-US" altLang="ja-JP"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a:t>
            </a:r>
            <a:r>
              <a:rPr lang="ja-JP" altLang="en-US"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ボタンをクリックしても、</a:t>
            </a:r>
            <a:r>
              <a:rPr lang="en-US" altLang="ja-JP"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WIFI</a:t>
            </a:r>
            <a:r>
              <a:rPr lang="ja-JP" altLang="en-US"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rPr>
              <a:t>ルータに登録されているデバイス情報が一覧に反映されません。その原因を特定し、修正方針を定めたいです。</a:t>
            </a:r>
            <a:endParaRPr kumimoji="1" lang="en-US" altLang="ja-JP" sz="1600" dirty="0">
              <a:solidFill>
                <a:schemeClr val="bg2"/>
              </a:solidFill>
              <a:latin typeface="Cascadia Mono" panose="020B0609020000020004" pitchFamily="49" charset="0"/>
              <a:ea typeface="BIZ UDPゴシック" panose="020B0400000000000000" pitchFamily="50" charset="-128"/>
              <a:cs typeface="Cascadia Mono" panose="020B0609020000020004" pitchFamily="49" charset="0"/>
            </a:endParaRPr>
          </a:p>
        </p:txBody>
      </p:sp>
    </p:spTree>
    <p:extLst>
      <p:ext uri="{BB962C8B-B14F-4D97-AF65-F5344CB8AC3E}">
        <p14:creationId xmlns:p14="http://schemas.microsoft.com/office/powerpoint/2010/main" val="2602092796"/>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183</TotalTime>
  <Words>1379</Words>
  <Application>Microsoft Office PowerPoint</Application>
  <PresentationFormat>ワイド画面</PresentationFormat>
  <Paragraphs>112</Paragraphs>
  <Slides>17</Slides>
  <Notes>0</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17</vt:i4>
      </vt:variant>
    </vt:vector>
  </HeadingPairs>
  <TitlesOfParts>
    <vt:vector size="24" baseType="lpstr">
      <vt:lpstr>BIZ UDPゴシック</vt:lpstr>
      <vt:lpstr>游ゴシック</vt:lpstr>
      <vt:lpstr>游ゴシック Light</vt:lpstr>
      <vt:lpstr>Arial</vt:lpstr>
      <vt:lpstr>Cascadia Mono</vt:lpstr>
      <vt:lpstr>Consolas</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哲也 金子</dc:creator>
  <cp:lastModifiedBy>哲也 金子</cp:lastModifiedBy>
  <cp:revision>7</cp:revision>
  <dcterms:created xsi:type="dcterms:W3CDTF">2026-08-08T22:39:50Z</dcterms:created>
  <dcterms:modified xsi:type="dcterms:W3CDTF">2026-08-10T16:20:54Z</dcterms:modified>
</cp:coreProperties>
</file>