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94D8F8-1ECB-EA99-6184-FF822AADC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16AACC-7147-31A1-BC84-909D2C89F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87A7D1-901D-3CD2-E0E0-679F23E5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B34F7E-2F0C-A6BD-66BA-317FA065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7BD5DD-42EE-0D59-317C-F1ECB1C9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90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97DF85-393F-99FE-709E-8C564429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3D785D-3CB5-0D12-E21F-106E63A3F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8F8D36-DD80-E974-4B10-F3326170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9FC7DD-3767-A64E-54D6-9E8BA1D8A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A9B1BC-E185-FEDD-FB75-411B04E9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6281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05759-ADA6-79DC-35A9-D05E3B8B6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1366DB-5231-C9BE-9D11-9734E3603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2348C2-BCAB-2FD3-B3DE-F6D01EED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8092B7-CD26-23D0-0A5A-4A33A7A93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74256A-A209-C81C-8D92-D9777090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52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A115FB-EE50-A5E6-37AB-1BE38735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B15C1F-DE39-1C8F-DB06-47FC40812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C9636C-C877-9940-801A-7785BD5C7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15E563-C440-51BE-AD38-4DAA1B540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F2F4B6-B0A0-AF9C-7090-C9120749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F6563D-08F6-8C09-232C-8071FFEA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637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D27FDD-00AB-0B74-3E16-997E9E0BB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D05061-B0CB-AA5A-FB52-ECE84BC0B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DA7199-119F-E726-5809-7ACE80401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287397-6A68-E78B-BC50-C5388BDA9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52AEE00-8C63-5CF2-3F45-494A2BDDE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FB25D3C-80F1-1A06-EB50-1551A009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998B587-A229-B891-8CDD-CF73CA9A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AEE351F-E24F-4BDE-0B08-C527CB10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11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9C6CA-6FBB-6DE5-FFC9-65C14C80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068079-E788-77F7-903F-62A07BE3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C1617F4-96A3-78F9-7E95-DDA0BA98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62802FC-3860-FDD2-29FB-ED81A94B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85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83EC18-F69E-F6A7-39D8-2F93701BD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ABBC3DF-0E5C-332E-8224-1D877114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54A440-A26E-7EB2-8348-91036F1B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909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C7BD63-92C7-EF0A-281B-729E3868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E55AA6-A910-15A4-48F3-B76312C48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4F97AB-27B4-EA81-AB3C-956D0F1C8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567BEF-AA61-EC99-4B11-D3D00C0B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76093C-71FC-93F3-1D07-F23F38B0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026E49-35F7-8F4B-AC0B-244FB453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99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FFB4B5-7D35-DAE7-6145-315A7615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EAD9A32-5A54-6E0A-05F1-836D6033D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9D3434-0CA5-EA6C-E124-AE88518A8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036F9E-4189-A71E-A014-AC051A43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791C83-2362-C332-D53E-62CD6105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493D89-E03F-88C4-1A98-33C4D0CE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144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25DF46-D3C7-7BAA-632C-969C688E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6BCCFF-B04E-FF30-F92F-8CA50CA41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368F94-81F1-347C-3657-C285BF664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821DE5-C6B4-9D55-789E-7D593174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B9B977-C03B-998F-8655-956EECF5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08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290645-8A66-BDD9-4A4E-76E0233F3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4D0571B-1B43-7C13-2D8B-E7F42847D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105D75-DAA3-DDF8-6547-EE3ACCDF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56FC40-6DC1-CBFB-42BE-59598BDAE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CD1DFB-426C-882B-42EF-FB0FD7C4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8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32C79B-2340-0E12-5E6D-1F0944F5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6C0539-591C-D80E-AE1E-42DA76C99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54F305-11CF-0C9C-4234-F506D804C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3DD1D-1914-4317-92CE-AE82E823F373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584C2D-72AC-44A2-E0B7-FD6FAB8B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8FFD93-F8E4-37A1-883A-BC97D529E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A7EFE-FE82-409B-811A-66FE46280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1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B1BFB0-1736-40A7-E04D-487B9074EC62}"/>
              </a:ext>
            </a:extLst>
          </p:cNvPr>
          <p:cNvSpPr txBox="1"/>
          <p:nvPr/>
        </p:nvSpPr>
        <p:spPr>
          <a:xfrm>
            <a:off x="609600" y="1524000"/>
            <a:ext cx="584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8</a:t>
            </a:r>
            <a:r>
              <a:rPr kumimoji="1" lang="ja-JP" altLang="en-US" sz="16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EC2434C-030D-59F7-02A5-05D85A853BAA}"/>
              </a:ext>
            </a:extLst>
          </p:cNvPr>
          <p:cNvSpPr txBox="1"/>
          <p:nvPr/>
        </p:nvSpPr>
        <p:spPr>
          <a:xfrm>
            <a:off x="609600" y="2032000"/>
            <a:ext cx="584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進化する生成</a:t>
            </a:r>
            <a:r>
              <a:rPr kumimoji="1" lang="en-US" altLang="ja-JP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3400" b="1">
                <a:solidFill>
                  <a:srgbClr val="000000"/>
                </a:solidFill>
                <a:latin typeface="BIZ UDPゴシック" panose="020B0400000000000000" pitchFamily="50" charset="-128"/>
              </a:rPr>
              <a:t>と脅威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5F2961B-2E3B-5EA0-09D2-3385FC1BBF55}"/>
              </a:ext>
            </a:extLst>
          </p:cNvPr>
          <p:cNvSpPr txBox="1"/>
          <p:nvPr/>
        </p:nvSpPr>
        <p:spPr>
          <a:xfrm>
            <a:off x="609600" y="3429000"/>
            <a:ext cx="584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000">
                <a:solidFill>
                  <a:srgbClr val="555555"/>
                </a:solidFill>
                <a:latin typeface="BIZ UDPゴシック" panose="020B0400000000000000" pitchFamily="50" charset="-128"/>
              </a:rPr>
              <a:t>実環境へ越境した</a:t>
            </a:r>
            <a:r>
              <a:rPr kumimoji="1" lang="en-US" altLang="ja-JP" sz="2000">
                <a:solidFill>
                  <a:srgbClr val="555555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000">
                <a:solidFill>
                  <a:srgbClr val="555555"/>
                </a:solidFill>
                <a:latin typeface="BIZ UDPゴシック" panose="020B0400000000000000" pitchFamily="50" charset="-128"/>
              </a:rPr>
              <a:t>エージェントと、注目されるサイバーセキュリティ</a:t>
            </a:r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6BE98897-D4E3-86D7-F181-7126C0D25B2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1016000"/>
            <a:ext cx="4953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5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グラフィックス 24">
            <a:extLst>
              <a:ext uri="{FF2B5EF4-FFF2-40B4-BE49-F238E27FC236}">
                <a16:creationId xmlns:a16="http://schemas.microsoft.com/office/drawing/2014/main" id="{069639DD-1A69-67C0-4875-3B90D79B60B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369289"/>
            <a:ext cx="10972800" cy="340591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582E5C0-83CB-19EA-ED97-3512BC8DAD4B}"/>
              </a:ext>
            </a:extLst>
          </p:cNvPr>
          <p:cNvSpPr txBox="1"/>
          <p:nvPr/>
        </p:nvSpPr>
        <p:spPr>
          <a:xfrm>
            <a:off x="609600" y="381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公表 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21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AB205B3-017B-4C11-36EC-17BEFC39C541}"/>
              </a:ext>
            </a:extLst>
          </p:cNvPr>
          <p:cNvSpPr txBox="1"/>
          <p:nvPr/>
        </p:nvSpPr>
        <p:spPr>
          <a:xfrm>
            <a:off x="609600" y="685800"/>
            <a:ext cx="109728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en-US" altLang="ja-JP" sz="2800" b="1">
                <a:solidFill>
                  <a:srgbClr val="000000"/>
                </a:solidFill>
                <a:latin typeface="BIZ UDPゴシック" panose="020B0400000000000000" pitchFamily="50" charset="-128"/>
              </a:rPr>
              <a:t>OpenAI</a:t>
            </a:r>
            <a:r>
              <a:rPr kumimoji="1" lang="ja-JP" altLang="en-US" sz="2800" b="1">
                <a:solidFill>
                  <a:srgbClr val="000000"/>
                </a:solidFill>
                <a:latin typeface="BIZ UDPゴシック" panose="020B0400000000000000" pitchFamily="50" charset="-128"/>
              </a:rPr>
              <a:t>事例：評価中の</a:t>
            </a:r>
            <a:r>
              <a:rPr kumimoji="1" lang="en-US" altLang="ja-JP" sz="2800" b="1">
                <a:solidFill>
                  <a:srgbClr val="000000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800" b="1">
                <a:solidFill>
                  <a:srgbClr val="000000"/>
                </a:solidFill>
                <a:latin typeface="BIZ UDPゴシック" panose="020B0400000000000000" pitchFamily="50" charset="-128"/>
              </a:rPr>
              <a:t>が</a:t>
            </a:r>
            <a:r>
              <a:rPr kumimoji="1" lang="en-US" altLang="ja-JP" sz="2800" b="1">
                <a:solidFill>
                  <a:srgbClr val="000000"/>
                </a:solidFill>
                <a:latin typeface="BIZ UDPゴシック" panose="020B0400000000000000" pitchFamily="50" charset="-128"/>
              </a:rPr>
              <a:t>Hugging Face</a:t>
            </a:r>
            <a:r>
              <a:rPr kumimoji="1" lang="ja-JP" altLang="en-US" sz="2800" b="1">
                <a:solidFill>
                  <a:srgbClr val="000000"/>
                </a:solidFill>
                <a:latin typeface="BIZ UDPゴシック" panose="020B0400000000000000" pitchFamily="50" charset="-128"/>
              </a:rPr>
              <a:t>本番環境へ到達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6CA9EB7-7DFE-660B-3770-94478FB02D3A}"/>
              </a:ext>
            </a:extLst>
          </p:cNvPr>
          <p:cNvSpPr txBox="1"/>
          <p:nvPr/>
        </p:nvSpPr>
        <p:spPr>
          <a:xfrm>
            <a:off x="609600" y="1219200"/>
            <a:ext cx="10972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600" b="1">
                <a:solidFill>
                  <a:srgbClr val="555555"/>
                </a:solidFill>
                <a:latin typeface="BIZ UDPゴシック" panose="020B0400000000000000" pitchFamily="50" charset="-128"/>
              </a:rPr>
              <a:t>関与モデル：</a:t>
            </a:r>
            <a:r>
              <a:rPr kumimoji="1" lang="en-US" altLang="ja-JP" sz="1600" b="1">
                <a:solidFill>
                  <a:srgbClr val="555555"/>
                </a:solidFill>
                <a:latin typeface="BIZ UDPゴシック" panose="020B0400000000000000" pitchFamily="50" charset="-128"/>
              </a:rPr>
              <a:t>GPT-5.6 Sol / </a:t>
            </a:r>
            <a:r>
              <a:rPr kumimoji="1" lang="ja-JP" altLang="en-US" sz="1600" b="1">
                <a:solidFill>
                  <a:srgbClr val="555555"/>
                </a:solidFill>
                <a:latin typeface="BIZ UDPゴシック" panose="020B0400000000000000" pitchFamily="50" charset="-128"/>
              </a:rPr>
              <a:t>社内研究用の未公開モデル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10DA25B-5DF2-E28D-6303-4B4C4CF8CE33}"/>
              </a:ext>
            </a:extLst>
          </p:cNvPr>
          <p:cNvSpPr/>
          <p:nvPr/>
        </p:nvSpPr>
        <p:spPr>
          <a:xfrm>
            <a:off x="609600" y="4597400"/>
            <a:ext cx="10972800" cy="863600"/>
          </a:xfrm>
          <a:prstGeom prst="rect">
            <a:avLst/>
          </a:prstGeom>
          <a:solidFill>
            <a:srgbClr val="EDF2F9"/>
          </a:solidFill>
          <a:ln w="2540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kumimoji="1" lang="en-US" altLang="ja-JP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【</a:t>
            </a:r>
            <a:r>
              <a:rPr kumimoji="1" lang="ja-JP" altLang="en-US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結論</a:t>
            </a:r>
            <a:r>
              <a:rPr kumimoji="1" lang="en-US" altLang="ja-JP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】 </a:t>
            </a:r>
            <a:r>
              <a:rPr kumimoji="1" lang="ja-JP" altLang="en-US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隔離された評価環境でも、高度な</a:t>
            </a:r>
            <a:r>
              <a:rPr kumimoji="1" lang="en-US" altLang="ja-JP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は未知の脆弱性を連鎖させ、外部の本番環境へ到達し得る。</a:t>
            </a:r>
          </a:p>
          <a:p>
            <a:pPr algn="ctr"/>
            <a:r>
              <a:rPr kumimoji="1" lang="en-US" altLang="ja-JP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※ </a:t>
            </a:r>
            <a:r>
              <a:rPr kumimoji="1" lang="ja-JP" altLang="en-US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独自の悪意ではなく、与えられた評価目標を過度に追求した結果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B999863-BD28-B26A-6E23-8FD0B65B322C}"/>
              </a:ext>
            </a:extLst>
          </p:cNvPr>
          <p:cNvSpPr txBox="1"/>
          <p:nvPr/>
        </p:nvSpPr>
        <p:spPr>
          <a:xfrm>
            <a:off x="609600" y="5791200"/>
            <a:ext cx="109728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Ledge.ai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「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OpenAI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の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『GPT-5.6 Sol』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や上位の未公開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モデル、評価中に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Hugging Face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へ侵入」（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22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日） 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/ OpenAI (2026-07-21)</a:t>
            </a:r>
            <a:endParaRPr kumimoji="1" lang="ja-JP" altLang="en-US" sz="140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549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6470A8B1-1B76-B49B-1761-12C379A5CFE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350815"/>
            <a:ext cx="10972800" cy="351674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32AF4F-B428-68DB-44CB-EC86F35EABA3}"/>
              </a:ext>
            </a:extLst>
          </p:cNvPr>
          <p:cNvSpPr txBox="1"/>
          <p:nvPr/>
        </p:nvSpPr>
        <p:spPr>
          <a:xfrm>
            <a:off x="609600" y="381000"/>
            <a:ext cx="254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公表 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30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E7B14A-777A-4FDD-A92B-FA6E20A439EE}"/>
              </a:ext>
            </a:extLst>
          </p:cNvPr>
          <p:cNvSpPr txBox="1"/>
          <p:nvPr/>
        </p:nvSpPr>
        <p:spPr>
          <a:xfrm>
            <a:off x="609600" y="685800"/>
            <a:ext cx="109728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en-US" altLang="ja-JP" sz="28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Anthropic</a:t>
            </a:r>
            <a:r>
              <a:rPr kumimoji="1" lang="ja-JP" altLang="en-US" sz="28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事例：評価中の</a:t>
            </a:r>
            <a:r>
              <a:rPr kumimoji="1" lang="en-US" altLang="ja-JP" sz="28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Claude</a:t>
            </a:r>
            <a:r>
              <a:rPr kumimoji="1" lang="ja-JP" altLang="en-US" sz="28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が実在</a:t>
            </a:r>
            <a:r>
              <a:rPr kumimoji="1" lang="en-US" altLang="ja-JP" sz="28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3</a:t>
            </a:r>
            <a:r>
              <a:rPr kumimoji="1" lang="ja-JP" altLang="en-US" sz="28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組織のシステムへ到達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ECFC41-5651-D7B5-FF30-C6D82A350811}"/>
              </a:ext>
            </a:extLst>
          </p:cNvPr>
          <p:cNvSpPr txBox="1"/>
          <p:nvPr/>
        </p:nvSpPr>
        <p:spPr>
          <a:xfrm>
            <a:off x="609600" y="1219200"/>
            <a:ext cx="10972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600" b="1">
                <a:solidFill>
                  <a:srgbClr val="555555"/>
                </a:solidFill>
                <a:latin typeface="BIZ UDPゴシック" panose="020B0400000000000000" pitchFamily="50" charset="-128"/>
              </a:rPr>
              <a:t>関与モデル：</a:t>
            </a:r>
            <a:r>
              <a:rPr kumimoji="1" lang="en-US" altLang="ja-JP" sz="1600" b="1">
                <a:solidFill>
                  <a:srgbClr val="555555"/>
                </a:solidFill>
                <a:latin typeface="BIZ UDPゴシック" panose="020B0400000000000000" pitchFamily="50" charset="-128"/>
              </a:rPr>
              <a:t>Claude Opus 4.7 / Claude Mythos 5 / </a:t>
            </a:r>
            <a:r>
              <a:rPr kumimoji="1" lang="ja-JP" altLang="en-US" sz="1600" b="1">
                <a:solidFill>
                  <a:srgbClr val="555555"/>
                </a:solidFill>
                <a:latin typeface="BIZ UDPゴシック" panose="020B0400000000000000" pitchFamily="50" charset="-128"/>
              </a:rPr>
              <a:t>社内研究用モデル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729CAB4-3DDB-1477-01CE-880D2B0D1CDA}"/>
              </a:ext>
            </a:extLst>
          </p:cNvPr>
          <p:cNvSpPr/>
          <p:nvPr/>
        </p:nvSpPr>
        <p:spPr>
          <a:xfrm>
            <a:off x="609600" y="4597400"/>
            <a:ext cx="10972800" cy="863600"/>
          </a:xfrm>
          <a:prstGeom prst="rect">
            <a:avLst/>
          </a:prstGeom>
          <a:solidFill>
            <a:srgbClr val="EDF2F9"/>
          </a:solidFill>
          <a:ln w="25400">
            <a:solidFill>
              <a:srgbClr val="648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kumimoji="1" lang="en-US" altLang="ja-JP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【</a:t>
            </a:r>
            <a:r>
              <a:rPr kumimoji="1" lang="ja-JP" altLang="en-US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結論</a:t>
            </a:r>
            <a:r>
              <a:rPr kumimoji="1" lang="en-US" altLang="ja-JP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】 </a:t>
            </a:r>
            <a:r>
              <a:rPr kumimoji="1" lang="ja-JP" altLang="en-US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評価環境の設定に不備があると、</a:t>
            </a:r>
            <a:r>
              <a:rPr kumimoji="1" lang="en-US" altLang="ja-JP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は実世界を演習の延長として扱い、実在システムへ作用し得る。</a:t>
            </a:r>
          </a:p>
          <a:p>
            <a:pPr algn="ctr"/>
            <a:r>
              <a:rPr kumimoji="1" lang="en-US" altLang="ja-JP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※ </a:t>
            </a:r>
            <a:r>
              <a:rPr kumimoji="1" lang="ja-JP" altLang="en-US" sz="1600" b="1">
                <a:solidFill>
                  <a:srgbClr val="E86B43"/>
                </a:solidFill>
                <a:latin typeface="BIZ UDPゴシック" panose="020B0400000000000000" pitchFamily="50" charset="-128"/>
              </a:rPr>
              <a:t>独自の悪意ではなく、与えられた評価目標を過度に追求した結果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FDF7A7-6787-2CC5-43F2-B0E59E0B3B7D}"/>
              </a:ext>
            </a:extLst>
          </p:cNvPr>
          <p:cNvSpPr txBox="1"/>
          <p:nvPr/>
        </p:nvSpPr>
        <p:spPr>
          <a:xfrm>
            <a:off x="609600" y="5791200"/>
            <a:ext cx="109728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Ledge.ai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「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Claude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が評価環境から実在企業に不正アクセス」（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2026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年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7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月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31</a:t>
            </a:r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日） 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/ AP (2026-07-30) / Axios (2026-07-30)</a:t>
            </a:r>
            <a:endParaRPr kumimoji="1" lang="ja-JP" altLang="en-US" sz="140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037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FC6503-A407-CBBF-DA16-9CCE921A29BB}"/>
              </a:ext>
            </a:extLst>
          </p:cNvPr>
          <p:cNvSpPr txBox="1"/>
          <p:nvPr/>
        </p:nvSpPr>
        <p:spPr>
          <a:xfrm>
            <a:off x="609600" y="508000"/>
            <a:ext cx="109728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3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拡大が続く世界のサイバーセキュリティ市場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4AD26BE0-9B1F-62AB-EC94-D25D99DF911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143000"/>
            <a:ext cx="10972800" cy="325120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126D91-309D-8440-9A9E-C1DD9525EEE5}"/>
              </a:ext>
            </a:extLst>
          </p:cNvPr>
          <p:cNvSpPr/>
          <p:nvPr/>
        </p:nvSpPr>
        <p:spPr>
          <a:xfrm>
            <a:off x="609600" y="4521200"/>
            <a:ext cx="10972800" cy="914400"/>
          </a:xfrm>
          <a:prstGeom prst="rect">
            <a:avLst/>
          </a:prstGeom>
          <a:solidFill>
            <a:srgbClr val="FFF3E0"/>
          </a:solidFill>
          <a:ln w="25400">
            <a:solidFill>
              <a:srgbClr val="E86B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kumimoji="1" lang="en-US" altLang="ja-JP" b="1">
                <a:solidFill>
                  <a:srgbClr val="E86B43"/>
                </a:solidFill>
                <a:latin typeface="BIZ UDPゴシック" panose="020B0400000000000000" pitchFamily="50" charset="-128"/>
              </a:rPr>
              <a:t>【</a:t>
            </a:r>
            <a:r>
              <a:rPr kumimoji="1" lang="ja-JP" altLang="en-US" b="1">
                <a:solidFill>
                  <a:srgbClr val="E86B43"/>
                </a:solidFill>
                <a:latin typeface="BIZ UDPゴシック" panose="020B0400000000000000" pitchFamily="50" charset="-128"/>
              </a:rPr>
              <a:t>結論</a:t>
            </a:r>
            <a:r>
              <a:rPr kumimoji="1" lang="en-US" altLang="ja-JP" b="1">
                <a:solidFill>
                  <a:srgbClr val="E86B43"/>
                </a:solidFill>
                <a:latin typeface="BIZ UDPゴシック" panose="020B0400000000000000" pitchFamily="50" charset="-128"/>
              </a:rPr>
              <a:t>】 </a:t>
            </a:r>
            <a:r>
              <a:rPr kumimoji="1" lang="ja-JP" altLang="en-US" b="1">
                <a:solidFill>
                  <a:srgbClr val="E86B43"/>
                </a:solidFill>
                <a:latin typeface="BIZ UDPゴシック" panose="020B0400000000000000" pitchFamily="50" charset="-128"/>
              </a:rPr>
              <a:t>世界のサイバーセキュリティ市場は、</a:t>
            </a:r>
            <a:r>
              <a:rPr kumimoji="1" lang="en-US" altLang="ja-JP" b="1">
                <a:solidFill>
                  <a:srgbClr val="E86B43"/>
                </a:solidFill>
                <a:latin typeface="BIZ UDPゴシック" panose="020B0400000000000000" pitchFamily="50" charset="-128"/>
              </a:rPr>
              <a:t>2025</a:t>
            </a:r>
            <a:r>
              <a:rPr kumimoji="1" lang="ja-JP" altLang="en-US" b="1">
                <a:solidFill>
                  <a:srgbClr val="E86B43"/>
                </a:solidFill>
                <a:latin typeface="BIZ UDPゴシック" panose="020B0400000000000000" pitchFamily="50" charset="-128"/>
              </a:rPr>
              <a:t>年から</a:t>
            </a:r>
            <a:r>
              <a:rPr kumimoji="1" lang="en-US" altLang="ja-JP" b="1">
                <a:solidFill>
                  <a:srgbClr val="E86B43"/>
                </a:solidFill>
                <a:latin typeface="BIZ UDPゴシック" panose="020B0400000000000000" pitchFamily="50" charset="-128"/>
              </a:rPr>
              <a:t>2030</a:t>
            </a:r>
            <a:r>
              <a:rPr kumimoji="1" lang="ja-JP" altLang="en-US" b="1">
                <a:solidFill>
                  <a:srgbClr val="E86B43"/>
                </a:solidFill>
                <a:latin typeface="BIZ UDPゴシック" panose="020B0400000000000000" pitchFamily="50" charset="-128"/>
              </a:rPr>
              <a:t>年に約</a:t>
            </a:r>
            <a:r>
              <a:rPr kumimoji="1" lang="en-US" altLang="ja-JP" b="1">
                <a:solidFill>
                  <a:srgbClr val="E86B43"/>
                </a:solidFill>
                <a:latin typeface="BIZ UDPゴシック" panose="020B0400000000000000" pitchFamily="50" charset="-128"/>
              </a:rPr>
              <a:t>1.55</a:t>
            </a:r>
            <a:r>
              <a:rPr kumimoji="1" lang="ja-JP" altLang="en-US" b="1">
                <a:solidFill>
                  <a:srgbClr val="E86B43"/>
                </a:solidFill>
                <a:latin typeface="BIZ UDPゴシック" panose="020B0400000000000000" pitchFamily="50" charset="-128"/>
              </a:rPr>
              <a:t>倍へ拡大する見通し。</a:t>
            </a:r>
          </a:p>
          <a:p>
            <a:pPr algn="ctr"/>
            <a:r>
              <a:rPr kumimoji="1" lang="en-US" altLang="ja-JP" b="1">
                <a:solidFill>
                  <a:srgbClr val="E86B43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b="1">
                <a:solidFill>
                  <a:srgbClr val="E86B43"/>
                </a:solidFill>
                <a:latin typeface="BIZ UDPゴシック" panose="020B0400000000000000" pitchFamily="50" charset="-128"/>
              </a:rPr>
              <a:t>が攻防の両面を変えるなか、注目と投資の拡大が続く。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868C72-0B21-C2FD-3E47-320F0AAD2232}"/>
              </a:ext>
            </a:extLst>
          </p:cNvPr>
          <p:cNvSpPr txBox="1"/>
          <p:nvPr/>
        </p:nvSpPr>
        <p:spPr>
          <a:xfrm>
            <a:off x="609600" y="57912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出典：</a:t>
            </a:r>
            <a:r>
              <a:rPr kumimoji="1" lang="en-US" altLang="ja-JP" sz="1400">
                <a:solidFill>
                  <a:srgbClr val="555555"/>
                </a:solidFill>
                <a:latin typeface="BIZ UDPゴシック" panose="020B0400000000000000" pitchFamily="50" charset="-128"/>
              </a:rPr>
              <a:t>MarketsandMarkets “Cybersecurity Market Report 2025–2030”</a:t>
            </a:r>
            <a:endParaRPr kumimoji="1" lang="ja-JP" altLang="en-US" sz="1400">
              <a:solidFill>
                <a:srgbClr val="555555"/>
              </a:solidFill>
              <a:latin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031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71BF31-72B2-2879-D233-BE8C0C81A21C}"/>
              </a:ext>
            </a:extLst>
          </p:cNvPr>
          <p:cNvSpPr txBox="1"/>
          <p:nvPr/>
        </p:nvSpPr>
        <p:spPr>
          <a:xfrm>
            <a:off x="609600" y="508000"/>
            <a:ext cx="109728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3200" b="1" dirty="0">
                <a:solidFill>
                  <a:srgbClr val="000000"/>
                </a:solidFill>
                <a:latin typeface="BIZ UDPゴシック" panose="020B0400000000000000" pitchFamily="50" charset="-128"/>
              </a:rPr>
              <a:t>コーディングエージェントのセキュリティ観点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1BA231B3-E3DE-9481-43CD-967A3D4B920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143000"/>
            <a:ext cx="10972800" cy="365760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97CDCED-E5ED-6C56-2374-2852732084A9}"/>
              </a:ext>
            </a:extLst>
          </p:cNvPr>
          <p:cNvSpPr/>
          <p:nvPr/>
        </p:nvSpPr>
        <p:spPr>
          <a:xfrm>
            <a:off x="609600" y="4953000"/>
            <a:ext cx="10972800" cy="685800"/>
          </a:xfrm>
          <a:prstGeom prst="rect">
            <a:avLst/>
          </a:prstGeom>
          <a:solidFill>
            <a:srgbClr val="FFF3E0"/>
          </a:solidFill>
          <a:ln w="25400">
            <a:solidFill>
              <a:srgbClr val="E86B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kumimoji="1" lang="en-US" altLang="ja-JP" sz="2200" b="1">
                <a:solidFill>
                  <a:srgbClr val="E86B43"/>
                </a:solidFill>
                <a:latin typeface="BIZ UDPゴシック" panose="020B0400000000000000" pitchFamily="50" charset="-128"/>
              </a:rPr>
              <a:t>【</a:t>
            </a:r>
            <a:r>
              <a:rPr kumimoji="1" lang="ja-JP" altLang="en-US" sz="2200" b="1">
                <a:solidFill>
                  <a:srgbClr val="E86B43"/>
                </a:solidFill>
                <a:latin typeface="BIZ UDPゴシック" panose="020B0400000000000000" pitchFamily="50" charset="-128"/>
              </a:rPr>
              <a:t>結論</a:t>
            </a:r>
            <a:r>
              <a:rPr kumimoji="1" lang="en-US" altLang="ja-JP" sz="2200" b="1">
                <a:solidFill>
                  <a:srgbClr val="E86B43"/>
                </a:solidFill>
                <a:latin typeface="BIZ UDPゴシック" panose="020B0400000000000000" pitchFamily="50" charset="-128"/>
              </a:rPr>
              <a:t>】 </a:t>
            </a:r>
            <a:r>
              <a:rPr kumimoji="1" lang="ja-JP" altLang="en-US" sz="2200" b="1">
                <a:solidFill>
                  <a:srgbClr val="E86B43"/>
                </a:solidFill>
                <a:latin typeface="BIZ UDPゴシック" panose="020B0400000000000000" pitchFamily="50" charset="-128"/>
              </a:rPr>
              <a:t>生成</a:t>
            </a:r>
            <a:r>
              <a:rPr kumimoji="1" lang="en-US" altLang="ja-JP" sz="2200" b="1">
                <a:solidFill>
                  <a:srgbClr val="E86B43"/>
                </a:solidFill>
                <a:latin typeface="BIZ UDPゴシック" panose="020B0400000000000000" pitchFamily="50" charset="-128"/>
              </a:rPr>
              <a:t>AI</a:t>
            </a:r>
            <a:r>
              <a:rPr kumimoji="1" lang="ja-JP" altLang="en-US" sz="2200" b="1">
                <a:solidFill>
                  <a:srgbClr val="E86B43"/>
                </a:solidFill>
                <a:latin typeface="BIZ UDPゴシック" panose="020B0400000000000000" pitchFamily="50" charset="-128"/>
              </a:rPr>
              <a:t>を活用する際は、セキュリティを意識しましょう。</a:t>
            </a:r>
          </a:p>
        </p:txBody>
      </p:sp>
    </p:spTree>
    <p:extLst>
      <p:ext uri="{BB962C8B-B14F-4D97-AF65-F5344CB8AC3E}">
        <p14:creationId xmlns:p14="http://schemas.microsoft.com/office/powerpoint/2010/main" val="2412483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哲也 金子</dc:creator>
  <cp:lastModifiedBy>哲也 金子</cp:lastModifiedBy>
  <cp:revision>1</cp:revision>
  <dcterms:created xsi:type="dcterms:W3CDTF">2026-08-02T08:26:54Z</dcterms:created>
  <dcterms:modified xsi:type="dcterms:W3CDTF">2026-08-02T08:37:04Z</dcterms:modified>
</cp:coreProperties>
</file>