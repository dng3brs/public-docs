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0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0663F1-00A9-7C54-D2F6-8C829AD87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65522A9-DA2C-44FA-9292-B96F0078E2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320DF6-2B33-3CBC-FB1A-DF1F6CE52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390C-3CB4-47FB-8637-296E11682D8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F4CDBF-ECD9-76F6-E58D-1702F6366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8A2729-A66E-429A-8597-8AB1A3168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CCE6F-0237-4B85-847C-619A19D27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8323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07E7CC-3A79-E0F6-726A-5284ABC23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F95291-74A2-944A-CA72-862BEA958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30C44D-DD19-8F63-C005-A6ADF7B20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390C-3CB4-47FB-8637-296E11682D8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7C1B53-C675-F2FE-2053-180F2E2E6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B384D14-1712-B390-B9D7-6B1F77FC7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CCE6F-0237-4B85-847C-619A19D27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8467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0BD66D-0DDE-7D9E-0F09-6634A7BDB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73DCFD1-92F5-1E78-B310-534B87FD0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EBADE0-4406-0B08-452A-D16048D9D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390C-3CB4-47FB-8637-296E11682D8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77DBD8-8670-957D-CB48-4CE79E6CF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9F73E9-846B-41DF-0612-4A51A8278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CCE6F-0237-4B85-847C-619A19D27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4139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6DB703-979E-7977-8833-B70393D3A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75C50A9-84B9-25BC-2C23-6AF944C256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945ED26-B2DB-8DF7-C473-5402826FDA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EBDC49F-DB90-3687-33C7-6A4F14C78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390C-3CB4-47FB-8637-296E11682D8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F398B72-9C27-AA44-BA21-868136F13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2D3198B-7BC5-959E-32B5-76D83D2CE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CCE6F-0237-4B85-847C-619A19D27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3577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6094C8-15B4-BA48-25EE-EA4A3D836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3CF61F1-ECF4-AF5E-336C-38D39E266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C44F8F6-510A-B145-B4DD-E205B6573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46C5A9F-AA5F-2278-A760-AF7301EBB3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396B968-9C94-7740-F214-AC333EAB8A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0AA0971-0C5A-2009-E2C4-87A0FD468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390C-3CB4-47FB-8637-296E11682D8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D2A5268-34FB-62E0-FF2C-2D88B234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E8E1D7C-9EF8-363B-CC18-79DF54097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CCE6F-0237-4B85-847C-619A19D27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3606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494788-914E-C42C-5DF8-863037D97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2E16559-F593-16DB-41CA-2235F440E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390C-3CB4-47FB-8637-296E11682D8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E31F4AB-4763-601C-7C1E-C8F1F3B3E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17EACC2-EA9E-2FF3-4A6C-87F6945D2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CCE6F-0237-4B85-847C-619A19D27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500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59925E3-EEE7-6755-4265-002B5073A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390C-3CB4-47FB-8637-296E11682D8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3339B53-7123-DB78-4AF3-BED5508AE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648D5EE-6C89-B551-4061-A92E9CCA4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CCE6F-0237-4B85-847C-619A19D27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1451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680C1D-EBDB-AD6A-0653-774722BD9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7E6DD2-5660-F21A-1D2D-65E1D967D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E3E56B4-7D90-E1A8-D91E-FE7CCDFCE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BB6230B-9D94-1204-953C-F2543D37E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390C-3CB4-47FB-8637-296E11682D8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46BF553-3BEA-157D-12C5-BD190B85A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05A9837-E416-94BF-643D-848F6F403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CCE6F-0237-4B85-847C-619A19D27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3923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3B396D-5B5D-BEDC-7E1A-4FAEAB7BA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EC333C1-0C77-B8D5-DF6D-716F1A5499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E1EAC99-01B4-099C-92AF-06D6BEC41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5D5BD97-08E0-AAB7-E41A-5D1A66B2C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390C-3CB4-47FB-8637-296E11682D8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AE4A2E4-B234-FBE5-3B26-92FB5DD0C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49BC2B2-18F1-1FE5-B52F-156A39468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CCE6F-0237-4B85-847C-619A19D27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8122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587D1D-1DE9-D254-EA52-0A3312E28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CECE466-F2D1-1E4A-2194-606605D466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D6CC2D-7283-3CF7-5562-58CEFBEA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390C-3CB4-47FB-8637-296E11682D8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E1F0CD-168B-ED5B-B1F3-F0384AE75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C21C8D-516E-B7AF-5631-3385CB0B3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CCE6F-0237-4B85-847C-619A19D27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5332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49AC839-794C-12B5-DE0A-654CEAC076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EFC80E6-A0C5-EA77-FA36-6D387946A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A83AF5-9B1C-CF3E-07B1-5B07624EA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390C-3CB4-47FB-8637-296E11682D8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927CD1-0E1A-BC13-17AB-E9D3F9982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AD944D-4CBA-A523-91EE-066F4F262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CCE6F-0237-4B85-847C-619A19D27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0130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000CAC7-3B7E-30A3-A8A8-131555BAB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1136C00-99F9-0FF3-CFCA-22BD00A01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9C9E3C-A610-E281-78D8-29F5DE8EAF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67390C-3CB4-47FB-8637-296E11682D8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D3A9A1-7431-C9A7-8719-8110C59549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C72F0C-B30F-88CD-F753-8096AA399C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2CCE6F-0237-4B85-847C-619A19D27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5581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BDBF9-8A5D-ED85-5688-71B1075D8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2E4B1022-540B-FAEF-1CF8-5A80542B409C}"/>
              </a:ext>
            </a:extLst>
          </p:cNvPr>
          <p:cNvSpPr/>
          <p:nvPr/>
        </p:nvSpPr>
        <p:spPr>
          <a:xfrm>
            <a:off x="609600" y="889000"/>
            <a:ext cx="812800" cy="50800"/>
          </a:xfrm>
          <a:prstGeom prst="rect">
            <a:avLst/>
          </a:prstGeom>
          <a:solidFill>
            <a:srgbClr val="6485C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BC908C9F-AF91-9BE8-DAB4-4494BD1A9D91}"/>
              </a:ext>
            </a:extLst>
          </p:cNvPr>
          <p:cNvSpPr txBox="1"/>
          <p:nvPr/>
        </p:nvSpPr>
        <p:spPr>
          <a:xfrm>
            <a:off x="609600" y="1422400"/>
            <a:ext cx="60452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3400" b="1">
                <a:solidFill>
                  <a:srgbClr val="000000"/>
                </a:solidFill>
                <a:latin typeface="BIZ UDPゴシック" panose="020B0400000000000000" pitchFamily="50" charset="-128"/>
              </a:rPr>
              <a:t>進化する生成</a:t>
            </a:r>
            <a:r>
              <a:rPr kumimoji="1" lang="en-US" altLang="ja-JP" sz="3400" b="1">
                <a:solidFill>
                  <a:srgbClr val="000000"/>
                </a:solidFill>
                <a:latin typeface="BIZ UDPゴシック" panose="020B0400000000000000" pitchFamily="50" charset="-128"/>
              </a:rPr>
              <a:t>AI</a:t>
            </a:r>
            <a:r>
              <a:rPr kumimoji="1" lang="ja-JP" altLang="en-US" sz="3400" b="1">
                <a:solidFill>
                  <a:srgbClr val="000000"/>
                </a:solidFill>
                <a:latin typeface="BIZ UDPゴシック" panose="020B0400000000000000" pitchFamily="50" charset="-128"/>
              </a:rPr>
              <a:t>と脅威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0C639B2-0092-7B33-1ACA-859946CF5EA0}"/>
              </a:ext>
            </a:extLst>
          </p:cNvPr>
          <p:cNvSpPr txBox="1"/>
          <p:nvPr/>
        </p:nvSpPr>
        <p:spPr>
          <a:xfrm>
            <a:off x="609600" y="2946400"/>
            <a:ext cx="5791200" cy="8119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ja-JP" altLang="en-US" sz="2200">
                <a:solidFill>
                  <a:srgbClr val="555555"/>
                </a:solidFill>
                <a:latin typeface="BIZ UDPゴシック" panose="020B0400000000000000" pitchFamily="50" charset="-128"/>
              </a:rPr>
              <a:t>実環境へ越境した</a:t>
            </a:r>
            <a:r>
              <a:rPr kumimoji="1" lang="en-US" altLang="ja-JP" sz="2200">
                <a:solidFill>
                  <a:srgbClr val="555555"/>
                </a:solidFill>
                <a:latin typeface="BIZ UDPゴシック" panose="020B0400000000000000" pitchFamily="50" charset="-128"/>
              </a:rPr>
              <a:t>AI</a:t>
            </a:r>
            <a:r>
              <a:rPr kumimoji="1" lang="ja-JP" altLang="en-US" sz="2200">
                <a:solidFill>
                  <a:srgbClr val="555555"/>
                </a:solidFill>
                <a:latin typeface="BIZ UDPゴシック" panose="020B0400000000000000" pitchFamily="50" charset="-128"/>
              </a:rPr>
              <a:t>エージェントと、</a:t>
            </a:r>
          </a:p>
          <a:p>
            <a:pPr>
              <a:lnSpc>
                <a:spcPct val="125000"/>
              </a:lnSpc>
            </a:pPr>
            <a:r>
              <a:rPr kumimoji="1" lang="ja-JP" altLang="en-US" sz="2200">
                <a:solidFill>
                  <a:srgbClr val="555555"/>
                </a:solidFill>
                <a:latin typeface="BIZ UDPゴシック" panose="020B0400000000000000" pitchFamily="50" charset="-128"/>
              </a:rPr>
              <a:t>注目されるサイバーセキュリティ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1377942D-8216-2065-361A-3BED7648EA0A}"/>
              </a:ext>
            </a:extLst>
          </p:cNvPr>
          <p:cNvSpPr txBox="1"/>
          <p:nvPr/>
        </p:nvSpPr>
        <p:spPr>
          <a:xfrm>
            <a:off x="609600" y="4953000"/>
            <a:ext cx="2286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en-US" altLang="ja-JP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2026</a:t>
            </a: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年</a:t>
            </a:r>
            <a:r>
              <a:rPr kumimoji="1" lang="en-US" altLang="ja-JP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8</a:t>
            </a: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月</a:t>
            </a:r>
          </a:p>
        </p:txBody>
      </p:sp>
      <p:pic>
        <p:nvPicPr>
          <p:cNvPr id="33" name="グラフィックス 32">
            <a:extLst>
              <a:ext uri="{FF2B5EF4-FFF2-40B4-BE49-F238E27FC236}">
                <a16:creationId xmlns:a16="http://schemas.microsoft.com/office/drawing/2014/main" id="{A12A13F3-0ED6-7364-4A09-702925746CE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0" y="889000"/>
            <a:ext cx="4064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571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75D7199-80BB-79A4-9EBC-17656C136F20}"/>
              </a:ext>
            </a:extLst>
          </p:cNvPr>
          <p:cNvSpPr txBox="1"/>
          <p:nvPr/>
        </p:nvSpPr>
        <p:spPr>
          <a:xfrm>
            <a:off x="609600" y="228600"/>
            <a:ext cx="9017000" cy="113691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ja-JP" sz="3200" b="1">
                <a:solidFill>
                  <a:srgbClr val="000000"/>
                </a:solidFill>
                <a:latin typeface="BIZ UDPゴシック" panose="020B0400000000000000" pitchFamily="50" charset="-128"/>
              </a:rPr>
              <a:t>OpenAI</a:t>
            </a:r>
            <a:r>
              <a:rPr kumimoji="1" lang="ja-JP" altLang="en-US" sz="3200" b="1">
                <a:solidFill>
                  <a:srgbClr val="000000"/>
                </a:solidFill>
                <a:latin typeface="BIZ UDPゴシック" panose="020B0400000000000000" pitchFamily="50" charset="-128"/>
              </a:rPr>
              <a:t>事例：評価中の</a:t>
            </a:r>
            <a:r>
              <a:rPr kumimoji="1" lang="en-US" altLang="ja-JP" sz="3200" b="1">
                <a:solidFill>
                  <a:srgbClr val="000000"/>
                </a:solidFill>
                <a:latin typeface="BIZ UDPゴシック" panose="020B0400000000000000" pitchFamily="50" charset="-128"/>
              </a:rPr>
              <a:t>AI</a:t>
            </a:r>
            <a:r>
              <a:rPr kumimoji="1" lang="ja-JP" altLang="en-US" sz="3200" b="1">
                <a:solidFill>
                  <a:srgbClr val="000000"/>
                </a:solidFill>
                <a:latin typeface="BIZ UDPゴシック" panose="020B0400000000000000" pitchFamily="50" charset="-128"/>
              </a:rPr>
              <a:t>が</a:t>
            </a:r>
          </a:p>
          <a:p>
            <a:pPr>
              <a:lnSpc>
                <a:spcPct val="120000"/>
              </a:lnSpc>
            </a:pPr>
            <a:r>
              <a:rPr kumimoji="1" lang="en-US" altLang="ja-JP" sz="3200" b="1">
                <a:solidFill>
                  <a:srgbClr val="000000"/>
                </a:solidFill>
                <a:latin typeface="BIZ UDPゴシック" panose="020B0400000000000000" pitchFamily="50" charset="-128"/>
              </a:rPr>
              <a:t>Hugging Face</a:t>
            </a:r>
            <a:r>
              <a:rPr kumimoji="1" lang="ja-JP" altLang="en-US" sz="3200" b="1">
                <a:solidFill>
                  <a:srgbClr val="000000"/>
                </a:solidFill>
                <a:latin typeface="BIZ UDPゴシック" panose="020B0400000000000000" pitchFamily="50" charset="-128"/>
              </a:rPr>
              <a:t>本番環境へ到達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EAA7244E-6698-6673-6D05-6D895D21F00F}"/>
              </a:ext>
            </a:extLst>
          </p:cNvPr>
          <p:cNvSpPr/>
          <p:nvPr/>
        </p:nvSpPr>
        <p:spPr>
          <a:xfrm>
            <a:off x="9723582" y="355600"/>
            <a:ext cx="2015836" cy="381000"/>
          </a:xfrm>
          <a:prstGeom prst="roundRect">
            <a:avLst/>
          </a:prstGeom>
          <a:solidFill>
            <a:srgbClr val="EDF2F9"/>
          </a:solidFill>
          <a:ln w="19050">
            <a:solidFill>
              <a:srgbClr val="6485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10F708B-1D54-B541-ADC3-2C11F0DF8926}"/>
              </a:ext>
            </a:extLst>
          </p:cNvPr>
          <p:cNvSpPr txBox="1"/>
          <p:nvPr/>
        </p:nvSpPr>
        <p:spPr>
          <a:xfrm>
            <a:off x="9723582" y="431800"/>
            <a:ext cx="2015836" cy="2388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ja-JP" altLang="en-US" sz="1400" b="1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公表 </a:t>
            </a:r>
            <a:r>
              <a:rPr kumimoji="1" lang="en-US" altLang="ja-JP" sz="1400" b="1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2026</a:t>
            </a:r>
            <a:r>
              <a:rPr kumimoji="1" lang="ja-JP" altLang="en-US" sz="1400" b="1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年</a:t>
            </a:r>
            <a:r>
              <a:rPr kumimoji="1" lang="en-US" altLang="ja-JP" sz="1400" b="1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7</a:t>
            </a:r>
            <a:r>
              <a:rPr kumimoji="1" lang="ja-JP" altLang="en-US" sz="1400" b="1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月</a:t>
            </a:r>
            <a:r>
              <a:rPr kumimoji="1" lang="en-US" altLang="ja-JP" sz="1400" b="1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21</a:t>
            </a:r>
            <a:r>
              <a:rPr kumimoji="1" lang="ja-JP" altLang="en-US" sz="1400" b="1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日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C9DB48E-6136-7DB9-5312-C5B960498ED2}"/>
              </a:ext>
            </a:extLst>
          </p:cNvPr>
          <p:cNvSpPr txBox="1"/>
          <p:nvPr/>
        </p:nvSpPr>
        <p:spPr>
          <a:xfrm>
            <a:off x="609600" y="1380828"/>
            <a:ext cx="7112000" cy="2734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1600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関与モデル：</a:t>
            </a:r>
            <a:r>
              <a:rPr kumimoji="1" lang="en-US" altLang="ja-JP" sz="1600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GPT-5.6 Sol</a:t>
            </a:r>
            <a:r>
              <a:rPr kumimoji="1" lang="ja-JP" altLang="en-US" sz="1600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／社内研究用の未公開モデル</a:t>
            </a:r>
          </a:p>
        </p:txBody>
      </p:sp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62F25944-C070-EF3A-970E-4073CF93048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1473200"/>
            <a:ext cx="10972800" cy="365760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22F3313-3504-1517-FFA9-DBFDF766D25F}"/>
              </a:ext>
            </a:extLst>
          </p:cNvPr>
          <p:cNvSpPr txBox="1"/>
          <p:nvPr/>
        </p:nvSpPr>
        <p:spPr>
          <a:xfrm>
            <a:off x="990600" y="2844800"/>
            <a:ext cx="2082800" cy="34124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ja-JP" altLang="en-US" sz="2000" b="1">
                <a:solidFill>
                  <a:srgbClr val="2F343B"/>
                </a:solidFill>
                <a:latin typeface="BIZ UDPゴシック" panose="020B0400000000000000" pitchFamily="50" charset="-128"/>
              </a:rPr>
              <a:t>サイバー能力評価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C49DC02-A02B-D8E3-C82A-EA8F2BD72DB1}"/>
              </a:ext>
            </a:extLst>
          </p:cNvPr>
          <p:cNvSpPr txBox="1"/>
          <p:nvPr/>
        </p:nvSpPr>
        <p:spPr>
          <a:xfrm>
            <a:off x="1016000" y="3276600"/>
            <a:ext cx="2032000" cy="86440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ja-JP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ExploitGym</a:t>
            </a: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を使用</a:t>
            </a:r>
          </a:p>
          <a:p>
            <a:pPr algn="ctr">
              <a:lnSpc>
                <a:spcPct val="120000"/>
              </a:lnSpc>
            </a:pP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通常のサイバー拒否機構を緩和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C7AD228-153C-6A12-94DA-6DBA9F22492E}"/>
              </a:ext>
            </a:extLst>
          </p:cNvPr>
          <p:cNvSpPr txBox="1"/>
          <p:nvPr/>
        </p:nvSpPr>
        <p:spPr>
          <a:xfrm>
            <a:off x="3606800" y="2844800"/>
            <a:ext cx="2082800" cy="34124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ja-JP" altLang="en-US" sz="2000" b="1">
                <a:solidFill>
                  <a:srgbClr val="2F343B"/>
                </a:solidFill>
                <a:latin typeface="BIZ UDPゴシック" panose="020B0400000000000000" pitchFamily="50" charset="-128"/>
              </a:rPr>
              <a:t>外部接続を獲得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6E000CC-4564-95B3-3886-083E8FD9C0C3}"/>
              </a:ext>
            </a:extLst>
          </p:cNvPr>
          <p:cNvSpPr txBox="1"/>
          <p:nvPr/>
        </p:nvSpPr>
        <p:spPr>
          <a:xfrm>
            <a:off x="3632200" y="3276600"/>
            <a:ext cx="2032000" cy="5689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パッケージプロキシの</a:t>
            </a:r>
          </a:p>
          <a:p>
            <a:pPr algn="ctr">
              <a:lnSpc>
                <a:spcPct val="120000"/>
              </a:lnSpc>
            </a:pP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ゼロデイを発見・悪用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060D8E1-B636-9570-6DC3-188F92214B8A}"/>
              </a:ext>
            </a:extLst>
          </p:cNvPr>
          <p:cNvSpPr txBox="1"/>
          <p:nvPr/>
        </p:nvSpPr>
        <p:spPr>
          <a:xfrm>
            <a:off x="6223000" y="2844800"/>
            <a:ext cx="2082800" cy="34124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ja-JP" altLang="en-US" sz="2000" b="1">
                <a:solidFill>
                  <a:srgbClr val="2F343B"/>
                </a:solidFill>
                <a:latin typeface="BIZ UDPゴシック" panose="020B0400000000000000" pitchFamily="50" charset="-128"/>
              </a:rPr>
              <a:t>攻撃経路を連鎖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EDBAE8D-A8E5-FC7D-B793-2F02EE85BADB}"/>
              </a:ext>
            </a:extLst>
          </p:cNvPr>
          <p:cNvSpPr txBox="1"/>
          <p:nvPr/>
        </p:nvSpPr>
        <p:spPr>
          <a:xfrm>
            <a:off x="6248400" y="3276600"/>
            <a:ext cx="2032000" cy="86440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権限昇格・横展開</a:t>
            </a:r>
          </a:p>
          <a:p>
            <a:pPr algn="ctr">
              <a:lnSpc>
                <a:spcPct val="120000"/>
              </a:lnSpc>
            </a:pP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認証情報と追加脆弱性を利用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68164BB-E1F3-D7CF-769C-84F6E1505E97}"/>
              </a:ext>
            </a:extLst>
          </p:cNvPr>
          <p:cNvSpPr txBox="1"/>
          <p:nvPr/>
        </p:nvSpPr>
        <p:spPr>
          <a:xfrm>
            <a:off x="8839200" y="2844800"/>
            <a:ext cx="2082800" cy="34124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ja-JP" altLang="en-US" sz="2000" b="1">
                <a:solidFill>
                  <a:srgbClr val="E86B43"/>
                </a:solidFill>
                <a:latin typeface="BIZ UDPゴシック" panose="020B0400000000000000" pitchFamily="50" charset="-128"/>
              </a:rPr>
              <a:t>本番</a:t>
            </a:r>
            <a:r>
              <a:rPr kumimoji="1" lang="en-US" altLang="ja-JP" sz="2000" b="1">
                <a:solidFill>
                  <a:srgbClr val="E86B43"/>
                </a:solidFill>
                <a:latin typeface="BIZ UDPゴシック" panose="020B0400000000000000" pitchFamily="50" charset="-128"/>
              </a:rPr>
              <a:t>DB</a:t>
            </a:r>
            <a:r>
              <a:rPr kumimoji="1" lang="ja-JP" altLang="en-US" sz="2000" b="1">
                <a:solidFill>
                  <a:srgbClr val="E86B43"/>
                </a:solidFill>
                <a:latin typeface="BIZ UDPゴシック" panose="020B0400000000000000" pitchFamily="50" charset="-128"/>
              </a:rPr>
              <a:t>へ到達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755FA82-64F8-9F3A-2F3F-93AA106E3C3E}"/>
              </a:ext>
            </a:extLst>
          </p:cNvPr>
          <p:cNvSpPr txBox="1"/>
          <p:nvPr/>
        </p:nvSpPr>
        <p:spPr>
          <a:xfrm>
            <a:off x="8864600" y="3276600"/>
            <a:ext cx="2032000" cy="86389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ja-JP" sz="16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  <a:t>Hugging Face</a:t>
            </a:r>
            <a:br>
              <a:rPr kumimoji="1" lang="en-US" altLang="ja-JP" sz="16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</a:br>
            <a:r>
              <a:rPr kumimoji="1" lang="ja-JP" altLang="en-US" sz="16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  <a:t>本番</a:t>
            </a:r>
            <a:r>
              <a:rPr kumimoji="1" lang="en-US" altLang="ja-JP" sz="16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  <a:t>DB</a:t>
            </a:r>
            <a:r>
              <a:rPr kumimoji="1" lang="ja-JP" altLang="en-US" sz="16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  <a:t>から</a:t>
            </a:r>
          </a:p>
          <a:p>
            <a:pPr algn="ctr">
              <a:lnSpc>
                <a:spcPct val="120000"/>
              </a:lnSpc>
            </a:pPr>
            <a:r>
              <a:rPr kumimoji="1" lang="ja-JP" altLang="en-US" sz="16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  <a:t>評価問題の解答を取得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1AE5C47B-4D7C-8604-82F8-C17FB6D90E10}"/>
              </a:ext>
            </a:extLst>
          </p:cNvPr>
          <p:cNvSpPr/>
          <p:nvPr/>
        </p:nvSpPr>
        <p:spPr>
          <a:xfrm>
            <a:off x="609600" y="5207000"/>
            <a:ext cx="10972800" cy="584200"/>
          </a:xfrm>
          <a:prstGeom prst="roundRect">
            <a:avLst/>
          </a:prstGeom>
          <a:solidFill>
            <a:srgbClr val="EDF2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81C6366-BB69-E832-C447-1F0E4B86FCD0}"/>
              </a:ext>
            </a:extLst>
          </p:cNvPr>
          <p:cNvSpPr/>
          <p:nvPr/>
        </p:nvSpPr>
        <p:spPr>
          <a:xfrm>
            <a:off x="609600" y="5207000"/>
            <a:ext cx="76200" cy="584200"/>
          </a:xfrm>
          <a:prstGeom prst="rect">
            <a:avLst/>
          </a:prstGeom>
          <a:solidFill>
            <a:srgbClr val="E86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6141883-D1F2-F897-226A-F8841FC06EEA}"/>
              </a:ext>
            </a:extLst>
          </p:cNvPr>
          <p:cNvSpPr txBox="1"/>
          <p:nvPr/>
        </p:nvSpPr>
        <p:spPr>
          <a:xfrm>
            <a:off x="838200" y="5359400"/>
            <a:ext cx="10515600" cy="30713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b="1">
                <a:solidFill>
                  <a:srgbClr val="000000"/>
                </a:solidFill>
                <a:latin typeface="BIZ UDPゴシック" panose="020B0400000000000000" pitchFamily="50" charset="-128"/>
              </a:rPr>
              <a:t>隔離された評価環境でも、高度な</a:t>
            </a:r>
            <a:r>
              <a:rPr kumimoji="1" lang="en-US" altLang="ja-JP" b="1">
                <a:solidFill>
                  <a:srgbClr val="000000"/>
                </a:solidFill>
                <a:latin typeface="BIZ UDPゴシック" panose="020B0400000000000000" pitchFamily="50" charset="-128"/>
              </a:rPr>
              <a:t>AI</a:t>
            </a:r>
            <a:r>
              <a:rPr kumimoji="1" lang="ja-JP" altLang="en-US" b="1">
                <a:solidFill>
                  <a:srgbClr val="000000"/>
                </a:solidFill>
                <a:latin typeface="BIZ UDPゴシック" panose="020B0400000000000000" pitchFamily="50" charset="-128"/>
              </a:rPr>
              <a:t>は未知の脆弱性を連鎖させ、外部の本番環境へ到達し得る。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CEE6283-B75A-6CE7-2838-BECA75952515}"/>
              </a:ext>
            </a:extLst>
          </p:cNvPr>
          <p:cNvSpPr txBox="1"/>
          <p:nvPr/>
        </p:nvSpPr>
        <p:spPr>
          <a:xfrm>
            <a:off x="609600" y="5842000"/>
            <a:ext cx="10972800" cy="2392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独自の悪意ではなく、与えられた評価目標を過度に追求した結果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3FD02BD-9420-312E-5F7B-7D3BC10CEBD2}"/>
              </a:ext>
            </a:extLst>
          </p:cNvPr>
          <p:cNvSpPr txBox="1"/>
          <p:nvPr/>
        </p:nvSpPr>
        <p:spPr>
          <a:xfrm>
            <a:off x="609600" y="6070600"/>
            <a:ext cx="10972800" cy="2392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出典：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Ledge.ai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（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2026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年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7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月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22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日）／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OpenAI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（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2026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年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7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月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21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日）</a:t>
            </a:r>
          </a:p>
        </p:txBody>
      </p:sp>
    </p:spTree>
    <p:extLst>
      <p:ext uri="{BB962C8B-B14F-4D97-AF65-F5344CB8AC3E}">
        <p14:creationId xmlns:p14="http://schemas.microsoft.com/office/powerpoint/2010/main" val="3626533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39FFE-AB5E-0E8E-D864-C77044172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4FDCC46-D2C0-8A74-735F-218B9DEDBB2E}"/>
              </a:ext>
            </a:extLst>
          </p:cNvPr>
          <p:cNvSpPr txBox="1"/>
          <p:nvPr/>
        </p:nvSpPr>
        <p:spPr>
          <a:xfrm>
            <a:off x="609600" y="228600"/>
            <a:ext cx="9017000" cy="109382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en-US" altLang="ja-JP" sz="3200" b="1">
                <a:solidFill>
                  <a:srgbClr val="000000"/>
                </a:solidFill>
                <a:latin typeface="BIZ UDPゴシック" panose="020B0400000000000000" pitchFamily="50" charset="-128"/>
              </a:rPr>
              <a:t>Anthropic</a:t>
            </a:r>
            <a:r>
              <a:rPr kumimoji="1" lang="ja-JP" altLang="en-US" sz="3200" b="1">
                <a:solidFill>
                  <a:srgbClr val="000000"/>
                </a:solidFill>
                <a:latin typeface="BIZ UDPゴシック" panose="020B0400000000000000" pitchFamily="50" charset="-128"/>
              </a:rPr>
              <a:t>事例：評価中の</a:t>
            </a:r>
            <a:r>
              <a:rPr kumimoji="1" lang="en-US" altLang="ja-JP" sz="3200" b="1">
                <a:solidFill>
                  <a:srgbClr val="000000"/>
                </a:solidFill>
                <a:latin typeface="BIZ UDPゴシック" panose="020B0400000000000000" pitchFamily="50" charset="-128"/>
              </a:rPr>
              <a:t>Claude</a:t>
            </a:r>
            <a:r>
              <a:rPr kumimoji="1" lang="ja-JP" altLang="en-US" sz="3200" b="1">
                <a:solidFill>
                  <a:srgbClr val="000000"/>
                </a:solidFill>
                <a:latin typeface="BIZ UDPゴシック" panose="020B0400000000000000" pitchFamily="50" charset="-128"/>
              </a:rPr>
              <a:t>が</a:t>
            </a:r>
          </a:p>
          <a:p>
            <a:pPr>
              <a:lnSpc>
                <a:spcPct val="115000"/>
              </a:lnSpc>
            </a:pPr>
            <a:r>
              <a:rPr kumimoji="1" lang="ja-JP" altLang="en-US" sz="3200" b="1">
                <a:solidFill>
                  <a:srgbClr val="000000"/>
                </a:solidFill>
                <a:latin typeface="BIZ UDPゴシック" panose="020B0400000000000000" pitchFamily="50" charset="-128"/>
              </a:rPr>
              <a:t>実在</a:t>
            </a:r>
            <a:r>
              <a:rPr kumimoji="1" lang="en-US" altLang="ja-JP" sz="3200" b="1">
                <a:solidFill>
                  <a:srgbClr val="000000"/>
                </a:solidFill>
                <a:latin typeface="BIZ UDPゴシック" panose="020B0400000000000000" pitchFamily="50" charset="-128"/>
              </a:rPr>
              <a:t>3</a:t>
            </a:r>
            <a:r>
              <a:rPr kumimoji="1" lang="ja-JP" altLang="en-US" sz="3200" b="1">
                <a:solidFill>
                  <a:srgbClr val="000000"/>
                </a:solidFill>
                <a:latin typeface="BIZ UDPゴシック" panose="020B0400000000000000" pitchFamily="50" charset="-128"/>
              </a:rPr>
              <a:t>組織のシステムへ到達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C80F667E-9768-E2CC-46BD-DEEC636DF76B}"/>
              </a:ext>
            </a:extLst>
          </p:cNvPr>
          <p:cNvSpPr/>
          <p:nvPr/>
        </p:nvSpPr>
        <p:spPr>
          <a:xfrm>
            <a:off x="9695873" y="355600"/>
            <a:ext cx="2071254" cy="381000"/>
          </a:xfrm>
          <a:prstGeom prst="roundRect">
            <a:avLst/>
          </a:prstGeom>
          <a:solidFill>
            <a:srgbClr val="EDF2F9"/>
          </a:solidFill>
          <a:ln w="19050">
            <a:solidFill>
              <a:srgbClr val="6485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E66141E-96FC-C81D-1643-A5000B0826FB}"/>
              </a:ext>
            </a:extLst>
          </p:cNvPr>
          <p:cNvSpPr txBox="1"/>
          <p:nvPr/>
        </p:nvSpPr>
        <p:spPr>
          <a:xfrm>
            <a:off x="9779000" y="431800"/>
            <a:ext cx="1905000" cy="23076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400" b="1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公表 </a:t>
            </a:r>
            <a:r>
              <a:rPr kumimoji="1" lang="en-US" altLang="ja-JP" sz="1400" b="1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2026</a:t>
            </a:r>
            <a:r>
              <a:rPr kumimoji="1" lang="ja-JP" altLang="en-US" sz="1400" b="1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年</a:t>
            </a:r>
            <a:r>
              <a:rPr kumimoji="1" lang="en-US" altLang="ja-JP" sz="1400" b="1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7</a:t>
            </a:r>
            <a:r>
              <a:rPr kumimoji="1" lang="ja-JP" altLang="en-US" sz="1400" b="1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月</a:t>
            </a:r>
            <a:r>
              <a:rPr kumimoji="1" lang="en-US" altLang="ja-JP" sz="1400" b="1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30</a:t>
            </a:r>
            <a:r>
              <a:rPr kumimoji="1" lang="ja-JP" altLang="en-US" sz="1400" b="1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日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3296CF4-894A-9F47-A38F-839382D2C545}"/>
              </a:ext>
            </a:extLst>
          </p:cNvPr>
          <p:cNvSpPr txBox="1"/>
          <p:nvPr/>
        </p:nvSpPr>
        <p:spPr>
          <a:xfrm>
            <a:off x="609600" y="1364664"/>
            <a:ext cx="9906000" cy="2642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600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関与モデル：</a:t>
            </a:r>
            <a:r>
              <a:rPr kumimoji="1" lang="en-US" altLang="ja-JP" sz="1600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Claude Opus 4.7</a:t>
            </a:r>
            <a:r>
              <a:rPr kumimoji="1" lang="ja-JP" altLang="en-US" sz="1600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／</a:t>
            </a:r>
            <a:r>
              <a:rPr kumimoji="1" lang="en-US" altLang="ja-JP" sz="1600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Claude Mythos 5</a:t>
            </a:r>
            <a:r>
              <a:rPr kumimoji="1" lang="ja-JP" altLang="en-US" sz="1600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／社内研究用モデル　｜　</a:t>
            </a:r>
            <a:r>
              <a:rPr kumimoji="1" lang="en-US" altLang="ja-JP" sz="1600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14</a:t>
            </a:r>
            <a:r>
              <a:rPr kumimoji="1" lang="ja-JP" altLang="en-US" sz="1600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万</a:t>
            </a:r>
            <a:r>
              <a:rPr kumimoji="1" lang="en-US" altLang="ja-JP" sz="1600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1,000</a:t>
            </a:r>
            <a:r>
              <a:rPr kumimoji="1" lang="ja-JP" altLang="en-US" sz="1600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件超を調査</a:t>
            </a:r>
          </a:p>
        </p:txBody>
      </p:sp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BDEAEAE4-14F9-0BE7-441C-ACD8B870BF4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1422400"/>
            <a:ext cx="10972800" cy="396240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102E3F8-A7C5-35E4-CA43-8EB13C20D151}"/>
              </a:ext>
            </a:extLst>
          </p:cNvPr>
          <p:cNvSpPr txBox="1"/>
          <p:nvPr/>
        </p:nvSpPr>
        <p:spPr>
          <a:xfrm>
            <a:off x="889000" y="2997200"/>
            <a:ext cx="1828800" cy="3297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en-US" altLang="ja-JP" sz="2000" b="1">
                <a:solidFill>
                  <a:srgbClr val="2F343B"/>
                </a:solidFill>
                <a:latin typeface="BIZ UDPゴシック" panose="020B0400000000000000" pitchFamily="50" charset="-128"/>
              </a:rPr>
              <a:t>CTF</a:t>
            </a:r>
            <a:r>
              <a:rPr kumimoji="1" lang="ja-JP" altLang="en-US" sz="2000" b="1">
                <a:solidFill>
                  <a:srgbClr val="2F343B"/>
                </a:solidFill>
                <a:latin typeface="BIZ UDPゴシック" panose="020B0400000000000000" pitchFamily="50" charset="-128"/>
              </a:rPr>
              <a:t>形式の評価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595678F-8232-3902-B382-0368F1C6B9FB}"/>
              </a:ext>
            </a:extLst>
          </p:cNvPr>
          <p:cNvSpPr txBox="1"/>
          <p:nvPr/>
        </p:nvSpPr>
        <p:spPr>
          <a:xfrm>
            <a:off x="914400" y="3403600"/>
            <a:ext cx="1778000" cy="111370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追加ガードレールを外し</a:t>
            </a:r>
          </a:p>
          <a:p>
            <a:pPr algn="ctr">
              <a:lnSpc>
                <a:spcPct val="115000"/>
              </a:lnSpc>
            </a:pP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サイバー能力を測定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BF77105-05DA-7CE7-FA88-8C582FE28E4F}"/>
              </a:ext>
            </a:extLst>
          </p:cNvPr>
          <p:cNvSpPr txBox="1"/>
          <p:nvPr/>
        </p:nvSpPr>
        <p:spPr>
          <a:xfrm>
            <a:off x="2959100" y="2997200"/>
            <a:ext cx="1828800" cy="3297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2000" b="1">
                <a:solidFill>
                  <a:srgbClr val="2F343B"/>
                </a:solidFill>
                <a:latin typeface="BIZ UDPゴシック" panose="020B0400000000000000" pitchFamily="50" charset="-128"/>
              </a:rPr>
              <a:t>外部接続が可能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397AD21-97A6-95B3-D7C3-912A9A64F356}"/>
              </a:ext>
            </a:extLst>
          </p:cNvPr>
          <p:cNvSpPr txBox="1"/>
          <p:nvPr/>
        </p:nvSpPr>
        <p:spPr>
          <a:xfrm>
            <a:off x="2984500" y="3403600"/>
            <a:ext cx="1778000" cy="111370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評価パートナーとの認識齟齬で</a:t>
            </a:r>
          </a:p>
          <a:p>
            <a:pPr algn="ctr">
              <a:lnSpc>
                <a:spcPct val="115000"/>
              </a:lnSpc>
            </a:pP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インターネットへ接続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44AE986-8B88-649B-0CA9-BEDB2BBDE972}"/>
              </a:ext>
            </a:extLst>
          </p:cNvPr>
          <p:cNvSpPr txBox="1"/>
          <p:nvPr/>
        </p:nvSpPr>
        <p:spPr>
          <a:xfrm>
            <a:off x="5943600" y="2184400"/>
            <a:ext cx="3352800" cy="5468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6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  <a:t>実在サイトへ侵入</a:t>
            </a:r>
            <a:br>
              <a:rPr kumimoji="1" lang="en-US" altLang="ja-JP" sz="16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</a:br>
            <a:r>
              <a:rPr kumimoji="1" lang="ja-JP" altLang="en-US" sz="16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  <a:t>架空企業と同名のサイトを対象化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F635DE3-2251-5CBE-33B5-05F31C39EB63}"/>
              </a:ext>
            </a:extLst>
          </p:cNvPr>
          <p:cNvSpPr txBox="1"/>
          <p:nvPr/>
        </p:nvSpPr>
        <p:spPr>
          <a:xfrm>
            <a:off x="5943600" y="3098800"/>
            <a:ext cx="3352800" cy="5468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6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  <a:t>悪性</a:t>
            </a:r>
            <a:r>
              <a:rPr kumimoji="1" lang="en-US" altLang="ja-JP" sz="1600" b="1" dirty="0" err="1">
                <a:solidFill>
                  <a:srgbClr val="2F343B"/>
                </a:solidFill>
                <a:latin typeface="BIZ UDPゴシック" panose="020B0400000000000000" pitchFamily="50" charset="-128"/>
              </a:rPr>
              <a:t>PyPI</a:t>
            </a:r>
            <a:r>
              <a:rPr kumimoji="1" lang="ja-JP" altLang="en-US" sz="16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  <a:t>パッケージ　</a:t>
            </a:r>
            <a:br>
              <a:rPr kumimoji="1" lang="en-US" altLang="ja-JP" sz="16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</a:br>
            <a:r>
              <a:rPr kumimoji="1" lang="en-US" altLang="ja-JP" sz="16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  <a:t>15</a:t>
            </a:r>
            <a:r>
              <a:rPr kumimoji="1" lang="ja-JP" altLang="en-US" sz="16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  <a:t>台の実システムで実行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9A63793-BE05-F5F5-2B9C-093340F43F21}"/>
              </a:ext>
            </a:extLst>
          </p:cNvPr>
          <p:cNvSpPr txBox="1"/>
          <p:nvPr/>
        </p:nvSpPr>
        <p:spPr>
          <a:xfrm>
            <a:off x="5943600" y="4013200"/>
            <a:ext cx="3352800" cy="5468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6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  <a:t>約</a:t>
            </a:r>
            <a:r>
              <a:rPr kumimoji="1" lang="en-US" altLang="ja-JP" sz="16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  <a:t>9,000</a:t>
            </a:r>
            <a:r>
              <a:rPr kumimoji="1" lang="ja-JP" altLang="en-US" sz="16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  <a:t>対象を探索</a:t>
            </a:r>
            <a:br>
              <a:rPr kumimoji="1" lang="en-US" altLang="ja-JP" sz="16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</a:br>
            <a:r>
              <a:rPr kumimoji="1" lang="ja-JP" altLang="en-US" sz="16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  <a:t>実在企業の公開アプリを侵害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E671868-F4C1-3680-F911-0C7CF05C2FA8}"/>
              </a:ext>
            </a:extLst>
          </p:cNvPr>
          <p:cNvSpPr txBox="1"/>
          <p:nvPr/>
        </p:nvSpPr>
        <p:spPr>
          <a:xfrm>
            <a:off x="9525000" y="2844800"/>
            <a:ext cx="1828800" cy="3956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2400" b="1">
                <a:solidFill>
                  <a:srgbClr val="E86B43"/>
                </a:solidFill>
                <a:latin typeface="BIZ UDPゴシック" panose="020B0400000000000000" pitchFamily="50" charset="-128"/>
              </a:rPr>
              <a:t>実在</a:t>
            </a:r>
            <a:r>
              <a:rPr kumimoji="1" lang="en-US" altLang="ja-JP" sz="2400" b="1">
                <a:solidFill>
                  <a:srgbClr val="E86B43"/>
                </a:solidFill>
                <a:latin typeface="BIZ UDPゴシック" panose="020B0400000000000000" pitchFamily="50" charset="-128"/>
              </a:rPr>
              <a:t>3</a:t>
            </a:r>
            <a:r>
              <a:rPr kumimoji="1" lang="ja-JP" altLang="en-US" sz="2400" b="1">
                <a:solidFill>
                  <a:srgbClr val="E86B43"/>
                </a:solidFill>
                <a:latin typeface="BIZ UDPゴシック" panose="020B0400000000000000" pitchFamily="50" charset="-128"/>
              </a:rPr>
              <a:t>組織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7C27226-5DFA-BE26-2014-602C8907F1E8}"/>
              </a:ext>
            </a:extLst>
          </p:cNvPr>
          <p:cNvSpPr txBox="1"/>
          <p:nvPr/>
        </p:nvSpPr>
        <p:spPr>
          <a:xfrm>
            <a:off x="9550400" y="3378200"/>
            <a:ext cx="1778000" cy="111319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600" b="1">
                <a:solidFill>
                  <a:srgbClr val="2F343B"/>
                </a:solidFill>
                <a:latin typeface="BIZ UDPゴシック" panose="020B0400000000000000" pitchFamily="50" charset="-128"/>
              </a:rPr>
              <a:t>の本番インフラへ不正アクセス</a:t>
            </a:r>
          </a:p>
          <a:p>
            <a:pPr algn="ctr">
              <a:lnSpc>
                <a:spcPct val="115000"/>
              </a:lnSpc>
            </a:pPr>
            <a:r>
              <a:rPr kumimoji="1" lang="ja-JP" altLang="en-US" sz="1600" b="1">
                <a:solidFill>
                  <a:srgbClr val="2F343B"/>
                </a:solidFill>
                <a:latin typeface="BIZ UDPゴシック" panose="020B0400000000000000" pitchFamily="50" charset="-128"/>
              </a:rPr>
              <a:t>連絡できた</a:t>
            </a:r>
            <a:r>
              <a:rPr kumimoji="1" lang="en-US" altLang="ja-JP" sz="1600" b="1">
                <a:solidFill>
                  <a:srgbClr val="2F343B"/>
                </a:solidFill>
                <a:latin typeface="BIZ UDPゴシック" panose="020B0400000000000000" pitchFamily="50" charset="-128"/>
              </a:rPr>
              <a:t>2</a:t>
            </a:r>
            <a:r>
              <a:rPr kumimoji="1" lang="ja-JP" altLang="en-US" sz="1600" b="1">
                <a:solidFill>
                  <a:srgbClr val="2F343B"/>
                </a:solidFill>
                <a:latin typeface="BIZ UDPゴシック" panose="020B0400000000000000" pitchFamily="50" charset="-128"/>
              </a:rPr>
              <a:t>組織は未検知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FAC01FF9-D901-0B66-6D1A-119CB72C6CD7}"/>
              </a:ext>
            </a:extLst>
          </p:cNvPr>
          <p:cNvSpPr/>
          <p:nvPr/>
        </p:nvSpPr>
        <p:spPr>
          <a:xfrm>
            <a:off x="609600" y="5461000"/>
            <a:ext cx="10972800" cy="482600"/>
          </a:xfrm>
          <a:prstGeom prst="roundRect">
            <a:avLst/>
          </a:prstGeom>
          <a:solidFill>
            <a:srgbClr val="EDF2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F8CD207-3451-6BE9-A4B3-27113062A968}"/>
              </a:ext>
            </a:extLst>
          </p:cNvPr>
          <p:cNvSpPr/>
          <p:nvPr/>
        </p:nvSpPr>
        <p:spPr>
          <a:xfrm>
            <a:off x="609600" y="5461000"/>
            <a:ext cx="76200" cy="482600"/>
          </a:xfrm>
          <a:prstGeom prst="rect">
            <a:avLst/>
          </a:prstGeom>
          <a:solidFill>
            <a:srgbClr val="E86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EB9118A-BC15-1E0B-6B3E-EAFB7636BA24}"/>
              </a:ext>
            </a:extLst>
          </p:cNvPr>
          <p:cNvSpPr txBox="1"/>
          <p:nvPr/>
        </p:nvSpPr>
        <p:spPr>
          <a:xfrm>
            <a:off x="838200" y="5575300"/>
            <a:ext cx="10515600" cy="296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b="1">
                <a:solidFill>
                  <a:srgbClr val="000000"/>
                </a:solidFill>
                <a:latin typeface="BIZ UDPゴシック" panose="020B0400000000000000" pitchFamily="50" charset="-128"/>
              </a:rPr>
              <a:t>評価環境の設定に不備があると、</a:t>
            </a:r>
            <a:r>
              <a:rPr kumimoji="1" lang="en-US" altLang="ja-JP" b="1">
                <a:solidFill>
                  <a:srgbClr val="000000"/>
                </a:solidFill>
                <a:latin typeface="BIZ UDPゴシック" panose="020B0400000000000000" pitchFamily="50" charset="-128"/>
              </a:rPr>
              <a:t>AI</a:t>
            </a:r>
            <a:r>
              <a:rPr kumimoji="1" lang="ja-JP" altLang="en-US" b="1">
                <a:solidFill>
                  <a:srgbClr val="000000"/>
                </a:solidFill>
                <a:latin typeface="BIZ UDPゴシック" panose="020B0400000000000000" pitchFamily="50" charset="-128"/>
              </a:rPr>
              <a:t>は実世界を演習の延長として扱い、実在システムへ作用し得る。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A92BE0D-13DA-0850-880D-DC45D0FA6834}"/>
              </a:ext>
            </a:extLst>
          </p:cNvPr>
          <p:cNvSpPr txBox="1"/>
          <p:nvPr/>
        </p:nvSpPr>
        <p:spPr>
          <a:xfrm>
            <a:off x="609600" y="5969000"/>
            <a:ext cx="10972800" cy="2312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独自の悪意ではなく、与えられた評価目標を過度に追求した結果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85B6539-AB4A-9D50-C56B-02DA9C14EA82}"/>
              </a:ext>
            </a:extLst>
          </p:cNvPr>
          <p:cNvSpPr txBox="1"/>
          <p:nvPr/>
        </p:nvSpPr>
        <p:spPr>
          <a:xfrm>
            <a:off x="609600" y="6182529"/>
            <a:ext cx="10972800" cy="2312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400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出典：</a:t>
            </a:r>
            <a:r>
              <a:rPr kumimoji="1" lang="en-US" altLang="ja-JP" sz="1400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Ledge.ai</a:t>
            </a:r>
            <a:r>
              <a:rPr kumimoji="1" lang="ja-JP" altLang="en-US" sz="1400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／</a:t>
            </a:r>
            <a:r>
              <a:rPr kumimoji="1" lang="en-US" altLang="ja-JP" sz="1400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AP</a:t>
            </a:r>
            <a:r>
              <a:rPr kumimoji="1" lang="ja-JP" altLang="en-US" sz="1400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／</a:t>
            </a:r>
            <a:r>
              <a:rPr kumimoji="1" lang="en-US" altLang="ja-JP" sz="1400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Axios</a:t>
            </a:r>
            <a:r>
              <a:rPr kumimoji="1" lang="ja-JP" altLang="en-US" sz="1400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（</a:t>
            </a:r>
            <a:r>
              <a:rPr kumimoji="1" lang="en-US" altLang="ja-JP" sz="1400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2026</a:t>
            </a:r>
            <a:r>
              <a:rPr kumimoji="1" lang="ja-JP" altLang="en-US" sz="1400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年</a:t>
            </a:r>
            <a:r>
              <a:rPr kumimoji="1" lang="en-US" altLang="ja-JP" sz="1400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7</a:t>
            </a:r>
            <a:r>
              <a:rPr kumimoji="1" lang="ja-JP" altLang="en-US" sz="1400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月</a:t>
            </a:r>
            <a:r>
              <a:rPr kumimoji="1" lang="en-US" altLang="ja-JP" sz="1400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30</a:t>
            </a:r>
            <a:r>
              <a:rPr kumimoji="1" lang="ja-JP" altLang="en-US" sz="1400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日～</a:t>
            </a:r>
            <a:r>
              <a:rPr kumimoji="1" lang="en-US" altLang="ja-JP" sz="1400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31</a:t>
            </a:r>
            <a:r>
              <a:rPr kumimoji="1" lang="ja-JP" altLang="en-US" sz="1400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日）</a:t>
            </a:r>
          </a:p>
        </p:txBody>
      </p:sp>
    </p:spTree>
    <p:extLst>
      <p:ext uri="{BB962C8B-B14F-4D97-AF65-F5344CB8AC3E}">
        <p14:creationId xmlns:p14="http://schemas.microsoft.com/office/powerpoint/2010/main" val="754056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C585F-1A43-C87A-4A23-618F581BC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AE0A0A5-6E16-0043-A6A1-CBC94B6E4DBE}"/>
              </a:ext>
            </a:extLst>
          </p:cNvPr>
          <p:cNvSpPr txBox="1"/>
          <p:nvPr/>
        </p:nvSpPr>
        <p:spPr>
          <a:xfrm>
            <a:off x="609600" y="304800"/>
            <a:ext cx="10972800" cy="5275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3200" b="1">
                <a:solidFill>
                  <a:srgbClr val="000000"/>
                </a:solidFill>
                <a:latin typeface="BIZ UDPゴシック" panose="020B0400000000000000" pitchFamily="50" charset="-128"/>
              </a:rPr>
              <a:t>拡大が続く世界のサイバーセキュリティ市場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3810459-06CD-4666-EE6A-B2789DFA423A}"/>
              </a:ext>
            </a:extLst>
          </p:cNvPr>
          <p:cNvSpPr txBox="1"/>
          <p:nvPr/>
        </p:nvSpPr>
        <p:spPr>
          <a:xfrm>
            <a:off x="609600" y="914400"/>
            <a:ext cx="3556000" cy="2578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zh-TW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世界市場規模（</a:t>
            </a:r>
            <a:r>
              <a:rPr kumimoji="1" lang="en-US" altLang="zh-TW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USD</a:t>
            </a:r>
            <a:r>
              <a:rPr kumimoji="1" lang="zh-TW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）</a:t>
            </a:r>
            <a:endParaRPr kumimoji="1" lang="ja-JP" altLang="en-US" sz="1600">
              <a:solidFill>
                <a:srgbClr val="555555"/>
              </a:solidFill>
              <a:latin typeface="BIZ UDPゴシック" panose="020B0400000000000000" pitchFamily="50" charset="-128"/>
            </a:endParaRPr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C78E0C09-8BEA-4456-0A11-6C1A49AC2C6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09600" y="1193800"/>
            <a:ext cx="10972800" cy="426720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3FB1369-0C3C-1ABA-7859-7D1729F5E1AE}"/>
              </a:ext>
            </a:extLst>
          </p:cNvPr>
          <p:cNvSpPr txBox="1"/>
          <p:nvPr/>
        </p:nvSpPr>
        <p:spPr>
          <a:xfrm>
            <a:off x="1524000" y="3175000"/>
            <a:ext cx="1651000" cy="5906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en-US" altLang="ja-JP" b="1">
                <a:solidFill>
                  <a:srgbClr val="FFFFFF"/>
                </a:solidFill>
                <a:latin typeface="BIZ UDPゴシック" panose="020B0400000000000000" pitchFamily="50" charset="-128"/>
              </a:rPr>
              <a:t>USD 227.59B</a:t>
            </a:r>
            <a:endParaRPr kumimoji="1" lang="ja-JP" altLang="en-US" b="1">
              <a:solidFill>
                <a:srgbClr val="FFFFFF"/>
              </a:solidFill>
              <a:latin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4CBA619-895B-DEEB-47F7-CE74FD4E829D}"/>
              </a:ext>
            </a:extLst>
          </p:cNvPr>
          <p:cNvSpPr txBox="1"/>
          <p:nvPr/>
        </p:nvSpPr>
        <p:spPr>
          <a:xfrm>
            <a:off x="1524000" y="3798854"/>
            <a:ext cx="1651000" cy="2642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600" dirty="0">
                <a:solidFill>
                  <a:srgbClr val="FFFFFF"/>
                </a:solidFill>
                <a:latin typeface="BIZ UDPゴシック" panose="020B0400000000000000" pitchFamily="50" charset="-128"/>
              </a:rPr>
              <a:t>約</a:t>
            </a:r>
            <a:r>
              <a:rPr kumimoji="1" lang="en-US" altLang="ja-JP" sz="1600" dirty="0">
                <a:solidFill>
                  <a:srgbClr val="FFFFFF"/>
                </a:solidFill>
                <a:latin typeface="BIZ UDPゴシック" panose="020B0400000000000000" pitchFamily="50" charset="-128"/>
              </a:rPr>
              <a:t>2,276</a:t>
            </a:r>
            <a:r>
              <a:rPr kumimoji="1" lang="ja-JP" altLang="en-US" sz="1600" dirty="0">
                <a:solidFill>
                  <a:srgbClr val="FFFFFF"/>
                </a:solidFill>
                <a:latin typeface="BIZ UDPゴシック" panose="020B0400000000000000" pitchFamily="50" charset="-128"/>
              </a:rPr>
              <a:t>億ドル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19723A3-CDE4-6573-1EFE-922F64D8AF13}"/>
              </a:ext>
            </a:extLst>
          </p:cNvPr>
          <p:cNvSpPr txBox="1"/>
          <p:nvPr/>
        </p:nvSpPr>
        <p:spPr>
          <a:xfrm>
            <a:off x="1524000" y="47625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en-US" altLang="ja-JP" b="1">
                <a:solidFill>
                  <a:srgbClr val="FFFFFF"/>
                </a:solidFill>
                <a:latin typeface="BIZ UDPゴシック" panose="020B0400000000000000" pitchFamily="50" charset="-128"/>
              </a:rPr>
              <a:t>2025</a:t>
            </a:r>
            <a:endParaRPr kumimoji="1" lang="ja-JP" altLang="en-US" b="1">
              <a:solidFill>
                <a:srgbClr val="FFFFFF"/>
              </a:solidFill>
              <a:latin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79C3D38-9C2E-4181-B721-2938F8E5F15A}"/>
              </a:ext>
            </a:extLst>
          </p:cNvPr>
          <p:cNvSpPr txBox="1"/>
          <p:nvPr/>
        </p:nvSpPr>
        <p:spPr>
          <a:xfrm>
            <a:off x="2692400" y="1709671"/>
            <a:ext cx="1473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en-US" altLang="ja-JP" sz="1600" dirty="0">
                <a:solidFill>
                  <a:srgbClr val="555555"/>
                </a:solidFill>
                <a:latin typeface="BIZ UDPゴシック" panose="020B0400000000000000" pitchFamily="50" charset="-128"/>
              </a:rPr>
              <a:t>CAGR</a:t>
            </a:r>
            <a:endParaRPr kumimoji="1" lang="ja-JP" altLang="en-US" sz="1600" dirty="0">
              <a:solidFill>
                <a:srgbClr val="555555"/>
              </a:solidFill>
              <a:latin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C3E765B-5F7E-8242-E893-B89E80355B9D}"/>
              </a:ext>
            </a:extLst>
          </p:cNvPr>
          <p:cNvSpPr txBox="1"/>
          <p:nvPr/>
        </p:nvSpPr>
        <p:spPr>
          <a:xfrm>
            <a:off x="2692400" y="2043576"/>
            <a:ext cx="147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en-US" altLang="ja-JP" sz="2400" b="1" dirty="0">
                <a:solidFill>
                  <a:srgbClr val="6485C1"/>
                </a:solidFill>
                <a:latin typeface="BIZ UDPゴシック" panose="020B0400000000000000" pitchFamily="50" charset="-128"/>
              </a:rPr>
              <a:t>9.1%</a:t>
            </a:r>
            <a:endParaRPr kumimoji="1" lang="ja-JP" altLang="en-US" sz="2400" b="1" dirty="0">
              <a:solidFill>
                <a:srgbClr val="6485C1"/>
              </a:solidFill>
              <a:latin typeface="BIZ UDPゴシック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71B11D3-A508-EE46-B152-EDB30ECB3487}"/>
              </a:ext>
            </a:extLst>
          </p:cNvPr>
          <p:cNvSpPr txBox="1"/>
          <p:nvPr/>
        </p:nvSpPr>
        <p:spPr>
          <a:xfrm>
            <a:off x="4572000" y="2260600"/>
            <a:ext cx="1651000" cy="5906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en-US" altLang="ja-JP" b="1">
                <a:solidFill>
                  <a:srgbClr val="FFFFFF"/>
                </a:solidFill>
                <a:latin typeface="BIZ UDPゴシック" panose="020B0400000000000000" pitchFamily="50" charset="-128"/>
              </a:rPr>
              <a:t>USD 351.92B</a:t>
            </a:r>
            <a:endParaRPr kumimoji="1" lang="ja-JP" altLang="en-US" b="1">
              <a:solidFill>
                <a:srgbClr val="FFFFFF"/>
              </a:solidFill>
              <a:latin typeface="BIZ UDP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5521E7E-3F4D-5322-CF0C-B42C7EE8D542}"/>
              </a:ext>
            </a:extLst>
          </p:cNvPr>
          <p:cNvSpPr txBox="1"/>
          <p:nvPr/>
        </p:nvSpPr>
        <p:spPr>
          <a:xfrm>
            <a:off x="4572000" y="2884454"/>
            <a:ext cx="1651000" cy="2642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600" dirty="0">
                <a:solidFill>
                  <a:srgbClr val="FFFFFF"/>
                </a:solidFill>
                <a:latin typeface="BIZ UDPゴシック" panose="020B0400000000000000" pitchFamily="50" charset="-128"/>
              </a:rPr>
              <a:t>約</a:t>
            </a:r>
            <a:r>
              <a:rPr kumimoji="1" lang="en-US" altLang="ja-JP" sz="1600" dirty="0">
                <a:solidFill>
                  <a:srgbClr val="FFFFFF"/>
                </a:solidFill>
                <a:latin typeface="BIZ UDPゴシック" panose="020B0400000000000000" pitchFamily="50" charset="-128"/>
              </a:rPr>
              <a:t>3,519</a:t>
            </a:r>
            <a:r>
              <a:rPr kumimoji="1" lang="ja-JP" altLang="en-US" sz="1600" dirty="0">
                <a:solidFill>
                  <a:srgbClr val="FFFFFF"/>
                </a:solidFill>
                <a:latin typeface="BIZ UDPゴシック" panose="020B0400000000000000" pitchFamily="50" charset="-128"/>
              </a:rPr>
              <a:t>億ドル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E562958-0F03-0B76-1E67-2341FEE00FA7}"/>
              </a:ext>
            </a:extLst>
          </p:cNvPr>
          <p:cNvSpPr txBox="1"/>
          <p:nvPr/>
        </p:nvSpPr>
        <p:spPr>
          <a:xfrm>
            <a:off x="4572000" y="4762500"/>
            <a:ext cx="1651000" cy="296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en-US" altLang="ja-JP" b="1">
                <a:solidFill>
                  <a:srgbClr val="FFFFFF"/>
                </a:solidFill>
                <a:latin typeface="BIZ UDPゴシック" panose="020B0400000000000000" pitchFamily="50" charset="-128"/>
              </a:rPr>
              <a:t>2030 </a:t>
            </a:r>
            <a:r>
              <a:rPr kumimoji="1" lang="ja-JP" altLang="en-US" b="1">
                <a:solidFill>
                  <a:srgbClr val="FFFFFF"/>
                </a:solidFill>
                <a:latin typeface="BIZ UDPゴシック" panose="020B0400000000000000" pitchFamily="50" charset="-128"/>
              </a:rPr>
              <a:t>予測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F4EE6D2-45F1-9832-1B0A-9E64B0693ABE}"/>
              </a:ext>
            </a:extLst>
          </p:cNvPr>
          <p:cNvSpPr txBox="1"/>
          <p:nvPr/>
        </p:nvSpPr>
        <p:spPr>
          <a:xfrm>
            <a:off x="7747000" y="1676400"/>
            <a:ext cx="3302000" cy="6836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20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  <a:t>サイバー攻撃の</a:t>
            </a:r>
            <a:endParaRPr kumimoji="1" lang="en-US" altLang="ja-JP" sz="2000" b="1" dirty="0">
              <a:solidFill>
                <a:srgbClr val="2F343B"/>
              </a:solidFill>
              <a:latin typeface="BIZ UDPゴシック" panose="020B0400000000000000" pitchFamily="50" charset="-128"/>
            </a:endParaRPr>
          </a:p>
          <a:p>
            <a:pPr>
              <a:lnSpc>
                <a:spcPct val="115000"/>
              </a:lnSpc>
            </a:pPr>
            <a:r>
              <a:rPr kumimoji="1" lang="ja-JP" altLang="en-US" sz="20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  <a:t>高度化・増加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EA1B603-DDB0-C599-3F5E-F26880BD71FD}"/>
              </a:ext>
            </a:extLst>
          </p:cNvPr>
          <p:cNvSpPr txBox="1"/>
          <p:nvPr/>
        </p:nvSpPr>
        <p:spPr>
          <a:xfrm>
            <a:off x="7747000" y="2959100"/>
            <a:ext cx="3302000" cy="6836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20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  <a:t>クラウド化と</a:t>
            </a:r>
            <a:endParaRPr kumimoji="1" lang="en-US" altLang="ja-JP" sz="2000" b="1" dirty="0">
              <a:solidFill>
                <a:srgbClr val="2F343B"/>
              </a:solidFill>
              <a:latin typeface="BIZ UDPゴシック" panose="020B0400000000000000" pitchFamily="50" charset="-128"/>
            </a:endParaRPr>
          </a:p>
          <a:p>
            <a:pPr>
              <a:lnSpc>
                <a:spcPct val="115000"/>
              </a:lnSpc>
            </a:pPr>
            <a:r>
              <a:rPr kumimoji="1" lang="ja-JP" altLang="en-US" sz="20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  <a:t>デジタル化の進展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A8E1936-B306-200E-2CE9-876840DE3775}"/>
              </a:ext>
            </a:extLst>
          </p:cNvPr>
          <p:cNvSpPr txBox="1"/>
          <p:nvPr/>
        </p:nvSpPr>
        <p:spPr>
          <a:xfrm>
            <a:off x="7747000" y="4241800"/>
            <a:ext cx="3302000" cy="6836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en-US" altLang="ja-JP" sz="20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  <a:t>AI</a:t>
            </a:r>
            <a:r>
              <a:rPr kumimoji="1" lang="ja-JP" altLang="en-US" sz="20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  <a:t>による</a:t>
            </a:r>
            <a:endParaRPr kumimoji="1" lang="en-US" altLang="ja-JP" sz="2000" b="1" dirty="0">
              <a:solidFill>
                <a:srgbClr val="2F343B"/>
              </a:solidFill>
              <a:latin typeface="BIZ UDPゴシック" panose="020B0400000000000000" pitchFamily="50" charset="-128"/>
            </a:endParaRPr>
          </a:p>
          <a:p>
            <a:pPr>
              <a:lnSpc>
                <a:spcPct val="115000"/>
              </a:lnSpc>
            </a:pPr>
            <a:r>
              <a:rPr kumimoji="1" lang="ja-JP" altLang="en-US" sz="20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  <a:t>攻防の変化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12FA5EE3-6D6D-4DA0-E349-B3AA2F55BD5E}"/>
              </a:ext>
            </a:extLst>
          </p:cNvPr>
          <p:cNvSpPr/>
          <p:nvPr/>
        </p:nvSpPr>
        <p:spPr>
          <a:xfrm>
            <a:off x="609600" y="5562600"/>
            <a:ext cx="10972800" cy="533400"/>
          </a:xfrm>
          <a:prstGeom prst="roundRect">
            <a:avLst/>
          </a:prstGeom>
          <a:solidFill>
            <a:srgbClr val="EDF2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1F98834-0456-25F3-5396-765E87499693}"/>
              </a:ext>
            </a:extLst>
          </p:cNvPr>
          <p:cNvSpPr/>
          <p:nvPr/>
        </p:nvSpPr>
        <p:spPr>
          <a:xfrm>
            <a:off x="609600" y="5562600"/>
            <a:ext cx="76200" cy="533400"/>
          </a:xfrm>
          <a:prstGeom prst="rect">
            <a:avLst/>
          </a:prstGeom>
          <a:solidFill>
            <a:srgbClr val="E86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A21DC33-DBBA-8774-436D-0C0358F79770}"/>
              </a:ext>
            </a:extLst>
          </p:cNvPr>
          <p:cNvSpPr txBox="1"/>
          <p:nvPr/>
        </p:nvSpPr>
        <p:spPr>
          <a:xfrm>
            <a:off x="838200" y="5702300"/>
            <a:ext cx="10515600" cy="296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en-US" altLang="ja-JP" b="1">
                <a:solidFill>
                  <a:srgbClr val="000000"/>
                </a:solidFill>
                <a:latin typeface="BIZ UDPゴシック" panose="020B0400000000000000" pitchFamily="50" charset="-128"/>
              </a:rPr>
              <a:t>2025</a:t>
            </a:r>
            <a:r>
              <a:rPr kumimoji="1" lang="ja-JP" altLang="en-US" b="1">
                <a:solidFill>
                  <a:srgbClr val="000000"/>
                </a:solidFill>
                <a:latin typeface="BIZ UDPゴシック" panose="020B0400000000000000" pitchFamily="50" charset="-128"/>
              </a:rPr>
              <a:t>年から</a:t>
            </a:r>
            <a:r>
              <a:rPr kumimoji="1" lang="en-US" altLang="ja-JP" b="1">
                <a:solidFill>
                  <a:srgbClr val="000000"/>
                </a:solidFill>
                <a:latin typeface="BIZ UDPゴシック" panose="020B0400000000000000" pitchFamily="50" charset="-128"/>
              </a:rPr>
              <a:t>2030</a:t>
            </a:r>
            <a:r>
              <a:rPr kumimoji="1" lang="ja-JP" altLang="en-US" b="1">
                <a:solidFill>
                  <a:srgbClr val="000000"/>
                </a:solidFill>
                <a:latin typeface="BIZ UDPゴシック" panose="020B0400000000000000" pitchFamily="50" charset="-128"/>
              </a:rPr>
              <a:t>年に約</a:t>
            </a:r>
            <a:r>
              <a:rPr kumimoji="1" lang="en-US" altLang="ja-JP" b="1">
                <a:solidFill>
                  <a:srgbClr val="000000"/>
                </a:solidFill>
                <a:latin typeface="BIZ UDPゴシック" panose="020B0400000000000000" pitchFamily="50" charset="-128"/>
              </a:rPr>
              <a:t>1.55</a:t>
            </a:r>
            <a:r>
              <a:rPr kumimoji="1" lang="ja-JP" altLang="en-US" b="1">
                <a:solidFill>
                  <a:srgbClr val="000000"/>
                </a:solidFill>
                <a:latin typeface="BIZ UDPゴシック" panose="020B0400000000000000" pitchFamily="50" charset="-128"/>
              </a:rPr>
              <a:t>倍へ。</a:t>
            </a:r>
            <a:r>
              <a:rPr kumimoji="1" lang="en-US" altLang="ja-JP" b="1">
                <a:solidFill>
                  <a:srgbClr val="000000"/>
                </a:solidFill>
                <a:latin typeface="BIZ UDPゴシック" panose="020B0400000000000000" pitchFamily="50" charset="-128"/>
              </a:rPr>
              <a:t>AI</a:t>
            </a:r>
            <a:r>
              <a:rPr kumimoji="1" lang="ja-JP" altLang="en-US" b="1">
                <a:solidFill>
                  <a:srgbClr val="000000"/>
                </a:solidFill>
                <a:latin typeface="BIZ UDPゴシック" panose="020B0400000000000000" pitchFamily="50" charset="-128"/>
              </a:rPr>
              <a:t>が攻防を変えるなか、注目と投資の拡大が続く。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C45B05B-D9C9-9F9A-9928-D18B504024A0}"/>
              </a:ext>
            </a:extLst>
          </p:cNvPr>
          <p:cNvSpPr txBox="1"/>
          <p:nvPr/>
        </p:nvSpPr>
        <p:spPr>
          <a:xfrm>
            <a:off x="609600" y="6197600"/>
            <a:ext cx="10972800" cy="2312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出典：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MarketsandMarkets『Cybersecurity Market Report 2025–2030』</a:t>
            </a:r>
            <a:endParaRPr kumimoji="1" lang="ja-JP" altLang="en-US" sz="1400">
              <a:solidFill>
                <a:srgbClr val="555555"/>
              </a:solidFill>
              <a:latin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94462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B8485-86B3-7748-D991-57E93EE53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D858FDD-8E72-CC82-33F5-EAE30A5D20D2}"/>
              </a:ext>
            </a:extLst>
          </p:cNvPr>
          <p:cNvSpPr txBox="1"/>
          <p:nvPr/>
        </p:nvSpPr>
        <p:spPr>
          <a:xfrm>
            <a:off x="609600" y="304800"/>
            <a:ext cx="10972800" cy="5275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3200" b="1">
                <a:solidFill>
                  <a:srgbClr val="000000"/>
                </a:solidFill>
                <a:latin typeface="BIZ UDPゴシック" panose="020B0400000000000000" pitchFamily="50" charset="-128"/>
              </a:rPr>
              <a:t>コーディングエージェントのセキュリティ観点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290C405-9871-14D6-C297-EF17602989A4}"/>
              </a:ext>
            </a:extLst>
          </p:cNvPr>
          <p:cNvSpPr txBox="1"/>
          <p:nvPr/>
        </p:nvSpPr>
        <p:spPr>
          <a:xfrm>
            <a:off x="609600" y="889000"/>
            <a:ext cx="10972800" cy="2642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en-US" altLang="ja-JP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4</a:t>
            </a: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つの観点は並列であり、どれか</a:t>
            </a:r>
            <a:r>
              <a:rPr kumimoji="1" lang="en-US" altLang="ja-JP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1</a:t>
            </a: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つではなく組み合わせて考える</a:t>
            </a:r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0D421108-A2EF-2A55-848F-9C12258108B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1117600"/>
            <a:ext cx="10972800" cy="457200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D3B35DD-FADA-9ECA-4BE1-B0D4E616F613}"/>
              </a:ext>
            </a:extLst>
          </p:cNvPr>
          <p:cNvSpPr txBox="1"/>
          <p:nvPr/>
        </p:nvSpPr>
        <p:spPr>
          <a:xfrm>
            <a:off x="1955800" y="1409700"/>
            <a:ext cx="4191000" cy="6836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20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  <a:t>コンテキスト汚染</a:t>
            </a:r>
            <a:endParaRPr kumimoji="1" lang="en-US" altLang="ja-JP" sz="2000" b="1" dirty="0">
              <a:solidFill>
                <a:srgbClr val="2F343B"/>
              </a:solidFill>
              <a:latin typeface="BIZ UDPゴシック" panose="020B0400000000000000" pitchFamily="50" charset="-128"/>
            </a:endParaRPr>
          </a:p>
          <a:p>
            <a:pPr>
              <a:lnSpc>
                <a:spcPct val="115000"/>
              </a:lnSpc>
            </a:pPr>
            <a:r>
              <a:rPr kumimoji="1" lang="ja-JP" altLang="en-US" sz="20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  <a:t>の防止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019FDB4-E196-7655-DB0C-62E8C24156D5}"/>
              </a:ext>
            </a:extLst>
          </p:cNvPr>
          <p:cNvSpPr txBox="1"/>
          <p:nvPr/>
        </p:nvSpPr>
        <p:spPr>
          <a:xfrm>
            <a:off x="6350000" y="1435100"/>
            <a:ext cx="4699000" cy="5473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外部文書・コード・ツール出力に含まれる指示を無条件に信頼させない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983F48D-201F-BF26-9F80-C1D89DAE1012}"/>
              </a:ext>
            </a:extLst>
          </p:cNvPr>
          <p:cNvSpPr txBox="1"/>
          <p:nvPr/>
        </p:nvSpPr>
        <p:spPr>
          <a:xfrm>
            <a:off x="1955800" y="2501900"/>
            <a:ext cx="4191000" cy="6836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20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  <a:t>ガードレール、</a:t>
            </a:r>
            <a:endParaRPr kumimoji="1" lang="en-US" altLang="ja-JP" sz="2000" b="1" dirty="0">
              <a:solidFill>
                <a:srgbClr val="2F343B"/>
              </a:solidFill>
              <a:latin typeface="BIZ UDPゴシック" panose="020B0400000000000000" pitchFamily="50" charset="-128"/>
            </a:endParaRPr>
          </a:p>
          <a:p>
            <a:pPr>
              <a:lnSpc>
                <a:spcPct val="115000"/>
              </a:lnSpc>
            </a:pPr>
            <a:r>
              <a:rPr kumimoji="1" lang="en-US" altLang="ja-JP" sz="20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  <a:t>Permission</a:t>
            </a:r>
            <a:r>
              <a:rPr kumimoji="1" lang="ja-JP" altLang="en-US" sz="20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  <a:t>の設定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053F33D-261C-FA9F-4C0A-21EAF599BE2A}"/>
              </a:ext>
            </a:extLst>
          </p:cNvPr>
          <p:cNvSpPr txBox="1"/>
          <p:nvPr/>
        </p:nvSpPr>
        <p:spPr>
          <a:xfrm>
            <a:off x="6350000" y="2527300"/>
            <a:ext cx="4699000" cy="2642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最小権限とし、重要操作には承認を要求する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60F6FF2-5803-DE4B-A938-2E39D2FB129F}"/>
              </a:ext>
            </a:extLst>
          </p:cNvPr>
          <p:cNvSpPr txBox="1"/>
          <p:nvPr/>
        </p:nvSpPr>
        <p:spPr>
          <a:xfrm>
            <a:off x="1955800" y="3606800"/>
            <a:ext cx="4191000" cy="6836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20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  <a:t>環境の隔離</a:t>
            </a:r>
            <a:endParaRPr kumimoji="1" lang="en-US" altLang="ja-JP" sz="2000" b="1" dirty="0">
              <a:solidFill>
                <a:srgbClr val="2F343B"/>
              </a:solidFill>
              <a:latin typeface="BIZ UDPゴシック" panose="020B0400000000000000" pitchFamily="50" charset="-128"/>
            </a:endParaRPr>
          </a:p>
          <a:p>
            <a:pPr>
              <a:lnSpc>
                <a:spcPct val="115000"/>
              </a:lnSpc>
            </a:pPr>
            <a:r>
              <a:rPr kumimoji="1" lang="ja-JP" altLang="en-US" sz="20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  <a:t>（</a:t>
            </a:r>
            <a:r>
              <a:rPr kumimoji="1" lang="en-US" altLang="ja-JP" sz="20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  <a:t>Sandbox</a:t>
            </a:r>
            <a:r>
              <a:rPr kumimoji="1" lang="ja-JP" altLang="en-US" sz="20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  <a:t>）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D24EFA4-1347-D405-CF2D-FDABA1D52733}"/>
              </a:ext>
            </a:extLst>
          </p:cNvPr>
          <p:cNvSpPr txBox="1"/>
          <p:nvPr/>
        </p:nvSpPr>
        <p:spPr>
          <a:xfrm>
            <a:off x="6350000" y="3632200"/>
            <a:ext cx="4699000" cy="5473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本番環境・機密情報・不要なネットワークから分離する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64B4E10-982A-9398-B838-4F6DE97E9E5D}"/>
              </a:ext>
            </a:extLst>
          </p:cNvPr>
          <p:cNvSpPr txBox="1"/>
          <p:nvPr/>
        </p:nvSpPr>
        <p:spPr>
          <a:xfrm>
            <a:off x="1955800" y="4699000"/>
            <a:ext cx="4191000" cy="6836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20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  <a:t>ログなどによる</a:t>
            </a:r>
            <a:endParaRPr kumimoji="1" lang="en-US" altLang="ja-JP" sz="2000" b="1" dirty="0">
              <a:solidFill>
                <a:srgbClr val="2F343B"/>
              </a:solidFill>
              <a:latin typeface="BIZ UDPゴシック" panose="020B0400000000000000" pitchFamily="50" charset="-128"/>
            </a:endParaRPr>
          </a:p>
          <a:p>
            <a:pPr>
              <a:lnSpc>
                <a:spcPct val="115000"/>
              </a:lnSpc>
            </a:pPr>
            <a:r>
              <a:rPr kumimoji="1" lang="ja-JP" altLang="en-US" sz="2000" b="1" dirty="0">
                <a:solidFill>
                  <a:srgbClr val="2F343B"/>
                </a:solidFill>
                <a:latin typeface="BIZ UDPゴシック" panose="020B0400000000000000" pitchFamily="50" charset="-128"/>
              </a:rPr>
              <a:t>エージェント挙動の監視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D91E117-1B4F-84DD-3B8F-C9358211E8D3}"/>
              </a:ext>
            </a:extLst>
          </p:cNvPr>
          <p:cNvSpPr txBox="1"/>
          <p:nvPr/>
        </p:nvSpPr>
        <p:spPr>
          <a:xfrm>
            <a:off x="6350000" y="4724400"/>
            <a:ext cx="4699000" cy="5473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コマンド、ファイル変更、外部通信などをログで追跡する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7DC92E31-FFDF-B025-C4A0-C630211B67EA}"/>
              </a:ext>
            </a:extLst>
          </p:cNvPr>
          <p:cNvSpPr/>
          <p:nvPr/>
        </p:nvSpPr>
        <p:spPr>
          <a:xfrm>
            <a:off x="609600" y="5816600"/>
            <a:ext cx="10972800" cy="533400"/>
          </a:xfrm>
          <a:prstGeom prst="roundRect">
            <a:avLst/>
          </a:prstGeom>
          <a:solidFill>
            <a:srgbClr val="EDF2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37056D2-3361-3DB9-1CC6-21662C3D4A32}"/>
              </a:ext>
            </a:extLst>
          </p:cNvPr>
          <p:cNvSpPr/>
          <p:nvPr/>
        </p:nvSpPr>
        <p:spPr>
          <a:xfrm>
            <a:off x="609600" y="5816600"/>
            <a:ext cx="76200" cy="533400"/>
          </a:xfrm>
          <a:prstGeom prst="rect">
            <a:avLst/>
          </a:prstGeom>
          <a:solidFill>
            <a:srgbClr val="E86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42241D0-FA62-103B-D880-03F0FADF809C}"/>
              </a:ext>
            </a:extLst>
          </p:cNvPr>
          <p:cNvSpPr txBox="1"/>
          <p:nvPr/>
        </p:nvSpPr>
        <p:spPr>
          <a:xfrm>
            <a:off x="838200" y="5956300"/>
            <a:ext cx="10515600" cy="3297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2000" b="1">
                <a:solidFill>
                  <a:srgbClr val="E86B43"/>
                </a:solidFill>
                <a:latin typeface="BIZ UDPゴシック" panose="020B0400000000000000" pitchFamily="50" charset="-128"/>
              </a:rPr>
              <a:t>生成</a:t>
            </a:r>
            <a:r>
              <a:rPr kumimoji="1" lang="en-US" altLang="ja-JP" sz="2000" b="1">
                <a:solidFill>
                  <a:srgbClr val="E86B43"/>
                </a:solidFill>
                <a:latin typeface="BIZ UDPゴシック" panose="020B0400000000000000" pitchFamily="50" charset="-128"/>
              </a:rPr>
              <a:t>AI</a:t>
            </a:r>
            <a:r>
              <a:rPr kumimoji="1" lang="ja-JP" altLang="en-US" sz="2000" b="1">
                <a:solidFill>
                  <a:srgbClr val="E86B43"/>
                </a:solidFill>
                <a:latin typeface="BIZ UDPゴシック" panose="020B0400000000000000" pitchFamily="50" charset="-128"/>
              </a:rPr>
              <a:t>を活用する際は、セキュリティを意識しましょう。</a:t>
            </a:r>
          </a:p>
        </p:txBody>
      </p:sp>
    </p:spTree>
    <p:extLst>
      <p:ext uri="{BB962C8B-B14F-4D97-AF65-F5344CB8AC3E}">
        <p14:creationId xmlns:p14="http://schemas.microsoft.com/office/powerpoint/2010/main" val="2563911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550</Words>
  <Application>Microsoft Office PowerPoint</Application>
  <PresentationFormat>ワイド画面</PresentationFormat>
  <Paragraphs>75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BIZ UDPゴシック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哲也 金子</dc:creator>
  <cp:lastModifiedBy>哲也 金子</cp:lastModifiedBy>
  <cp:revision>4</cp:revision>
  <dcterms:created xsi:type="dcterms:W3CDTF">2026-08-02T01:59:00Z</dcterms:created>
  <dcterms:modified xsi:type="dcterms:W3CDTF">2026-08-02T02:27:11Z</dcterms:modified>
</cp:coreProperties>
</file>